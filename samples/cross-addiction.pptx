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7" roundtripDataSignature="AMtx7mh4Jxok5rhh0LFf2xVAm/JQ6WAJ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US"/>
              <a:t>Purpose:</a:t>
            </a:r>
            <a:r>
              <a:rPr lang="en-US"/>
              <a:t> Open with inquiry rather than definition.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US"/>
              <a:t>Facilitate:</a:t>
            </a:r>
            <a:r>
              <a:rPr lang="en-US"/>
              <a:t> Ask the subtitle and let the room answer before correcting or teaching. Listen for comments about substances, behavior, rituals, coping, control, and consequences. Tell them we’re going to keep coming back to the word </a:t>
            </a:r>
            <a:r>
              <a:rPr b="1" lang="en-US"/>
              <a:t>pattern.</a:t>
            </a:r>
            <a:endParaRPr b="1"/>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US"/>
              <a:t>Probes:</a:t>
            </a:r>
            <a:endParaRPr b="1"/>
          </a:p>
          <a:p>
            <a:pPr indent="0" lvl="0" marL="0" rtl="0" algn="l">
              <a:lnSpc>
                <a:spcPct val="100000"/>
              </a:lnSpc>
              <a:spcBef>
                <a:spcPts val="0"/>
              </a:spcBef>
              <a:spcAft>
                <a:spcPts val="0"/>
              </a:spcAft>
              <a:buSzPts val="1100"/>
              <a:buNone/>
            </a:pPr>
            <a:r>
              <a:rPr lang="en-US"/>
              <a:t>“What might change when somebody stops one substance?”</a:t>
            </a:r>
            <a:endParaRPr/>
          </a:p>
          <a:p>
            <a:pPr indent="0" lvl="0" marL="0" rtl="0" algn="l">
              <a:lnSpc>
                <a:spcPct val="100000"/>
              </a:lnSpc>
              <a:spcBef>
                <a:spcPts val="0"/>
              </a:spcBef>
              <a:spcAft>
                <a:spcPts val="0"/>
              </a:spcAft>
              <a:buSzPts val="1100"/>
              <a:buNone/>
            </a:pPr>
            <a:r>
              <a:rPr lang="en-US"/>
              <a:t>“What might </a:t>
            </a:r>
            <a:r>
              <a:rPr i="1" lang="en-US"/>
              <a:t>not</a:t>
            </a:r>
            <a:r>
              <a:rPr lang="en-US"/>
              <a:t> change automatically?”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US"/>
              <a:t>Clinical Guardrail:</a:t>
            </a:r>
            <a:r>
              <a:rPr lang="en-US"/>
              <a:t> Cross-addiction is not inevitable and is not a formal diagnosis.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US"/>
              <a:t>Transition:</a:t>
            </a:r>
            <a:r>
              <a:rPr lang="en-US"/>
              <a:t> Move directly into </a:t>
            </a:r>
            <a:r>
              <a:rPr i="1" lang="en-US"/>
              <a:t>their</a:t>
            </a:r>
            <a:r>
              <a:rPr lang="en-US"/>
              <a:t> definition, not mine.</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Surface what the group already believes – including misconceptions.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Let several people answer. Reflect useful pieces without accidentally validating inaccurate terminology. Listen for whether they’re defining cross-addiction by </a:t>
            </a:r>
            <a:r>
              <a:rPr b="1" lang="en-US">
                <a:solidFill>
                  <a:schemeClr val="dk1"/>
                </a:solidFill>
              </a:rPr>
              <a:t>what</a:t>
            </a:r>
            <a:r>
              <a:rPr lang="en-US">
                <a:solidFill>
                  <a:schemeClr val="dk1"/>
                </a:solidFill>
              </a:rPr>
              <a:t> somebody uses/does or by the </a:t>
            </a:r>
            <a:r>
              <a:rPr b="1" lang="en-US">
                <a:solidFill>
                  <a:schemeClr val="dk1"/>
                </a:solidFill>
              </a:rPr>
              <a:t>pattern surrounding it</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“Does it have to be another drug?”</a:t>
            </a:r>
            <a:endParaRPr>
              <a:solidFill>
                <a:schemeClr val="dk1"/>
              </a:solidFill>
            </a:endParaRPr>
          </a:p>
          <a:p>
            <a:pPr indent="0" lvl="0" marL="0" rtl="0" algn="l">
              <a:spcBef>
                <a:spcPts val="0"/>
              </a:spcBef>
              <a:spcAft>
                <a:spcPts val="0"/>
              </a:spcAft>
              <a:buSzPts val="1100"/>
              <a:buNone/>
            </a:pPr>
            <a:r>
              <a:rPr lang="en-US">
                <a:solidFill>
                  <a:schemeClr val="dk1"/>
                </a:solidFill>
              </a:rPr>
              <a:t>“Does it have to happen at the same time?”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“Would doing something often automatically count?”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Don’t validate </a:t>
            </a:r>
            <a:r>
              <a:rPr i="1" lang="en-US">
                <a:solidFill>
                  <a:schemeClr val="dk1"/>
                </a:solidFill>
              </a:rPr>
              <a:t>Addiction Interaction Disorder</a:t>
            </a:r>
            <a:r>
              <a:rPr lang="en-US">
                <a:solidFill>
                  <a:schemeClr val="dk1"/>
                </a:solidFill>
              </a:rPr>
              <a:t> or other obsolete pseudo-diagnostic terminology.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Now give them the working definition.</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Give usable recovery language while separating the concept from diagnosis.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Explain cross-addiction as language for a </a:t>
            </a:r>
            <a:r>
              <a:rPr b="1" lang="en-US">
                <a:solidFill>
                  <a:schemeClr val="dk1"/>
                </a:solidFill>
              </a:rPr>
              <a:t>possible shift in a problematic pattern.</a:t>
            </a:r>
            <a:r>
              <a:rPr lang="en-US">
                <a:solidFill>
                  <a:schemeClr val="dk1"/>
                </a:solidFill>
              </a:rPr>
              <a:t> Emphasize </a:t>
            </a:r>
            <a:r>
              <a:rPr i="1" lang="en-US">
                <a:solidFill>
                  <a:schemeClr val="dk1"/>
                </a:solidFill>
              </a:rPr>
              <a:t>possible</a:t>
            </a:r>
            <a:r>
              <a:rPr lang="en-US">
                <a:solidFill>
                  <a:schemeClr val="dk1"/>
                </a:solidFill>
              </a:rPr>
              <a:t>: not guaranteed, universal, or mathematically predictable. Use the reveal – </a:t>
            </a:r>
            <a:r>
              <a:rPr b="1" lang="en-US">
                <a:solidFill>
                  <a:schemeClr val="dk1"/>
                </a:solidFill>
              </a:rPr>
              <a:t>Useful recovery concept ≠ formal diagnosis</a:t>
            </a:r>
            <a:r>
              <a:rPr lang="en-US">
                <a:solidFill>
                  <a:schemeClr val="dk1"/>
                </a:solidFill>
              </a:rPr>
              <a:t> – to make that distinction explicit.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a:t>
            </a:r>
            <a:r>
              <a:rPr lang="en-US">
                <a:solidFill>
                  <a:schemeClr val="dk1"/>
                </a:solidFill>
              </a:rPr>
              <a:t>Cross-addiction is a recovery/research concept, </a:t>
            </a:r>
            <a:r>
              <a:rPr b="1" lang="en-US">
                <a:solidFill>
                  <a:schemeClr val="dk1"/>
                </a:solidFill>
              </a:rPr>
              <a:t>not a DSM-5-TR diagnosis</a:t>
            </a:r>
            <a:r>
              <a:rPr lang="en-US">
                <a:solidFill>
                  <a:schemeClr val="dk1"/>
                </a:solidFill>
              </a:rPr>
              <a:t>, and there isn’t a defensible universal substitution rate.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Don’t teach substitution as the expected course of recovery. People can improve across multiple behaviors/substances.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“If the object can change, what else can change – and what can stay familiar?”</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96" name="Google Shape;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Broaden the conversation from the object itself to </a:t>
            </a:r>
            <a:r>
              <a:rPr b="1" lang="en-US">
                <a:solidFill>
                  <a:schemeClr val="dk1"/>
                </a:solidFill>
              </a:rPr>
              <a:t>patterns and functions.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Let them generate examples first. Redirect the conversation away from simply labeling behaviors and toward </a:t>
            </a:r>
            <a:r>
              <a:rPr b="1" lang="en-US">
                <a:solidFill>
                  <a:schemeClr val="dk1"/>
                </a:solidFill>
              </a:rPr>
              <a:t>function, control, focus, and consequences</a:t>
            </a:r>
            <a:r>
              <a:rPr lang="en-US">
                <a:solidFill>
                  <a:schemeClr val="dk1"/>
                </a:solidFill>
              </a:rPr>
              <a:t>. Start planting the idea that something can look completely different while doing a similar job.</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“What could stay the same emotionally?”</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“What could stay the same about secrecy, planning, or consequences?”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Teaching Direction:</a:t>
            </a:r>
            <a:r>
              <a:rPr lang="en-US">
                <a:solidFill>
                  <a:schemeClr val="dk1"/>
                </a:solidFill>
              </a:rPr>
              <a:t> We’re not trying to declare every repeated behavior an addiction. We’re asking what changed – and what pattern may have traveled with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That gets us to the more important question: </a:t>
            </a:r>
            <a:r>
              <a:rPr i="1" lang="en-US">
                <a:solidFill>
                  <a:schemeClr val="dk1"/>
                </a:solidFill>
              </a:rPr>
              <a:t>What job was the original substance doing?</a:t>
            </a:r>
            <a:endParaRPr i="1">
              <a:solidFill>
                <a:schemeClr val="dk1"/>
              </a:solidFill>
            </a:endParaRPr>
          </a:p>
          <a:p>
            <a:pPr indent="0" lvl="0" marL="0" rtl="0" algn="l">
              <a:lnSpc>
                <a:spcPct val="100000"/>
              </a:lnSpc>
              <a:spcBef>
                <a:spcPts val="0"/>
              </a:spcBef>
              <a:spcAft>
                <a:spcPts val="0"/>
              </a:spcAft>
              <a:buSzPts val="1100"/>
              <a:buNone/>
            </a:pPr>
            <a:r>
              <a:t/>
            </a:r>
            <a:endParaRPr/>
          </a:p>
        </p:txBody>
      </p:sp>
      <p:sp>
        <p:nvSpPr>
          <p:cNvPr id="103" name="Google Shape;10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Shift from </a:t>
            </a:r>
            <a:r>
              <a:rPr b="1" lang="en-US">
                <a:solidFill>
                  <a:schemeClr val="dk1"/>
                </a:solidFill>
              </a:rPr>
              <a:t>“What did you use?” </a:t>
            </a:r>
            <a:r>
              <a:rPr lang="en-US">
                <a:solidFill>
                  <a:schemeClr val="dk1"/>
                </a:solidFill>
              </a:rPr>
              <a:t>to </a:t>
            </a:r>
            <a:r>
              <a:rPr b="1" lang="en-US">
                <a:solidFill>
                  <a:schemeClr val="dk1"/>
                </a:solidFill>
              </a:rPr>
              <a:t>“What did it do for you?”</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Ask the question </a:t>
            </a:r>
            <a:r>
              <a:rPr i="1" lang="en-US">
                <a:solidFill>
                  <a:schemeClr val="dk1"/>
                </a:solidFill>
              </a:rPr>
              <a:t>before</a:t>
            </a:r>
            <a:r>
              <a:rPr lang="en-US">
                <a:solidFill>
                  <a:schemeClr val="dk1"/>
                </a:solidFill>
              </a:rPr>
              <a:t> revealing the examples. Let patients supply their own functions first. Then reveal the list as prompts, not predetermined answers. More than one answer can be true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 </a:t>
            </a:r>
            <a:r>
              <a:rPr lang="en-US">
                <a:solidFill>
                  <a:schemeClr val="dk1"/>
                </a:solidFill>
              </a:rPr>
              <a:t>“If I take the substance away but the need is still there, what happens to the need?”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This is the beginning of the de-shaming move. We’re looking at </a:t>
            </a:r>
            <a:r>
              <a:rPr b="1" lang="en-US">
                <a:solidFill>
                  <a:schemeClr val="dk1"/>
                </a:solidFill>
              </a:rPr>
              <a:t>function</a:t>
            </a:r>
            <a:r>
              <a:rPr lang="en-US">
                <a:solidFill>
                  <a:schemeClr val="dk1"/>
                </a:solidFill>
              </a:rPr>
              <a:t>, not excusing consequences. Substance use often persisted because, at least initially, it accomplished something the person needed or wanted – relief, energy, belonging, sleep, confidence, escape, etc.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The substance was a solution</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113" name="Google Shape;11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De-shame initial use while introducing loss of flexibility and control.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Let </a:t>
            </a:r>
            <a:r>
              <a:rPr b="1" lang="en-US">
                <a:solidFill>
                  <a:schemeClr val="dk1"/>
                </a:solidFill>
              </a:rPr>
              <a:t>“The substance was a solution”</a:t>
            </a:r>
            <a:r>
              <a:rPr lang="en-US">
                <a:solidFill>
                  <a:schemeClr val="dk1"/>
                </a:solidFill>
              </a:rPr>
              <a:t> sit for a moment. People generally don’t begin using a substance expecting it to dismantle their lives. Initially, it usually </a:t>
            </a:r>
            <a:r>
              <a:rPr i="1" lang="en-US">
                <a:solidFill>
                  <a:schemeClr val="dk1"/>
                </a:solidFill>
              </a:rPr>
              <a:t>did something </a:t>
            </a:r>
            <a:r>
              <a:rPr lang="en-US">
                <a:solidFill>
                  <a:schemeClr val="dk1"/>
                </a:solidFill>
              </a:rPr>
              <a:t>– relieved something, provided something, changed something. Over time, reinforcement, biology, context, and vulnerability can narrow behavioral choice.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“When did the thing that helped start costing more than it gave?”</a:t>
            </a:r>
            <a:br>
              <a:rPr lang="en-US">
                <a:solidFill>
                  <a:schemeClr val="dk1"/>
                </a:solidFill>
              </a:rPr>
            </a:br>
            <a:r>
              <a:rPr lang="en-US">
                <a:solidFill>
                  <a:schemeClr val="dk1"/>
                </a:solidFill>
              </a:rPr>
              <a:t>“What changed about your freedom to choose?”</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a:t>
            </a:r>
            <a:r>
              <a:rPr lang="en-US">
                <a:solidFill>
                  <a:schemeClr val="dk1"/>
                </a:solidFill>
              </a:rPr>
              <a:t> </a:t>
            </a:r>
            <a:r>
              <a:rPr i="1" lang="en-US">
                <a:solidFill>
                  <a:schemeClr val="dk1"/>
                </a:solidFill>
              </a:rPr>
              <a:t>Stops being a choice </a:t>
            </a:r>
            <a:r>
              <a:rPr lang="en-US">
                <a:solidFill>
                  <a:schemeClr val="dk1"/>
                </a:solidFill>
              </a:rPr>
              <a:t>is experiential teaching language, </a:t>
            </a:r>
            <a:r>
              <a:rPr b="1" lang="en-US">
                <a:solidFill>
                  <a:schemeClr val="dk1"/>
                </a:solidFill>
              </a:rPr>
              <a:t>not a diagnostic threshold</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Avoid both extremes: </a:t>
            </a:r>
            <a:r>
              <a:rPr i="1" lang="en-US">
                <a:solidFill>
                  <a:schemeClr val="dk1"/>
                </a:solidFill>
              </a:rPr>
              <a:t>“You chose all of this”</a:t>
            </a:r>
            <a:r>
              <a:rPr lang="en-US">
                <a:solidFill>
                  <a:schemeClr val="dk1"/>
                </a:solidFill>
              </a:rPr>
              <a:t> and </a:t>
            </a:r>
            <a:r>
              <a:rPr i="1" lang="en-US">
                <a:solidFill>
                  <a:schemeClr val="dk1"/>
                </a:solidFill>
              </a:rPr>
              <a:t>“You have no agency at all.”</a:t>
            </a:r>
            <a:r>
              <a:rPr lang="en-US">
                <a:solidFill>
                  <a:schemeClr val="dk1"/>
                </a:solidFill>
              </a:rPr>
              <a:t> Exposure, learning, adaptation, context, and vulnerability interact.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“So how does something that works become the thing we reach for automatically?”</a:t>
            </a:r>
            <a:endParaRPr>
              <a:solidFill>
                <a:schemeClr val="dk1"/>
              </a:solidFill>
            </a:endParaRPr>
          </a:p>
          <a:p>
            <a:pPr indent="0" lvl="0" marL="0" rtl="0" algn="l">
              <a:lnSpc>
                <a:spcPct val="100000"/>
              </a:lnSpc>
              <a:spcBef>
                <a:spcPts val="0"/>
              </a:spcBef>
              <a:spcAft>
                <a:spcPts val="0"/>
              </a:spcAft>
              <a:buSzPts val="1100"/>
              <a:buNone/>
            </a:pPr>
            <a:r>
              <a:t/>
            </a:r>
            <a:endParaRPr b="1"/>
          </a:p>
        </p:txBody>
      </p:sp>
      <p:sp>
        <p:nvSpPr>
          <p:cNvPr id="129" name="Google Shape;12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Explain reinforcement and pattern learning in plain language.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Walk through the sequence slowly. Invite personal or non-personal examples. Relief, reward, escape, connection, etc. can reinforce a response and make it easier to reach for again.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Optional Analogy: </a:t>
            </a:r>
            <a:r>
              <a:rPr lang="en-US">
                <a:solidFill>
                  <a:schemeClr val="dk1"/>
                </a:solidFill>
              </a:rPr>
              <a:t>The brain/computer comparison works here: computers store routines and shortcuts; repeated success makes a shortcut easier to retrieve. Explicitly identify this is a </a:t>
            </a:r>
            <a:r>
              <a:rPr b="1" lang="en-US">
                <a:solidFill>
                  <a:schemeClr val="dk1"/>
                </a:solidFill>
              </a:rPr>
              <a:t>teaching analogy, not literal neuroscience.</a:t>
            </a:r>
            <a:r>
              <a:rPr lang="en-US">
                <a:solidFill>
                  <a:schemeClr val="dk1"/>
                </a:solidFill>
              </a:rPr>
              <a:t> — Computer analogy may earn a smile. It may </a:t>
            </a:r>
            <a:r>
              <a:rPr b="1" lang="en-US">
                <a:solidFill>
                  <a:schemeClr val="dk1"/>
                </a:solidFill>
              </a:rPr>
              <a:t>not</a:t>
            </a:r>
            <a:r>
              <a:rPr lang="en-US">
                <a:solidFill>
                  <a:schemeClr val="dk1"/>
                </a:solidFill>
              </a:rPr>
              <a:t> become a fake-neuroscience TED talk. :)</a:t>
            </a:r>
            <a:endParaRPr>
              <a:solidFill>
                <a:schemeClr val="dk1"/>
              </a:solidFill>
            </a:endParaRPr>
          </a:p>
          <a:p>
            <a:pPr indent="0" lvl="0" marL="0" rtl="0" algn="l">
              <a:spcBef>
                <a:spcPts val="0"/>
              </a:spcBef>
              <a:spcAft>
                <a:spcPts val="0"/>
              </a:spcAft>
              <a:buSzPts val="1100"/>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“What kinds of results train us fastest – relief, reward, escape, connection?”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“When does a shortcut become too automatic?”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Must Land: </a:t>
            </a:r>
            <a:r>
              <a:rPr lang="en-US">
                <a:solidFill>
                  <a:schemeClr val="dk1"/>
                </a:solidFill>
              </a:rPr>
              <a:t>Rewarded or relieving responses can become more available and habitual. </a:t>
            </a:r>
            <a:r>
              <a:rPr b="1" lang="en-US">
                <a:solidFill>
                  <a:schemeClr val="dk1"/>
                </a:solidFill>
              </a:rPr>
              <a:t>Habit, craving, compulsion, withdrawal, and goal-directed behavior are related but aren’t interchangeable.</a:t>
            </a:r>
            <a:endParaRPr b="1">
              <a:solidFill>
                <a:schemeClr val="dk1"/>
              </a:solidFill>
            </a:endParaRPr>
          </a:p>
          <a:p>
            <a:pPr indent="0" lvl="0" marL="0" rtl="0" algn="l">
              <a:spcBef>
                <a:spcPts val="0"/>
              </a:spcBef>
              <a:spcAft>
                <a:spcPts val="0"/>
              </a:spcAft>
              <a:buSzPts val="1100"/>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The brain isn’t literally being “coded,” and addiction isn’t literally a computer virus.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“Which brings us to one of recovery’s greatest hits….”</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137" name="Google Shape;13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Surface a common risk-minimizing argument </a:t>
            </a:r>
            <a:r>
              <a:rPr b="1" lang="en-US">
                <a:solidFill>
                  <a:schemeClr val="dk1"/>
                </a:solidFill>
              </a:rPr>
              <a:t>without turning the correction into a blanket abstinence rule.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Ask what people actually mean when they say, </a:t>
            </a:r>
            <a:r>
              <a:rPr i="1" lang="en-US">
                <a:solidFill>
                  <a:schemeClr val="dk1"/>
                </a:solidFill>
              </a:rPr>
              <a:t>“But it wasn’t my drug of choice.”</a:t>
            </a:r>
            <a:r>
              <a:rPr lang="en-US">
                <a:solidFill>
                  <a:schemeClr val="dk1"/>
                </a:solidFill>
              </a:rPr>
              <a:t> Validate that previous substance history </a:t>
            </a:r>
            <a:r>
              <a:rPr b="1" lang="en-US">
                <a:solidFill>
                  <a:schemeClr val="dk1"/>
                </a:solidFill>
              </a:rPr>
              <a:t>does matter</a:t>
            </a:r>
            <a:r>
              <a:rPr lang="en-US">
                <a:solidFill>
                  <a:schemeClr val="dk1"/>
                </a:solidFill>
              </a:rPr>
              <a:t> — then ask what that statement doesn’t tell us.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“Can something be risky even if it was never your favorite?”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“Could a prescribed medication be appropriate even if it affects the brain?”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Must Land: </a:t>
            </a:r>
            <a:r>
              <a:rPr i="1" lang="en-US">
                <a:solidFill>
                  <a:schemeClr val="dk1"/>
                </a:solidFill>
              </a:rPr>
              <a:t>Drug of choice</a:t>
            </a:r>
            <a:r>
              <a:rPr lang="en-US">
                <a:solidFill>
                  <a:schemeClr val="dk1"/>
                </a:solidFill>
              </a:rPr>
              <a:t> is informal recovery language. It’s </a:t>
            </a:r>
            <a:r>
              <a:rPr b="1" lang="en-US">
                <a:solidFill>
                  <a:schemeClr val="dk1"/>
                </a:solidFill>
              </a:rPr>
              <a:t>one piece of someone’s history, not a complete safety assessment.</a:t>
            </a:r>
            <a:endParaRPr b="1">
              <a:solidFill>
                <a:schemeClr val="dk1"/>
              </a:solidFill>
            </a:endParaRPr>
          </a:p>
          <a:p>
            <a:pPr indent="0" lvl="0" marL="0" rtl="0" algn="l">
              <a:spcBef>
                <a:spcPts val="0"/>
              </a:spcBef>
              <a:spcAft>
                <a:spcPts val="0"/>
              </a:spcAft>
              <a:buSzPts val="1100"/>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Do </a:t>
            </a:r>
            <a:r>
              <a:rPr b="1" lang="en-US">
                <a:solidFill>
                  <a:schemeClr val="dk1"/>
                </a:solidFill>
              </a:rPr>
              <a:t>not</a:t>
            </a:r>
            <a:r>
              <a:rPr lang="en-US">
                <a:solidFill>
                  <a:schemeClr val="dk1"/>
                </a:solidFill>
              </a:rPr>
              <a:t> teach that exposure to any psychoactive medication automatically equals relapse.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“Okay—so if DOC alone doesn’t answer the question, what actually would we need to know?”</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149" name="Google Shape;14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Replace DOC-only reasoning with </a:t>
            </a:r>
            <a:r>
              <a:rPr b="1" lang="en-US">
                <a:solidFill>
                  <a:schemeClr val="dk1"/>
                </a:solidFill>
              </a:rPr>
              <a:t>multidimensional assessment.</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Reveal the factors progressively. A medication example can demonstrate why </a:t>
            </a:r>
            <a:r>
              <a:rPr b="1" lang="en-US">
                <a:solidFill>
                  <a:schemeClr val="dk1"/>
                </a:solidFill>
              </a:rPr>
              <a:t>medical context </a:t>
            </a:r>
            <a:r>
              <a:rPr lang="en-US">
                <a:solidFill>
                  <a:schemeClr val="dk1"/>
                </a:solidFill>
              </a:rPr>
              <a:t>matters. Treat secrecy as something worth exploring – not automatic proof that a disorder exists.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 </a:t>
            </a:r>
            <a:r>
              <a:rPr lang="en-US">
                <a:solidFill>
                  <a:schemeClr val="dk1"/>
                </a:solidFill>
              </a:rPr>
              <a:t>“What would you want to know before deciding whether something is helping or hurting somebody’s recovery?”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Must Land: The name of the substance or behavior never replaces assessment of the whole pattern.</a:t>
            </a:r>
            <a:endParaRPr b="1">
              <a:solidFill>
                <a:schemeClr val="dk1"/>
              </a:solidFill>
            </a:endParaRPr>
          </a:p>
          <a:p>
            <a:pPr indent="0" lvl="0" marL="0" rtl="0" algn="l">
              <a:spcBef>
                <a:spcPts val="0"/>
              </a:spcBef>
              <a:spcAft>
                <a:spcPts val="0"/>
              </a:spcAft>
              <a:buSzPts val="1100"/>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Medication decisions require individualized risk/benefit review with the prescriber. And secrecy isn’t self-interpreting: it can reflect fear or stigma as well as a harmful pattern.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“Now let’s interrogate another old recovery shortcut….”</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155" name="Google Shape;15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Surface the casual </a:t>
            </a:r>
            <a:r>
              <a:rPr i="1" lang="en-US">
                <a:solidFill>
                  <a:schemeClr val="dk1"/>
                </a:solidFill>
              </a:rPr>
              <a:t>gateway drug</a:t>
            </a:r>
            <a:r>
              <a:rPr lang="en-US">
                <a:solidFill>
                  <a:schemeClr val="dk1"/>
                </a:solidFill>
              </a:rPr>
              <a:t> belief </a:t>
            </a:r>
            <a:r>
              <a:rPr b="1" lang="en-US">
                <a:solidFill>
                  <a:schemeClr val="dk1"/>
                </a:solidFill>
              </a:rPr>
              <a:t>before correcting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Ask the room what </a:t>
            </a:r>
            <a:r>
              <a:rPr i="1" lang="en-US">
                <a:solidFill>
                  <a:schemeClr val="dk1"/>
                </a:solidFill>
              </a:rPr>
              <a:t>gateway drug</a:t>
            </a:r>
            <a:r>
              <a:rPr lang="en-US">
                <a:solidFill>
                  <a:schemeClr val="dk1"/>
                </a:solidFill>
              </a:rPr>
              <a:t> means to them. Don’t rush to correct them. Get the distinction between these two statements into the room first:</a:t>
            </a:r>
            <a:endParaRPr>
              <a:solidFill>
                <a:schemeClr val="dk1"/>
              </a:solidFill>
            </a:endParaRPr>
          </a:p>
          <a:p>
            <a:pPr indent="0" lvl="0" marL="0" rtl="0" algn="l">
              <a:spcBef>
                <a:spcPts val="0"/>
              </a:spcBef>
              <a:spcAft>
                <a:spcPts val="0"/>
              </a:spcAft>
              <a:buSzPts val="1100"/>
              <a:buNone/>
            </a:pPr>
            <a:r>
              <a:rPr lang="en-US">
                <a:solidFill>
                  <a:schemeClr val="dk1"/>
                </a:solidFill>
              </a:rPr>
              <a:t>	“It often came first.” vs. “It caused what came later.”</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Those are </a:t>
            </a:r>
            <a:r>
              <a:rPr b="1" lang="en-US">
                <a:solidFill>
                  <a:schemeClr val="dk1"/>
                </a:solidFill>
              </a:rPr>
              <a:t>not the same claim</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“What usually gets named as a gateway?”</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“How do we know whether </a:t>
            </a:r>
            <a:r>
              <a:rPr i="1" lang="en-US">
                <a:solidFill>
                  <a:schemeClr val="dk1"/>
                </a:solidFill>
              </a:rPr>
              <a:t>first</a:t>
            </a:r>
            <a:r>
              <a:rPr lang="en-US">
                <a:solidFill>
                  <a:schemeClr val="dk1"/>
                </a:solidFill>
              </a:rPr>
              <a:t> means </a:t>
            </a:r>
            <a:r>
              <a:rPr i="1" lang="en-US">
                <a:solidFill>
                  <a:schemeClr val="dk1"/>
                </a:solidFill>
              </a:rPr>
              <a:t>caused</a:t>
            </a:r>
            <a:r>
              <a:rPr lang="en-US">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The quotation marks around “gateway” are doing actual labor. We’re examining the claim, not endorsing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Show them the familiar sequence next – and then we make the causal leap answer for itself.</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170" name="Google Shape;17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6aea570e64c6fd69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US">
                <a:solidFill>
                  <a:schemeClr val="dk1"/>
                </a:solidFill>
              </a:rPr>
              <a:t>Purpose:</a:t>
            </a:r>
            <a:r>
              <a:rPr lang="en-US">
                <a:solidFill>
                  <a:schemeClr val="dk1"/>
                </a:solidFill>
              </a:rPr>
              <a:t> Teach </a:t>
            </a:r>
            <a:r>
              <a:rPr b="1" lang="en-US">
                <a:solidFill>
                  <a:schemeClr val="dk1"/>
                </a:solidFill>
              </a:rPr>
              <a:t>sequence</a:t>
            </a:r>
            <a:r>
              <a:rPr b="1" lang="en-US">
                <a:solidFill>
                  <a:schemeClr val="dk1"/>
                </a:solidFill>
              </a:rPr>
              <a:t> ≠ causation.</a:t>
            </a:r>
            <a:endParaRPr b="1">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Let the arrow initially do exactly what traditional gateway teaching has trained people to assume. Then interrupt it: something occurring first does </a:t>
            </a:r>
            <a:r>
              <a:rPr b="1" lang="en-US">
                <a:solidFill>
                  <a:schemeClr val="dk1"/>
                </a:solidFill>
              </a:rPr>
              <a:t>not</a:t>
            </a:r>
            <a:r>
              <a:rPr lang="en-US">
                <a:solidFill>
                  <a:schemeClr val="dk1"/>
                </a:solidFill>
              </a:rPr>
              <a:t> establish that it caused what came later. Ask what else could explain why certain substances tend to appear earlier.</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“What was easier to get first?”</a:t>
            </a:r>
            <a:br>
              <a:rPr lang="en-US">
                <a:solidFill>
                  <a:schemeClr val="dk1"/>
                </a:solidFill>
              </a:rPr>
            </a:br>
            <a:r>
              <a:rPr lang="en-US">
                <a:solidFill>
                  <a:schemeClr val="dk1"/>
                </a:solidFill>
              </a:rPr>
              <a:t>“What was socially acceptable first?”</a:t>
            </a:r>
            <a:endParaRPr>
              <a:solidFill>
                <a:schemeClr val="dk1"/>
              </a:solidFill>
            </a:endParaRPr>
          </a:p>
          <a:p>
            <a:pPr indent="0" lvl="0" marL="0" rtl="0" algn="l">
              <a:spcBef>
                <a:spcPts val="0"/>
              </a:spcBef>
              <a:spcAft>
                <a:spcPts val="0"/>
              </a:spcAft>
              <a:buSzPts val="1100"/>
              <a:buNone/>
            </a:pPr>
            <a:r>
              <a:rPr lang="en-US">
                <a:solidFill>
                  <a:schemeClr val="dk1"/>
                </a:solidFill>
              </a:rPr>
              <a:t>“What was around you first?”</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Must Land: </a:t>
            </a:r>
            <a:r>
              <a:rPr lang="en-US">
                <a:solidFill>
                  <a:schemeClr val="dk1"/>
                </a:solidFill>
              </a:rPr>
              <a:t>We can observe an order of initiation without concluding that the first substance </a:t>
            </a:r>
            <a:r>
              <a:rPr b="1" lang="en-US">
                <a:solidFill>
                  <a:schemeClr val="dk1"/>
                </a:solidFill>
              </a:rPr>
              <a:t>biologically caused</a:t>
            </a:r>
            <a:r>
              <a:rPr lang="en-US">
                <a:solidFill>
                  <a:schemeClr val="dk1"/>
                </a:solidFill>
              </a:rPr>
              <a:t> later use.</a:t>
            </a:r>
            <a:endParaRPr>
              <a:solidFill>
                <a:schemeClr val="dk1"/>
              </a:solidFill>
            </a:endParaRPr>
          </a:p>
          <a:p>
            <a:pPr indent="0" lvl="0" marL="0" rtl="0" algn="l">
              <a:spcBef>
                <a:spcPts val="0"/>
              </a:spcBef>
              <a:spcAft>
                <a:spcPts val="0"/>
              </a:spcAft>
              <a:buSzPts val="1100"/>
              <a:buNone/>
            </a:pPr>
            <a:r>
              <a:t/>
            </a:r>
            <a:endParaRPr b="1">
              <a:solidFill>
                <a:schemeClr val="dk1"/>
              </a:solidFill>
            </a:endParaRPr>
          </a:p>
          <a:p>
            <a:pPr indent="0" lvl="0" marL="0" rtl="0" algn="l">
              <a:spcBef>
                <a:spcPts val="0"/>
              </a:spcBef>
              <a:spcAft>
                <a:spcPts val="0"/>
              </a:spcAft>
              <a:buSzPts val="1100"/>
              <a:buNone/>
            </a:pPr>
            <a:r>
              <a:rPr b="1" lang="en-US">
                <a:solidFill>
                  <a:schemeClr val="dk1"/>
                </a:solidFill>
              </a:rPr>
              <a:t>Clinical Guardrail:</a:t>
            </a:r>
            <a:r>
              <a:rPr lang="en-US">
                <a:solidFill>
                  <a:schemeClr val="dk1"/>
                </a:solidFill>
              </a:rPr>
              <a:t> Don’t present the arrow as a biological pathway. “Soft” and “hard” are informal, unstable categories.</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Transition:</a:t>
            </a:r>
            <a:r>
              <a:rPr lang="en-US">
                <a:solidFill>
                  <a:schemeClr val="dk1"/>
                </a:solidFill>
              </a:rPr>
              <a:t> “So what else could explain the order?”</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176" name="Google Shape;176;h6aea570e64c6fd69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Replace the single gateway explanation with </a:t>
            </a:r>
            <a:r>
              <a:rPr b="1" lang="en-US">
                <a:solidFill>
                  <a:schemeClr val="dk1"/>
                </a:solidFill>
              </a:rPr>
              <a:t>multiple possible contextual/shared-vulnerability explanations.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Reveal them individually and let patients generate examples. Multiple explanations can operate at the same time. Developmental, family, social, and shared-vulnerability factors can be discussed verbally if useful.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“Which of these mattered most in your environment?”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“How can availability shape what gets tried first?”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a:t>
            </a:r>
            <a:r>
              <a:rPr lang="en-US">
                <a:solidFill>
                  <a:schemeClr val="dk1"/>
                </a:solidFill>
              </a:rPr>
              <a:t>Sequence can reflect </a:t>
            </a:r>
            <a:r>
              <a:rPr b="1" lang="en-US">
                <a:solidFill>
                  <a:schemeClr val="dk1"/>
                </a:solidFill>
              </a:rPr>
              <a:t>shared vulnerability and context</a:t>
            </a:r>
            <a:r>
              <a:rPr lang="en-US">
                <a:solidFill>
                  <a:schemeClr val="dk1"/>
                </a:solidFill>
              </a:rPr>
              <a:t>, rather than a simple </a:t>
            </a:r>
            <a:r>
              <a:rPr i="1" lang="en-US">
                <a:solidFill>
                  <a:schemeClr val="dk1"/>
                </a:solidFill>
              </a:rPr>
              <a:t>one drug causes the next drug</a:t>
            </a:r>
            <a:r>
              <a:rPr lang="en-US">
                <a:solidFill>
                  <a:schemeClr val="dk1"/>
                </a:solidFill>
              </a:rPr>
              <a:t> pathway.</a:t>
            </a:r>
            <a:endParaRPr>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Don’t replace one oversimplification with another. No single factor has to explain everybody.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“And if ‘gateway’ is messy, or ‘soft’ and ‘hard’ labels aren’t exactly doing us any favors either.”</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184" name="Google Shape;18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Expose how ambiguous these informal labels actually are.</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Ask what patients mean by </a:t>
            </a:r>
            <a:r>
              <a:rPr i="1" lang="en-US">
                <a:solidFill>
                  <a:schemeClr val="dk1"/>
                </a:solidFill>
              </a:rPr>
              <a:t>soft</a:t>
            </a:r>
            <a:r>
              <a:rPr lang="en-US">
                <a:solidFill>
                  <a:schemeClr val="dk1"/>
                </a:solidFill>
              </a:rPr>
              <a:t> or </a:t>
            </a:r>
            <a:r>
              <a:rPr i="1" lang="en-US">
                <a:solidFill>
                  <a:schemeClr val="dk1"/>
                </a:solidFill>
              </a:rPr>
              <a:t>hard</a:t>
            </a:r>
            <a:r>
              <a:rPr lang="en-US">
                <a:solidFill>
                  <a:schemeClr val="dk1"/>
                </a:solidFill>
              </a:rPr>
              <a:t>. They may actually be talking about legality, availability, potency, route of administration, overdose risk, dependence liability, or perceived harm.</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Risk varies by </a:t>
            </a:r>
            <a:r>
              <a:rPr b="1" lang="en-US">
                <a:solidFill>
                  <a:schemeClr val="dk1"/>
                </a:solidFill>
              </a:rPr>
              <a:t>product, dose, route, person, and context.</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“Is legal the same as safe?”</a:t>
            </a:r>
            <a:endParaRPr>
              <a:solidFill>
                <a:schemeClr val="dk1"/>
              </a:solidFill>
            </a:endParaRPr>
          </a:p>
          <a:p>
            <a:pPr indent="0" lvl="0" marL="0" rtl="0" algn="l">
              <a:spcBef>
                <a:spcPts val="0"/>
              </a:spcBef>
              <a:spcAft>
                <a:spcPts val="0"/>
              </a:spcAft>
              <a:buSzPts val="1100"/>
              <a:buNone/>
            </a:pPr>
            <a:r>
              <a:rPr lang="en-US">
                <a:solidFill>
                  <a:schemeClr val="dk1"/>
                </a:solidFill>
              </a:rPr>
              <a:t>“Is prescription the same as harmless?”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“Can two products in the same board category carry different risks?”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“Soft” and “hard” are not standardized clinical classifications.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Illegal doesn’t automatically tell us how pharmacologically risking something is; legal or prescribed doesn’t mean harmless.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And that sets up the medication question…</a:t>
            </a:r>
            <a:endParaRPr/>
          </a:p>
        </p:txBody>
      </p:sp>
      <p:sp>
        <p:nvSpPr>
          <p:cNvPr id="194" name="Google Shape;19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Surface </a:t>
            </a:r>
            <a:r>
              <a:rPr b="1" lang="en-US">
                <a:solidFill>
                  <a:schemeClr val="dk1"/>
                </a:solidFill>
              </a:rPr>
              <a:t>and correct </a:t>
            </a:r>
            <a:r>
              <a:rPr lang="en-US">
                <a:solidFill>
                  <a:schemeClr val="dk1"/>
                </a:solidFill>
              </a:rPr>
              <a:t>the MOUD misconception.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Let patients make the argument first. Then ask what might make prescribed treatment clinically different from uncontrolled use.</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correct </a:t>
            </a:r>
            <a:r>
              <a:rPr b="1" lang="en-US">
                <a:solidFill>
                  <a:schemeClr val="dk1"/>
                </a:solidFill>
              </a:rPr>
              <a:t>must happen before leaving this slide/segment</a:t>
            </a:r>
            <a:r>
              <a:rPr lang="en-US">
                <a:solidFill>
                  <a:schemeClr val="dk1"/>
                </a:solidFill>
              </a:rPr>
              <a:t>: treatment purpose, dosing and monitoring, outcomes, control, and medical context matter.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“If two things act on the same receptor system, does that automatically make their use clinically identical?”</a:t>
            </a:r>
            <a:br>
              <a:rPr lang="en-US">
                <a:solidFill>
                  <a:schemeClr val="dk1"/>
                </a:solidFill>
              </a:rPr>
            </a:br>
            <a:r>
              <a:rPr lang="en-US">
                <a:solidFill>
                  <a:schemeClr val="dk1"/>
                </a:solidFill>
              </a:rPr>
              <a:t>“What happens when we judge treatment by the drug name instead of the outcome and pattern?”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Buprenorphine and methadone are evidence-based treatments for opioid use disorder. Physical dependence or receptor activity does not make medication treatment equivalent to uncontrolled opioid use.</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SzPts val="1100"/>
              <a:buNone/>
            </a:pPr>
            <a:r>
              <a:rPr b="1" lang="en-US">
                <a:solidFill>
                  <a:schemeClr val="dk1"/>
                </a:solidFill>
              </a:rPr>
              <a:t>Clinical Guardrail:</a:t>
            </a:r>
            <a:r>
              <a:rPr lang="en-US">
                <a:solidFill>
                  <a:schemeClr val="dk1"/>
                </a:solidFill>
              </a:rPr>
              <a:t> Never frame MOUD as </a:t>
            </a:r>
            <a:r>
              <a:rPr b="1" lang="en-US">
                <a:solidFill>
                  <a:schemeClr val="dk1"/>
                </a:solidFill>
              </a:rPr>
              <a:t>failed sobriety</a:t>
            </a:r>
            <a:r>
              <a:rPr lang="en-US">
                <a:solidFill>
                  <a:schemeClr val="dk1"/>
                </a:solidFill>
              </a:rPr>
              <a:t>. Misuse/diversion risks can be acknowledged without using those risks to erase the treatment’s benefits.</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Humor may target the </a:t>
            </a:r>
            <a:r>
              <a:rPr b="1" lang="en-US">
                <a:solidFill>
                  <a:schemeClr val="dk1"/>
                </a:solidFill>
              </a:rPr>
              <a:t>oversimplified argument</a:t>
            </a:r>
            <a:r>
              <a:rPr lang="en-US">
                <a:solidFill>
                  <a:schemeClr val="dk1"/>
                </a:solidFill>
              </a:rPr>
              <a:t>. The person taking MOUD is never the joke.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“So instead of deciding based on the name of the drug, what would we actually need to ask?”</a:t>
            </a:r>
            <a:endParaRPr/>
          </a:p>
        </p:txBody>
      </p:sp>
      <p:sp>
        <p:nvSpPr>
          <p:cNvPr id="205" name="Google Shape;20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Distinguish </a:t>
            </a:r>
            <a:r>
              <a:rPr b="1" lang="en-US">
                <a:solidFill>
                  <a:schemeClr val="dk1"/>
                </a:solidFill>
              </a:rPr>
              <a:t>use, misuse, dependence, and disorder</a:t>
            </a:r>
            <a:r>
              <a:rPr lang="en-US">
                <a:solidFill>
                  <a:schemeClr val="dk1"/>
                </a:solidFill>
              </a:rPr>
              <a:t> by assessing the pattern instead of assigning moral labels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Compare examples: medication taken as prescribed; running out early; non-prescribed use; a retail product being used for self-treatment. Return repeatedly to </a:t>
            </a:r>
            <a:r>
              <a:rPr b="1" lang="en-US">
                <a:solidFill>
                  <a:schemeClr val="dk1"/>
                </a:solidFill>
              </a:rPr>
              <a:t>purpose, pattern, control, and consequences.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“Is the medication doing the job it was prescribed to do?”</a:t>
            </a:r>
            <a:br>
              <a:rPr lang="en-US">
                <a:solidFill>
                  <a:schemeClr val="dk1"/>
                </a:solidFill>
              </a:rPr>
            </a:br>
            <a:r>
              <a:rPr lang="en-US">
                <a:solidFill>
                  <a:schemeClr val="dk1"/>
                </a:solidFill>
              </a:rPr>
              <a:t>“Is the person changing the dose, source, route, or purpose?”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“What is happening because of the pattern?”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Appropriate medical use, misuse, tolerance, physical dependence, withdrawal, and SUD are not interchangeable.</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Benign intent doesn’t eliminate risk. Risky intent by itself doesn’t establish SUD.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Now we’re going to apply the same diagnostic caution to </a:t>
            </a:r>
            <a:r>
              <a:rPr b="1" lang="en-US">
                <a:solidFill>
                  <a:schemeClr val="dk1"/>
                </a:solidFill>
              </a:rPr>
              <a:t>behaviors</a:t>
            </a:r>
            <a:r>
              <a:rPr lang="en-US">
                <a:solidFill>
                  <a:schemeClr val="dk1"/>
                </a:solidFill>
              </a:rPr>
              <a:t>.</a:t>
            </a:r>
            <a:endParaRPr/>
          </a:p>
        </p:txBody>
      </p:sp>
      <p:sp>
        <p:nvSpPr>
          <p:cNvPr id="211" name="Google Shape;21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Separate everyday use of the word </a:t>
            </a:r>
            <a:r>
              <a:rPr i="1" lang="en-US">
                <a:solidFill>
                  <a:schemeClr val="dk1"/>
                </a:solidFill>
              </a:rPr>
              <a:t>addicted</a:t>
            </a:r>
            <a:r>
              <a:rPr lang="en-US">
                <a:solidFill>
                  <a:schemeClr val="dk1"/>
                </a:solidFill>
              </a:rPr>
              <a:t> from clinical diagnosis.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Let the group throw out both ridiculous and serious examples. Then unpack what they actually mean wby “addicted”: </a:t>
            </a:r>
            <a:r>
              <a:rPr i="1" lang="en-US">
                <a:solidFill>
                  <a:schemeClr val="dk1"/>
                </a:solidFill>
              </a:rPr>
              <a:t>I really like it? I do it constantly? I miss it when I don’t have it? I can’t control it? I’m continuing despite consequences?</a:t>
            </a:r>
            <a:endParaRPr i="1">
              <a:solidFill>
                <a:schemeClr val="dk1"/>
              </a:solidFill>
            </a:endParaRPr>
          </a:p>
          <a:p>
            <a:pPr indent="0" lvl="0" marL="0" rtl="0" algn="l">
              <a:spcBef>
                <a:spcPts val="0"/>
              </a:spcBef>
              <a:spcAft>
                <a:spcPts val="0"/>
              </a:spcAft>
              <a:buSzPts val="1100"/>
              <a:buNone/>
            </a:pPr>
            <a:r>
              <a:t/>
            </a:r>
            <a:endParaRPr i="1">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Move the conversation from the </a:t>
            </a:r>
            <a:r>
              <a:rPr b="1" lang="en-US">
                <a:solidFill>
                  <a:schemeClr val="dk1"/>
                </a:solidFill>
              </a:rPr>
              <a:t>word</a:t>
            </a:r>
            <a:r>
              <a:rPr lang="en-US">
                <a:solidFill>
                  <a:schemeClr val="dk1"/>
                </a:solidFill>
              </a:rPr>
              <a:t> toward </a:t>
            </a:r>
            <a:r>
              <a:rPr b="1" lang="en-US">
                <a:solidFill>
                  <a:schemeClr val="dk1"/>
                </a:solidFill>
              </a:rPr>
              <a:t>control and impairment.</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 </a:t>
            </a:r>
            <a:r>
              <a:rPr lang="en-US">
                <a:solidFill>
                  <a:schemeClr val="dk1"/>
                </a:solidFill>
              </a:rPr>
              <a:t>“What makes ‘I’m addicted to coffee/TV/my phone’ causal language instead of a clinical claim?”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Not every rewarding or repeated activity is an addiction.</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SzPts val="1100"/>
              <a:buNone/>
            </a:pPr>
            <a:r>
              <a:rPr b="1" lang="en-US">
                <a:solidFill>
                  <a:schemeClr val="dk1"/>
                </a:solidFill>
              </a:rPr>
              <a:t>Clinical Guardrail:</a:t>
            </a:r>
            <a:r>
              <a:rPr lang="en-US">
                <a:solidFill>
                  <a:schemeClr val="dk1"/>
                </a:solidFill>
              </a:rPr>
              <a:t> Enthusiasm, routine, or high frequency by itself isn’t enough for disorder-level framing.</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*This is officially a safe zone for sarcasm about how the internet has apparently diagnosed the entire human population with an addiction to something.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“So doing something </a:t>
            </a:r>
            <a:r>
              <a:rPr i="1" lang="en-US">
                <a:solidFill>
                  <a:schemeClr val="dk1"/>
                </a:solidFill>
              </a:rPr>
              <a:t>a lot</a:t>
            </a:r>
            <a:r>
              <a:rPr lang="en-US">
                <a:solidFill>
                  <a:schemeClr val="dk1"/>
                </a:solidFill>
              </a:rPr>
              <a:t> doesn’t answer the question either…”</a:t>
            </a:r>
            <a:endParaRPr/>
          </a:p>
        </p:txBody>
      </p:sp>
      <p:sp>
        <p:nvSpPr>
          <p:cNvPr id="222" name="Google Shape;22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Show why </a:t>
            </a:r>
            <a:r>
              <a:rPr b="1" lang="en-US">
                <a:solidFill>
                  <a:schemeClr val="dk1"/>
                </a:solidFill>
              </a:rPr>
              <a:t>frequency alone isn’t enough.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Start with a neutral high-frequency behavior that isn’t necessarily problematic. Then contrast it with something that occurs less frequently but causes meaningful harm.</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If you want the Four Fs reveal to have its meaningful moment, you can start asking about </a:t>
            </a:r>
            <a:r>
              <a:rPr b="1" lang="en-US">
                <a:solidFill>
                  <a:schemeClr val="dk1"/>
                </a:solidFill>
              </a:rPr>
              <a:t>function, control, displacement, and consequences</a:t>
            </a:r>
            <a:r>
              <a:rPr lang="en-US">
                <a:solidFill>
                  <a:schemeClr val="dk1"/>
                </a:solidFill>
              </a:rPr>
              <a:t> here without naming the framework yet.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“Can something happen every day and still be healthy?”</a:t>
            </a:r>
            <a:br>
              <a:rPr lang="en-US">
                <a:solidFill>
                  <a:schemeClr val="dk1"/>
                </a:solidFill>
              </a:rPr>
            </a:br>
            <a:r>
              <a:rPr lang="en-US">
                <a:solidFill>
                  <a:schemeClr val="dk1"/>
                </a:solidFill>
              </a:rPr>
              <a:t>“Can something happen less often and still be dangerous?”</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(Continue on next slide)</a:t>
            </a:r>
            <a:endParaRPr>
              <a:solidFill>
                <a:schemeClr val="dk1"/>
              </a:solidFill>
            </a:endParaRPr>
          </a:p>
        </p:txBody>
      </p:sp>
      <p:sp>
        <p:nvSpPr>
          <p:cNvPr id="229" name="Google Shape;229;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Must Land: Impaired control, priority displacement, distress/impairment, and persistence despite harm tell us more than frequency alone.</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High frequency can be non-pathological. Lower frequency can still be risky or impairing.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“Okay. Then let’s test that against some of the things people casually call addictions.”</a:t>
            </a:r>
            <a:endParaRPr/>
          </a:p>
        </p:txBody>
      </p:sp>
      <p:sp>
        <p:nvSpPr>
          <p:cNvPr id="241" name="Google Shape;24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Teach </a:t>
            </a:r>
            <a:r>
              <a:rPr b="1" lang="en-US">
                <a:solidFill>
                  <a:schemeClr val="dk1"/>
                </a:solidFill>
              </a:rPr>
              <a:t>diagnostic humility</a:t>
            </a:r>
            <a:r>
              <a:rPr lang="en-US">
                <a:solidFill>
                  <a:schemeClr val="dk1"/>
                </a:solidFill>
              </a:rPr>
              <a:t> across repetitive behaviors.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Ask which of these patients think are officially recognized addictions.</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Primary US frame: </a:t>
            </a:r>
            <a:r>
              <a:rPr b="1" lang="en-US">
                <a:solidFill>
                  <a:schemeClr val="dk1"/>
                </a:solidFill>
              </a:rPr>
              <a:t>DSM-5-TR formally classifies gambling disorder as a behavioral addiction; Internet Gaming Disorder is listed for further study.</a:t>
            </a:r>
            <a:r>
              <a:rPr lang="en-US">
                <a:solidFill>
                  <a:schemeClr val="dk1"/>
                </a:solidFill>
              </a:rPr>
              <a:t> If useful, briefly mention that ICD-11 differs and formally recognizes gaming disorder. No need to take the scenic route through international diagnostic classification unless the room somehow demands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Probes: </a:t>
            </a:r>
            <a:endParaRPr>
              <a:solidFill>
                <a:schemeClr val="dk1"/>
              </a:solidFill>
            </a:endParaRPr>
          </a:p>
          <a:p>
            <a:pPr indent="0" lvl="0" marL="0" rtl="0" algn="l">
              <a:spcBef>
                <a:spcPts val="0"/>
              </a:spcBef>
              <a:spcAft>
                <a:spcPts val="0"/>
              </a:spcAft>
              <a:buSzPts val="1100"/>
              <a:buNone/>
            </a:pPr>
            <a:r>
              <a:rPr lang="en-US">
                <a:solidFill>
                  <a:schemeClr val="dk1"/>
                </a:solidFill>
              </a:rPr>
              <a:t>“Can a behavior be harmful without being called an addiction?”</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“Could another diagnosis or context better explain what we’re seeing?”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a:t>
            </a:r>
            <a:r>
              <a:rPr lang="en-US">
                <a:solidFill>
                  <a:schemeClr val="dk1"/>
                </a:solidFill>
              </a:rPr>
              <a:t>The clinical label depends on the </a:t>
            </a:r>
            <a:r>
              <a:rPr b="1" lang="en-US">
                <a:solidFill>
                  <a:schemeClr val="dk1"/>
                </a:solidFill>
              </a:rPr>
              <a:t>classification system and full assessment</a:t>
            </a:r>
            <a:r>
              <a:rPr lang="en-US">
                <a:solidFill>
                  <a:schemeClr val="dk1"/>
                </a:solidFill>
              </a:rPr>
              <a:t>, not simply how compulsive something looks.</a:t>
            </a:r>
            <a:endParaRPr>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SzPts val="1100"/>
              <a:buNone/>
            </a:pPr>
            <a:r>
              <a:rPr b="1" lang="en-US">
                <a:solidFill>
                  <a:schemeClr val="dk1"/>
                </a:solidFill>
              </a:rPr>
              <a:t>Clinical Guardrail:</a:t>
            </a:r>
            <a:r>
              <a:rPr lang="en-US">
                <a:solidFill>
                  <a:schemeClr val="dk1"/>
                </a:solidFill>
              </a:rPr>
              <a:t> Don’t blanket-label shopping, sex, exercise, eating, social media, or work as “official addictions.” Eating disorders are separate diagnoses; ICD-11 classifies compulsive sexual behaviour disorder under impulse-control disorders.</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i="1" lang="en-US">
                <a:solidFill>
                  <a:schemeClr val="dk1"/>
                </a:solidFill>
              </a:rPr>
              <a:t>“The DSM does not issue a diagnosis every time humans get too enthusiastic about something”</a:t>
            </a:r>
            <a:r>
              <a:rPr lang="en-US">
                <a:solidFill>
                  <a:schemeClr val="dk1"/>
                </a:solidFill>
              </a:rPr>
              <a:t> energy has been formally approved.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“But here’s the more useful question: do we actually need the label before we address the problem?”</a:t>
            </a:r>
            <a:endParaRPr/>
          </a:p>
        </p:txBody>
      </p:sp>
      <p:sp>
        <p:nvSpPr>
          <p:cNvPr id="249" name="Google Shape;24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Give permission to address harm </a:t>
            </a:r>
            <a:r>
              <a:rPr b="1" lang="en-US">
                <a:solidFill>
                  <a:schemeClr val="dk1"/>
                </a:solidFill>
              </a:rPr>
              <a:t>without prematurely diagnosing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Ask the question first and let them wrestle with it. Treatment can address risk, impairment, values conflict, or interference with recovery even while the exact diagnostic picture is still being clarified.</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Normalize getting more assessment when more information is needed.</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 </a:t>
            </a:r>
            <a:r>
              <a:rPr lang="en-US">
                <a:solidFill>
                  <a:schemeClr val="dk1"/>
                </a:solidFill>
              </a:rPr>
              <a:t>“What could you change today even if nobody has named the pattern yet?”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We can respond clinically to harm and recovery interference without overdiagnosing.</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Don’t let “</a:t>
            </a:r>
            <a:r>
              <a:rPr i="1" lang="en-US">
                <a:solidFill>
                  <a:schemeClr val="dk1"/>
                </a:solidFill>
              </a:rPr>
              <a:t>we don’t need a label”</a:t>
            </a:r>
            <a:r>
              <a:rPr lang="en-US">
                <a:solidFill>
                  <a:schemeClr val="dk1"/>
                </a:solidFill>
              </a:rPr>
              <a:t> become “</a:t>
            </a:r>
            <a:r>
              <a:rPr i="1" lang="en-US">
                <a:solidFill>
                  <a:schemeClr val="dk1"/>
                </a:solidFill>
              </a:rPr>
              <a:t>assessment doesn’t matter.”</a:t>
            </a:r>
            <a:r>
              <a:rPr lang="en-US">
                <a:solidFill>
                  <a:schemeClr val="dk1"/>
                </a:solidFill>
              </a:rPr>
              <a:t> Another diagnosis, medical issue, or context may better explain the behavior.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“So instead of trying to diagnose ourselves, let’s have a way to look at the pattern.”</a:t>
            </a:r>
            <a:endParaRPr/>
          </a:p>
        </p:txBody>
      </p:sp>
      <p:sp>
        <p:nvSpPr>
          <p:cNvPr id="265" name="Google Shape;265;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Introduce the original Four Fs reflection framework.</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Name all four at once. Don’t unpack everything yet; the next four slides do that.</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US">
                <a:solidFill>
                  <a:schemeClr val="dk1"/>
                </a:solidFill>
              </a:rPr>
              <a:t>Explain that the Four Fs </a:t>
            </a:r>
            <a:r>
              <a:rPr b="1" lang="en-US">
                <a:solidFill>
                  <a:schemeClr val="dk1"/>
                </a:solidFill>
              </a:rPr>
              <a:t>organize questions</a:t>
            </a:r>
            <a:r>
              <a:rPr lang="en-US">
                <a:solidFill>
                  <a:schemeClr val="dk1"/>
                </a:solidFill>
              </a:rPr>
              <a:t>. They do not generate a score, diagnosis, risk category, or magical answer.</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Quick Orientation:</a:t>
            </a:r>
            <a:endParaRPr b="1">
              <a:solidFill>
                <a:schemeClr val="dk1"/>
              </a:solidFill>
            </a:endParaRPr>
          </a:p>
          <a:p>
            <a:pPr indent="0" lvl="0" marL="0" rtl="0" algn="l">
              <a:spcBef>
                <a:spcPts val="0"/>
              </a:spcBef>
              <a:spcAft>
                <a:spcPts val="0"/>
              </a:spcAft>
              <a:buSzPts val="1100"/>
              <a:buNone/>
            </a:pPr>
            <a:r>
              <a:rPr b="1" lang="en-US">
                <a:solidFill>
                  <a:schemeClr val="dk1"/>
                </a:solidFill>
              </a:rPr>
              <a:t>Function </a:t>
            </a:r>
            <a:r>
              <a:rPr lang="en-US">
                <a:solidFill>
                  <a:schemeClr val="dk1"/>
                </a:solidFill>
              </a:rPr>
              <a:t>= What is it doing for me?</a:t>
            </a:r>
            <a:endParaRPr>
              <a:solidFill>
                <a:schemeClr val="dk1"/>
              </a:solidFill>
            </a:endParaRPr>
          </a:p>
          <a:p>
            <a:pPr indent="0" lvl="0" marL="0" rtl="0" algn="l">
              <a:spcBef>
                <a:spcPts val="0"/>
              </a:spcBef>
              <a:spcAft>
                <a:spcPts val="0"/>
              </a:spcAft>
              <a:buSzPts val="1100"/>
              <a:buNone/>
            </a:pPr>
            <a:r>
              <a:rPr b="1" lang="en-US">
                <a:solidFill>
                  <a:schemeClr val="dk1"/>
                </a:solidFill>
              </a:rPr>
              <a:t>Freedom</a:t>
            </a:r>
            <a:r>
              <a:rPr lang="en-US">
                <a:solidFill>
                  <a:schemeClr val="dk1"/>
                </a:solidFill>
              </a:rPr>
              <a:t> = How much choice or control do I have?</a:t>
            </a:r>
            <a:endParaRPr>
              <a:solidFill>
                <a:schemeClr val="dk1"/>
              </a:solidFill>
            </a:endParaRPr>
          </a:p>
          <a:p>
            <a:pPr indent="0" lvl="0" marL="0" rtl="0" algn="l">
              <a:spcBef>
                <a:spcPts val="0"/>
              </a:spcBef>
              <a:spcAft>
                <a:spcPts val="0"/>
              </a:spcAft>
              <a:buSzPts val="1100"/>
              <a:buNone/>
            </a:pPr>
            <a:r>
              <a:rPr b="1" lang="en-US">
                <a:solidFill>
                  <a:schemeClr val="dk1"/>
                </a:solidFill>
              </a:rPr>
              <a:t>Focus</a:t>
            </a:r>
            <a:r>
              <a:rPr lang="en-US">
                <a:solidFill>
                  <a:schemeClr val="dk1"/>
                </a:solidFill>
              </a:rPr>
              <a:t> = How much space/priority is it taking?</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Fallout </a:t>
            </a:r>
            <a:r>
              <a:rPr lang="en-US">
                <a:solidFill>
                  <a:schemeClr val="dk1"/>
                </a:solidFill>
              </a:rPr>
              <a:t>= What is it costing me?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This is a reflection framework, not a diagnostic instrument.</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Never score it, create cutoffs, or imply that it has validation, sensitivity,specificity, or norms.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“We’re going to slow each one down. First: </a:t>
            </a:r>
            <a:r>
              <a:rPr b="1" lang="en-US">
                <a:solidFill>
                  <a:schemeClr val="dk1"/>
                </a:solidFill>
              </a:rPr>
              <a:t>What job is this thing doing?</a:t>
            </a:r>
            <a:r>
              <a:rPr lang="en-US">
                <a:solidFill>
                  <a:schemeClr val="dk1"/>
                </a:solidFill>
              </a:rPr>
              <a:t>”</a:t>
            </a:r>
            <a:endParaRPr/>
          </a:p>
        </p:txBody>
      </p:sp>
      <p:sp>
        <p:nvSpPr>
          <p:cNvPr id="273" name="Google Shape;273;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Identify reinforcement, coping, and the need underneath the strategy.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Help patients separate </a:t>
            </a:r>
            <a:r>
              <a:rPr b="1" lang="en-US">
                <a:solidFill>
                  <a:schemeClr val="dk1"/>
                </a:solidFill>
              </a:rPr>
              <a:t>the strategy from the need.</a:t>
            </a:r>
            <a:r>
              <a:rPr lang="en-US">
                <a:solidFill>
                  <a:schemeClr val="dk1"/>
                </a:solidFill>
              </a:rPr>
              <a:t> Validate that the need can be completely legitimate without automatically endorsing the way they’re meeting it. Alternatives can come later; first understand what the behavior is accomplishing.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“What do you get immediately?”</a:t>
            </a:r>
            <a:endParaRPr>
              <a:solidFill>
                <a:schemeClr val="dk1"/>
              </a:solidFill>
            </a:endParaRPr>
          </a:p>
          <a:p>
            <a:pPr indent="0" lvl="0" marL="0" rtl="0" algn="l">
              <a:spcBef>
                <a:spcPts val="0"/>
              </a:spcBef>
              <a:spcAft>
                <a:spcPts val="0"/>
              </a:spcAft>
              <a:buSzPts val="1100"/>
              <a:buNone/>
            </a:pPr>
            <a:r>
              <a:rPr lang="en-US">
                <a:solidFill>
                  <a:schemeClr val="dk1"/>
                </a:solidFill>
              </a:rPr>
              <a:t>“What feeling changes?”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“What need is underneath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A harmful strategy can still be meeting a real need.</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Function isn’t necessarily </a:t>
            </a:r>
            <a:r>
              <a:rPr i="1" lang="en-US">
                <a:solidFill>
                  <a:schemeClr val="dk1"/>
                </a:solidFill>
              </a:rPr>
              <a:t>the one reason</a:t>
            </a:r>
            <a:r>
              <a:rPr lang="en-US">
                <a:solidFill>
                  <a:schemeClr val="dk1"/>
                </a:solidFill>
              </a:rPr>
              <a:t> someone does something. Don’t turn it into another single-cause explanation.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“Now that we know what’s doing for me – how much freedom do I still have around it?”</a:t>
            </a:r>
            <a:endParaRPr/>
          </a:p>
        </p:txBody>
      </p:sp>
      <p:sp>
        <p:nvSpPr>
          <p:cNvPr id="288" name="Google Shape;288;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Explore </a:t>
            </a:r>
            <a:r>
              <a:rPr b="1" lang="en-US">
                <a:solidFill>
                  <a:schemeClr val="dk1"/>
                </a:solidFill>
              </a:rPr>
              <a:t>control and flexibility.</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Facilitate:</a:t>
            </a:r>
            <a:r>
              <a:rPr lang="en-US">
                <a:solidFill>
                  <a:schemeClr val="dk1"/>
                </a:solidFill>
              </a:rPr>
              <a:t> Self-imposed rules are </a:t>
            </a:r>
            <a:r>
              <a:rPr b="1" lang="en-US">
                <a:solidFill>
                  <a:schemeClr val="dk1"/>
                </a:solidFill>
              </a:rPr>
              <a:t>data, not a morality test</a:t>
            </a:r>
            <a:r>
              <a:rPr lang="en-US">
                <a:solidFill>
                  <a:schemeClr val="dk1"/>
                </a:solidFill>
              </a:rPr>
              <a:t>. Ask about the ability to delay, stop, change plans, or choose something else. Look for the pattern across time rather than making too much of one broken promise.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“What happens when you decide, ‘Not today,’?”</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“Do your rules keep getting rewritten after the fact?”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Reduced flexibility and repeated inability to follow intended limits can signal impaired control</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One broken rule does not diagnose anything.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“Okay. How much territory is this thing occupying?”</a:t>
            </a:r>
            <a:endParaRPr/>
          </a:p>
        </p:txBody>
      </p:sp>
      <p:sp>
        <p:nvSpPr>
          <p:cNvPr id="303" name="Google Shape;303;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Explore </a:t>
            </a:r>
            <a:r>
              <a:rPr b="1" lang="en-US">
                <a:solidFill>
                  <a:schemeClr val="dk1"/>
                </a:solidFill>
              </a:rPr>
              <a:t>salience, preoccupation, and displaced priorities.</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Don’t count only the actual behavior. Ask about what happens </a:t>
            </a:r>
            <a:r>
              <a:rPr b="1" lang="en-US">
                <a:solidFill>
                  <a:schemeClr val="dk1"/>
                </a:solidFill>
              </a:rPr>
              <a:t>before, during and after</a:t>
            </a:r>
            <a:r>
              <a:rPr lang="en-US">
                <a:solidFill>
                  <a:schemeClr val="dk1"/>
                </a:solidFill>
              </a:rPr>
              <a:t>: planning, anticipating, arranging, budgeting, hiding, recovering afterward.</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Then look at what used to occupy that space.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“How much of the day is really about it once we count planning and recovery time?”</a:t>
            </a:r>
            <a:br>
              <a:rPr lang="en-US">
                <a:solidFill>
                  <a:schemeClr val="dk1"/>
                </a:solidFill>
              </a:rPr>
            </a:br>
            <a:r>
              <a:rPr lang="en-US">
                <a:solidFill>
                  <a:schemeClr val="dk1"/>
                </a:solidFill>
              </a:rPr>
              <a:t>“What used to occupy that space?”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a:t>
            </a:r>
            <a:r>
              <a:rPr lang="en-US">
                <a:solidFill>
                  <a:schemeClr val="dk1"/>
                </a:solidFill>
              </a:rPr>
              <a:t>The important issue isn’t simply being </a:t>
            </a:r>
            <a:r>
              <a:rPr i="1" lang="en-US">
                <a:solidFill>
                  <a:schemeClr val="dk1"/>
                </a:solidFill>
              </a:rPr>
              <a:t>really interested</a:t>
            </a:r>
            <a:r>
              <a:rPr lang="en-US">
                <a:solidFill>
                  <a:schemeClr val="dk1"/>
                </a:solidFill>
              </a:rPr>
              <a:t> in something. It’s </a:t>
            </a:r>
            <a:r>
              <a:rPr b="1" lang="en-US">
                <a:solidFill>
                  <a:schemeClr val="dk1"/>
                </a:solidFill>
              </a:rPr>
              <a:t>how much of life begins reorganizing around it.</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Temporary intense focus can be perfectly normal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“And finally… What’s the bill?”</a:t>
            </a:r>
            <a:endParaRPr/>
          </a:p>
        </p:txBody>
      </p:sp>
      <p:sp>
        <p:nvSpPr>
          <p:cNvPr id="316" name="Google Shape;316;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Make both consequences </a:t>
            </a:r>
            <a:r>
              <a:rPr b="1" lang="en-US">
                <a:solidFill>
                  <a:schemeClr val="dk1"/>
                </a:solidFill>
              </a:rPr>
              <a:t>and values conflict</a:t>
            </a:r>
            <a:r>
              <a:rPr lang="en-US">
                <a:solidFill>
                  <a:schemeClr val="dk1"/>
                </a:solidFill>
              </a:rPr>
              <a:t> visible.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Ask about obvious costs and </a:t>
            </a:r>
            <a:r>
              <a:rPr b="1" lang="en-US">
                <a:solidFill>
                  <a:schemeClr val="dk1"/>
                </a:solidFill>
              </a:rPr>
              <a:t>quiet ones</a:t>
            </a:r>
            <a:r>
              <a:rPr lang="en-US">
                <a:solidFill>
                  <a:schemeClr val="dk1"/>
                </a:solidFill>
              </a:rPr>
              <a:t>. Fallout isn’t limited to dramatic external consequences. Something can increasingly conflict with the person’s own values or interfere with the life/recovery they’re trying to build.</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Then ask whether they’re continuing even though they can see the cost.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“What are you paying for this besides money?”</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“What matters to you that is getting harder to protect?”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Continuing despite harm is an important warning pattern across SUD and recognized behavioral disorders.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Consequences alone don’t prove addiction. Don’t work backward from </a:t>
            </a:r>
            <a:r>
              <a:rPr i="1" lang="en-US">
                <a:solidFill>
                  <a:schemeClr val="dk1"/>
                </a:solidFill>
              </a:rPr>
              <a:t>bad thing happened</a:t>
            </a:r>
            <a:r>
              <a:rPr lang="en-US">
                <a:solidFill>
                  <a:schemeClr val="dk1"/>
                </a:solidFill>
              </a:rPr>
              <a:t> to </a:t>
            </a:r>
            <a:r>
              <a:rPr i="1" lang="en-US">
                <a:solidFill>
                  <a:schemeClr val="dk1"/>
                </a:solidFill>
              </a:rPr>
              <a:t>therefore disorder.</a:t>
            </a:r>
            <a:endParaRPr i="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“Now let’s try the Four Fs on people who are safely fictional”</a:t>
            </a:r>
            <a:endParaRPr/>
          </a:p>
        </p:txBody>
      </p:sp>
      <p:sp>
        <p:nvSpPr>
          <p:cNvPr id="330" name="Google Shape;330;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US"/>
              <a:t>Reveal the scenario.</a:t>
            </a:r>
            <a:endParaRPr/>
          </a:p>
          <a:p>
            <a:pPr indent="0" lvl="0" marL="0" rtl="0" algn="l">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US"/>
              <a:t>Facilitation on next slide.</a:t>
            </a:r>
            <a:endParaRPr/>
          </a:p>
        </p:txBody>
      </p:sp>
      <p:sp>
        <p:nvSpPr>
          <p:cNvPr id="346" name="Google Shape;346;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a:solidFill>
                  <a:schemeClr val="dk1"/>
                </a:solidFill>
              </a:rPr>
              <a:t>Purpose:</a:t>
            </a:r>
            <a:r>
              <a:rPr lang="en-US">
                <a:solidFill>
                  <a:schemeClr val="dk1"/>
                </a:solidFill>
              </a:rPr>
              <a:t> Apply the Four Fs to relationship/sexual behavior </a:t>
            </a:r>
            <a:r>
              <a:rPr b="1" lang="en-US">
                <a:solidFill>
                  <a:schemeClr val="dk1"/>
                </a:solidFill>
              </a:rPr>
              <a:t>without moralizing it.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SzPts val="1100"/>
              <a:buNone/>
            </a:pPr>
            <a:r>
              <a:rPr b="1" lang="en-US">
                <a:solidFill>
                  <a:schemeClr val="dk1"/>
                </a:solidFill>
              </a:rPr>
              <a:t>Facilitate:</a:t>
            </a:r>
            <a:r>
              <a:rPr lang="en-US">
                <a:solidFill>
                  <a:schemeClr val="dk1"/>
                </a:solidFill>
              </a:rPr>
              <a:t> Start with </a:t>
            </a:r>
            <a:r>
              <a:rPr b="1" lang="en-US">
                <a:solidFill>
                  <a:schemeClr val="dk1"/>
                </a:solidFill>
              </a:rPr>
              <a:t>“What do you notice?</a:t>
            </a:r>
            <a:r>
              <a:rPr lang="en-US">
                <a:solidFill>
                  <a:schemeClr val="dk1"/>
                </a:solidFill>
              </a:rPr>
              <a:t>” Don’t name the pattern for them.</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US">
                <a:solidFill>
                  <a:schemeClr val="dk1"/>
                </a:solidFill>
              </a:rPr>
              <a:t>Then work through:</a:t>
            </a:r>
            <a:endParaRPr>
              <a:solidFill>
                <a:schemeClr val="dk1"/>
              </a:solidFill>
            </a:endParaRPr>
          </a:p>
          <a:p>
            <a:pPr indent="0" lvl="0" marL="0" rtl="0" algn="l">
              <a:spcBef>
                <a:spcPts val="0"/>
              </a:spcBef>
              <a:spcAft>
                <a:spcPts val="0"/>
              </a:spcAft>
              <a:buSzPts val="1100"/>
              <a:buNone/>
            </a:pPr>
            <a:r>
              <a:rPr b="1" lang="en-US">
                <a:solidFill>
                  <a:schemeClr val="dk1"/>
                </a:solidFill>
              </a:rPr>
              <a:t>Function</a:t>
            </a:r>
            <a:r>
              <a:rPr lang="en-US">
                <a:solidFill>
                  <a:schemeClr val="dk1"/>
                </a:solidFill>
              </a:rPr>
              <a:t> – what might this relationship/connection be doing for Tim?</a:t>
            </a:r>
            <a:endParaRPr>
              <a:solidFill>
                <a:schemeClr val="dk1"/>
              </a:solidFill>
            </a:endParaRPr>
          </a:p>
          <a:p>
            <a:pPr indent="0" lvl="0" marL="0" rtl="0" algn="l">
              <a:spcBef>
                <a:spcPts val="0"/>
              </a:spcBef>
              <a:spcAft>
                <a:spcPts val="0"/>
              </a:spcAft>
              <a:buSzPts val="1100"/>
              <a:buNone/>
            </a:pPr>
            <a:r>
              <a:rPr b="1" lang="en-US">
                <a:solidFill>
                  <a:schemeClr val="dk1"/>
                </a:solidFill>
              </a:rPr>
              <a:t>Freedom</a:t>
            </a:r>
            <a:r>
              <a:rPr lang="en-US">
                <a:solidFill>
                  <a:schemeClr val="dk1"/>
                </a:solidFill>
              </a:rPr>
              <a:t> – Where might his choices be narrowing?</a:t>
            </a:r>
            <a:endParaRPr>
              <a:solidFill>
                <a:schemeClr val="dk1"/>
              </a:solidFill>
            </a:endParaRPr>
          </a:p>
          <a:p>
            <a:pPr indent="0" lvl="0" marL="0" rtl="0" algn="l">
              <a:spcBef>
                <a:spcPts val="0"/>
              </a:spcBef>
              <a:spcAft>
                <a:spcPts val="0"/>
              </a:spcAft>
              <a:buSzPts val="1100"/>
              <a:buNone/>
            </a:pPr>
            <a:r>
              <a:rPr b="1" lang="en-US">
                <a:solidFill>
                  <a:schemeClr val="dk1"/>
                </a:solidFill>
              </a:rPr>
              <a:t>Focus </a:t>
            </a:r>
            <a:r>
              <a:rPr lang="en-US">
                <a:solidFill>
                  <a:schemeClr val="dk1"/>
                </a:solidFill>
              </a:rPr>
              <a:t>– What is beginning to organize around the relationship?</a:t>
            </a:r>
            <a:endParaRPr>
              <a:solidFill>
                <a:schemeClr val="dk1"/>
              </a:solidFill>
            </a:endParaRPr>
          </a:p>
          <a:p>
            <a:pPr indent="0" lvl="0" marL="0" rtl="0" algn="l">
              <a:spcBef>
                <a:spcPts val="0"/>
              </a:spcBef>
              <a:spcAft>
                <a:spcPts val="0"/>
              </a:spcAft>
              <a:buSzPts val="1100"/>
              <a:buNone/>
            </a:pPr>
            <a:r>
              <a:rPr b="1" lang="en-US">
                <a:solidFill>
                  <a:schemeClr val="dk1"/>
                </a:solidFill>
              </a:rPr>
              <a:t>Fallout</a:t>
            </a:r>
            <a:r>
              <a:rPr lang="en-US">
                <a:solidFill>
                  <a:schemeClr val="dk1"/>
                </a:solidFill>
              </a:rPr>
              <a:t> – What’s happening to treatment/recovery?</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US">
                <a:solidFill>
                  <a:schemeClr val="dk1"/>
                </a:solidFill>
              </a:rPr>
              <a:t>Then ask the question we’re going to keep using: </a:t>
            </a:r>
            <a:r>
              <a:rPr b="1" lang="en-US">
                <a:solidFill>
                  <a:schemeClr val="dk1"/>
                </a:solidFill>
              </a:rPr>
              <a:t>“What else would we need to know?”</a:t>
            </a:r>
            <a:endParaRPr>
              <a:solidFill>
                <a:schemeClr val="dk1"/>
              </a:solidFill>
            </a:endParaRPr>
          </a:p>
          <a:p>
            <a:pPr indent="0" lvl="0" marL="0" rtl="0" algn="l">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Keep the clinical attention on </a:t>
            </a:r>
            <a:r>
              <a:rPr b="1" lang="en-US">
                <a:solidFill>
                  <a:schemeClr val="dk1"/>
                </a:solidFill>
              </a:rPr>
              <a:t>concealment, boundaries, shifting priorities, rationalization, and interference with recovery </a:t>
            </a:r>
            <a:r>
              <a:rPr lang="en-US">
                <a:solidFill>
                  <a:schemeClr val="dk1"/>
                </a:solidFill>
              </a:rPr>
              <a:t>– not the fact that he’s having sex or is in a relationship.</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Probes:</a:t>
            </a:r>
            <a:endParaRPr b="1">
              <a:solidFill>
                <a:schemeClr val="dk1"/>
              </a:solidFill>
            </a:endParaRPr>
          </a:p>
          <a:p>
            <a:pPr indent="0" lvl="0" marL="0" rtl="0" algn="l">
              <a:spcBef>
                <a:spcPts val="0"/>
              </a:spcBef>
              <a:spcAft>
                <a:spcPts val="0"/>
              </a:spcAft>
              <a:buSzPts val="1100"/>
              <a:buNone/>
            </a:pPr>
            <a:r>
              <a:rPr lang="en-US">
                <a:solidFill>
                  <a:schemeClr val="dk1"/>
                </a:solidFill>
              </a:rPr>
              <a:t>“What might the relationship be doing for Tim?”</a:t>
            </a:r>
            <a:endParaRPr>
              <a:solidFill>
                <a:schemeClr val="dk1"/>
              </a:solidFill>
            </a:endParaRPr>
          </a:p>
          <a:p>
            <a:pPr indent="0" lvl="0" marL="0" rtl="0" algn="l">
              <a:spcBef>
                <a:spcPts val="0"/>
              </a:spcBef>
              <a:spcAft>
                <a:spcPts val="0"/>
              </a:spcAft>
              <a:buSzPts val="1100"/>
              <a:buNone/>
            </a:pPr>
            <a:r>
              <a:rPr lang="en-US">
                <a:solidFill>
                  <a:schemeClr val="dk1"/>
                </a:solidFill>
              </a:rPr>
              <a:t>“What changed about his recovery routine?”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“What is the difference between ‘a relationship’ and ‘a pattern that’s interfering with treatment?”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Must Land: </a:t>
            </a:r>
            <a:r>
              <a:rPr lang="en-US">
                <a:solidFill>
                  <a:schemeClr val="dk1"/>
                </a:solidFill>
              </a:rPr>
              <a:t>This case gives us evidence to discuss </a:t>
            </a:r>
            <a:r>
              <a:rPr b="1" lang="en-US">
                <a:solidFill>
                  <a:schemeClr val="dk1"/>
                </a:solidFill>
              </a:rPr>
              <a:t>secrecy, rationalization, and treatment disengagement. It does not give us enough to diagnose a sex or relationship addiction.</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Clinical Guardrail:</a:t>
            </a:r>
            <a:r>
              <a:rPr lang="en-US">
                <a:solidFill>
                  <a:schemeClr val="dk1"/>
                </a:solidFill>
              </a:rPr>
              <a:t> Don’t moralize consensual sexuality or relationship status. Humor doesn’t target sex, intimacy, or shame-sensitive disclosure.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US">
                <a:solidFill>
                  <a:schemeClr val="dk1"/>
                </a:solidFill>
              </a:rPr>
              <a:t>Transition:</a:t>
            </a:r>
            <a:r>
              <a:rPr lang="en-US">
                <a:solidFill>
                  <a:schemeClr val="dk1"/>
                </a:solidFill>
              </a:rPr>
              <a:t> “Same Four Fs. Completely different behavior. Meet Lana. ”</a:t>
            </a:r>
            <a:endParaRPr>
              <a:solidFill>
                <a:schemeClr val="dk1"/>
              </a:solidFill>
            </a:endParaRPr>
          </a:p>
          <a:p>
            <a:pPr indent="0" lvl="0" marL="0" rtl="0" algn="l">
              <a:lnSpc>
                <a:spcPct val="100000"/>
              </a:lnSpc>
              <a:spcBef>
                <a:spcPts val="0"/>
              </a:spcBef>
              <a:spcAft>
                <a:spcPts val="0"/>
              </a:spcAft>
              <a:buSzPts val="1100"/>
              <a:buNone/>
            </a:pPr>
            <a:r>
              <a:t/>
            </a:r>
            <a:endParaRPr/>
          </a:p>
        </p:txBody>
      </p:sp>
      <p:sp>
        <p:nvSpPr>
          <p:cNvPr id="359" name="Google Shape;359;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Reveal the scenario.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Facilitation on next slide.</a:t>
            </a:r>
            <a:endParaRPr/>
          </a:p>
        </p:txBody>
      </p:sp>
      <p:sp>
        <p:nvSpPr>
          <p:cNvPr id="368" name="Google Shape;368;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Purpose:</a:t>
            </a:r>
            <a:r>
              <a:rPr lang="en-US">
                <a:solidFill>
                  <a:schemeClr val="dk1"/>
                </a:solidFill>
              </a:rPr>
              <a:t> Apply the Four Fs to </a:t>
            </a:r>
            <a:r>
              <a:rPr b="1" lang="en-US">
                <a:solidFill>
                  <a:schemeClr val="dk1"/>
                </a:solidFill>
              </a:rPr>
              <a:t>spending and emotional escape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Facilitate:</a:t>
            </a:r>
            <a:r>
              <a:rPr lang="en-US">
                <a:solidFill>
                  <a:schemeClr val="dk1"/>
                </a:solidFill>
              </a:rPr>
              <a:t> Start with the case and let the group identify the </a:t>
            </a:r>
            <a:r>
              <a:rPr b="1" lang="en-US">
                <a:solidFill>
                  <a:schemeClr val="dk1"/>
                </a:solidFill>
              </a:rPr>
              <a:t>immediate reward versus the delayed cost</a:t>
            </a:r>
            <a:r>
              <a:rPr lang="en-US">
                <a:solidFill>
                  <a:schemeClr val="dk1"/>
                </a:solidFill>
              </a:rPr>
              <a:t> before walking through the Four Fs.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Function</a:t>
            </a:r>
            <a:r>
              <a:rPr lang="en-US">
                <a:solidFill>
                  <a:schemeClr val="dk1"/>
                </a:solidFill>
              </a:rPr>
              <a:t> — What is shopping doing for Lana emotionally?</a:t>
            </a:r>
            <a:br>
              <a:rPr lang="en-US">
                <a:solidFill>
                  <a:schemeClr val="dk1"/>
                </a:solidFill>
              </a:rPr>
            </a:br>
            <a:r>
              <a:rPr b="1" lang="en-US">
                <a:solidFill>
                  <a:schemeClr val="dk1"/>
                </a:solidFill>
              </a:rPr>
              <a:t>Freedom</a:t>
            </a:r>
            <a:r>
              <a:rPr lang="en-US">
                <a:solidFill>
                  <a:schemeClr val="dk1"/>
                </a:solidFill>
              </a:rPr>
              <a:t> — Where might choice or flexibility be narrowing?</a:t>
            </a:r>
            <a:br>
              <a:rPr lang="en-US">
                <a:solidFill>
                  <a:schemeClr val="dk1"/>
                </a:solidFill>
              </a:rPr>
            </a:br>
            <a:r>
              <a:rPr b="1" lang="en-US">
                <a:solidFill>
                  <a:schemeClr val="dk1"/>
                </a:solidFill>
              </a:rPr>
              <a:t>Focus</a:t>
            </a:r>
            <a:r>
              <a:rPr lang="en-US">
                <a:solidFill>
                  <a:schemeClr val="dk1"/>
                </a:solidFill>
              </a:rPr>
              <a:t> — How much attention, planning, money, or priority is shifting toward shopping?</a:t>
            </a:r>
            <a:br>
              <a:rPr lang="en-US">
                <a:solidFill>
                  <a:schemeClr val="dk1"/>
                </a:solidFill>
              </a:rPr>
            </a:br>
            <a:r>
              <a:rPr b="1" lang="en-US">
                <a:solidFill>
                  <a:schemeClr val="dk1"/>
                </a:solidFill>
              </a:rPr>
              <a:t>Fallout</a:t>
            </a:r>
            <a:r>
              <a:rPr lang="en-US">
                <a:solidFill>
                  <a:schemeClr val="dk1"/>
                </a:solidFill>
              </a:rPr>
              <a:t> — What is it costing her financially or otherwise?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return to diagnostic humility: </a:t>
            </a:r>
            <a:r>
              <a:rPr b="1" lang="en-US">
                <a:solidFill>
                  <a:schemeClr val="dk1"/>
                </a:solidFill>
              </a:rPr>
              <a:t>What else would we need to know to distinguish enjoying shopping from a concerning pattern?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Probes:</a:t>
            </a:r>
            <a:br>
              <a:rPr b="1" lang="en-US">
                <a:solidFill>
                  <a:schemeClr val="dk1"/>
                </a:solidFill>
              </a:rPr>
            </a:br>
            <a:r>
              <a:rPr lang="en-US">
                <a:solidFill>
                  <a:schemeClr val="dk1"/>
                </a:solidFill>
              </a:rPr>
              <a:t>“What is shopping doing for her?”</a:t>
            </a:r>
            <a:br>
              <a:rPr lang="en-US">
                <a:solidFill>
                  <a:schemeClr val="dk1"/>
                </a:solidFill>
              </a:rPr>
            </a:br>
            <a:r>
              <a:rPr lang="en-US">
                <a:solidFill>
                  <a:schemeClr val="dk1"/>
                </a:solidFill>
              </a:rPr>
              <a:t>“Where is freedom narrowing?”</a:t>
            </a:r>
            <a:br>
              <a:rPr lang="en-US">
                <a:solidFill>
                  <a:schemeClr val="dk1"/>
                </a:solidFill>
              </a:rPr>
            </a:br>
            <a:r>
              <a:rPr lang="en-US">
                <a:solidFill>
                  <a:schemeClr val="dk1"/>
                </a:solidFill>
              </a:rPr>
              <a:t>“What is the financial fallout?”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Must land:</a:t>
            </a:r>
            <a:r>
              <a:rPr lang="en-US">
                <a:solidFill>
                  <a:schemeClr val="dk1"/>
                </a:solidFill>
              </a:rPr>
              <a:t> Compulsive buying is clinically studied, but </a:t>
            </a:r>
            <a:r>
              <a:rPr b="1" lang="en-US">
                <a:solidFill>
                  <a:schemeClr val="dk1"/>
                </a:solidFill>
              </a:rPr>
              <a:t>this vignette does not establish a standalone DSM-5-TR addiction diagnosis.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Guardrail:</a:t>
            </a:r>
            <a:r>
              <a:rPr lang="en-US">
                <a:solidFill>
                  <a:schemeClr val="dk1"/>
                </a:solidFill>
              </a:rPr>
              <a:t> Spending money and enjoying shopping ≠ addiction.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Transition:</a:t>
            </a:r>
            <a:r>
              <a:rPr lang="en-US">
                <a:solidFill>
                  <a:schemeClr val="dk1"/>
                </a:solidFill>
              </a:rPr>
              <a:t> “Next we'll use the same framework with a behavior that has clearer formal diagnostic recognition: gambling.”</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379" name="Google Shape;379;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Reveal the scenario.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Facilitation on next slide.</a:t>
            </a:r>
            <a:endParaRPr/>
          </a:p>
        </p:txBody>
      </p:sp>
      <p:sp>
        <p:nvSpPr>
          <p:cNvPr id="388" name="Google Shape;388;p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Purpose:</a:t>
            </a:r>
            <a:r>
              <a:rPr lang="en-US">
                <a:solidFill>
                  <a:schemeClr val="dk1"/>
                </a:solidFill>
              </a:rPr>
              <a:t> Apply the Four Fs to </a:t>
            </a:r>
            <a:r>
              <a:rPr b="1" lang="en-US">
                <a:solidFill>
                  <a:schemeClr val="dk1"/>
                </a:solidFill>
              </a:rPr>
              <a:t>gambling</a:t>
            </a:r>
            <a:r>
              <a:rPr lang="en-US">
                <a:solidFill>
                  <a:schemeClr val="dk1"/>
                </a:solidFill>
              </a:rPr>
              <a:t>—this time with a behavior that has formal diagnostic recognition.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Facilitate:</a:t>
            </a:r>
            <a:r>
              <a:rPr lang="en-US">
                <a:solidFill>
                  <a:schemeClr val="dk1"/>
                </a:solidFill>
              </a:rPr>
              <a:t> Let the group notice the pattern before you supply it. Listen for </a:t>
            </a:r>
            <a:r>
              <a:rPr b="1" lang="en-US">
                <a:solidFill>
                  <a:schemeClr val="dk1"/>
                </a:solidFill>
              </a:rPr>
              <a:t>chasing losses, concealment, preoccupation, financial harm, and neglect of roles/responsibilities.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Four Fs: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Function</a:t>
            </a:r>
            <a:r>
              <a:rPr lang="en-US">
                <a:solidFill>
                  <a:schemeClr val="dk1"/>
                </a:solidFill>
              </a:rPr>
              <a:t> — What might gambling be doing for Buck?</a:t>
            </a:r>
            <a:br>
              <a:rPr lang="en-US">
                <a:solidFill>
                  <a:schemeClr val="dk1"/>
                </a:solidFill>
              </a:rPr>
            </a:br>
            <a:r>
              <a:rPr b="1" lang="en-US">
                <a:solidFill>
                  <a:schemeClr val="dk1"/>
                </a:solidFill>
              </a:rPr>
              <a:t>Freedom</a:t>
            </a:r>
            <a:r>
              <a:rPr lang="en-US">
                <a:solidFill>
                  <a:schemeClr val="dk1"/>
                </a:solidFill>
              </a:rPr>
              <a:t> — What's happening when he keeps chasing the loss?</a:t>
            </a:r>
            <a:br>
              <a:rPr lang="en-US">
                <a:solidFill>
                  <a:schemeClr val="dk1"/>
                </a:solidFill>
              </a:rPr>
            </a:br>
            <a:r>
              <a:rPr b="1" lang="en-US">
                <a:solidFill>
                  <a:schemeClr val="dk1"/>
                </a:solidFill>
              </a:rPr>
              <a:t>Focus</a:t>
            </a:r>
            <a:r>
              <a:rPr lang="en-US">
                <a:solidFill>
                  <a:schemeClr val="dk1"/>
                </a:solidFill>
              </a:rPr>
              <a:t> — What has begun competing with his recovery responsibilities and relationships?</a:t>
            </a:r>
            <a:br>
              <a:rPr lang="en-US">
                <a:solidFill>
                  <a:schemeClr val="dk1"/>
                </a:solidFill>
              </a:rPr>
            </a:br>
            <a:r>
              <a:rPr b="1" lang="en-US">
                <a:solidFill>
                  <a:schemeClr val="dk1"/>
                </a:solidFill>
              </a:rPr>
              <a:t>Fallout</a:t>
            </a:r>
            <a:r>
              <a:rPr lang="en-US">
                <a:solidFill>
                  <a:schemeClr val="dk1"/>
                </a:solidFill>
              </a:rPr>
              <a:t> — What are the financial and interpersonal costs?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preserve the question we've established with the cases: </a:t>
            </a:r>
            <a:r>
              <a:rPr b="1" lang="en-US">
                <a:solidFill>
                  <a:schemeClr val="dk1"/>
                </a:solidFill>
              </a:rPr>
              <a:t>What would we still need to know before diagnosing him?</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Probes:</a:t>
            </a:r>
            <a:br>
              <a:rPr b="1" lang="en-US">
                <a:solidFill>
                  <a:schemeClr val="dk1"/>
                </a:solidFill>
              </a:rPr>
            </a:br>
            <a:r>
              <a:rPr lang="en-US">
                <a:solidFill>
                  <a:schemeClr val="dk1"/>
                </a:solidFill>
              </a:rPr>
              <a:t>“What is the ‘one more good weekend’ thought doing?”</a:t>
            </a:r>
            <a:br>
              <a:rPr lang="en-US">
                <a:solidFill>
                  <a:schemeClr val="dk1"/>
                </a:solidFill>
              </a:rPr>
            </a:br>
            <a:r>
              <a:rPr lang="en-US">
                <a:solidFill>
                  <a:schemeClr val="dk1"/>
                </a:solidFill>
              </a:rPr>
              <a:t>“What priorities changed?”</a:t>
            </a:r>
            <a:br>
              <a:rPr lang="en-US">
                <a:solidFill>
                  <a:schemeClr val="dk1"/>
                </a:solidFill>
              </a:rPr>
            </a:br>
            <a:r>
              <a:rPr lang="en-US">
                <a:solidFill>
                  <a:schemeClr val="dk1"/>
                </a:solidFill>
              </a:rPr>
              <a:t>“What is hidden?”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Must land:</a:t>
            </a:r>
            <a:r>
              <a:rPr lang="en-US">
                <a:solidFill>
                  <a:schemeClr val="dk1"/>
                </a:solidFill>
              </a:rPr>
              <a:t> </a:t>
            </a:r>
            <a:r>
              <a:rPr b="1" lang="en-US">
                <a:solidFill>
                  <a:schemeClr val="dk1"/>
                </a:solidFill>
              </a:rPr>
              <a:t>Gambling disorder is formally recognized—but even a vignette containing several concerning features does not substitute for a full assessment.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the useful contrast with Lana: we aren't changing our clinical reasoning just because </a:t>
            </a:r>
            <a:r>
              <a:rPr b="1" lang="en-US">
                <a:solidFill>
                  <a:schemeClr val="dk1"/>
                </a:solidFill>
              </a:rPr>
              <a:t>gambling has a recognized diagnostic category</a:t>
            </a:r>
            <a:r>
              <a:rPr lang="en-US">
                <a:solidFill>
                  <a:schemeClr val="dk1"/>
                </a:solidFill>
              </a:rPr>
              <a:t>. We still assess rather than diagnose Buck from six arrows on a PowerPoint.</a:t>
            </a:r>
            <a:endParaRPr>
              <a:solidFill>
                <a:schemeClr val="dk1"/>
              </a:solidFill>
            </a:endParaRPr>
          </a:p>
          <a:p>
            <a:pPr indent="0" lvl="0" marL="0" rtl="0" algn="l">
              <a:lnSpc>
                <a:spcPct val="115000"/>
              </a:lnSpc>
              <a:spcBef>
                <a:spcPts val="1200"/>
              </a:spcBef>
              <a:spcAft>
                <a:spcPts val="0"/>
              </a:spcAft>
              <a:buSzPts val="1100"/>
              <a:buNone/>
            </a:pPr>
            <a:r>
              <a:rPr b="1" lang="en-US">
                <a:solidFill>
                  <a:schemeClr val="dk1"/>
                </a:solidFill>
              </a:rPr>
              <a:t>Guardrail:</a:t>
            </a:r>
            <a:r>
              <a:rPr lang="en-US">
                <a:solidFill>
                  <a:schemeClr val="dk1"/>
                </a:solidFill>
              </a:rPr>
              <a:t> Formal recognition of gambling disorder does </a:t>
            </a:r>
            <a:r>
              <a:rPr b="1" lang="en-US">
                <a:solidFill>
                  <a:schemeClr val="dk1"/>
                </a:solidFill>
              </a:rPr>
              <a:t>not</a:t>
            </a:r>
            <a:r>
              <a:rPr lang="en-US">
                <a:solidFill>
                  <a:schemeClr val="dk1"/>
                </a:solidFill>
              </a:rPr>
              <a:t> mean every gambling-related problem is automatically gambling disorder.</a:t>
            </a:r>
            <a:endParaRPr>
              <a:solidFill>
                <a:schemeClr val="dk1"/>
              </a:solidFill>
            </a:endParaRPr>
          </a:p>
          <a:p>
            <a:pPr indent="0" lvl="0" marL="0" rtl="0" algn="l">
              <a:lnSpc>
                <a:spcPct val="115000"/>
              </a:lnSpc>
              <a:spcBef>
                <a:spcPts val="1200"/>
              </a:spcBef>
              <a:spcAft>
                <a:spcPts val="1200"/>
              </a:spcAft>
              <a:buSzPts val="1100"/>
              <a:buNone/>
            </a:pPr>
            <a:r>
              <a:rPr b="1" lang="en-US">
                <a:solidFill>
                  <a:schemeClr val="dk1"/>
                </a:solidFill>
              </a:rPr>
              <a:t>Transition: </a:t>
            </a:r>
            <a:r>
              <a:rPr lang="en-US">
                <a:solidFill>
                  <a:schemeClr val="dk1"/>
                </a:solidFill>
              </a:rPr>
              <a:t>“Now let’s look at a behavior that can take up a lot of time and attention without necessarily having an official ‘addiction’ label.” </a:t>
            </a:r>
            <a:endParaRPr>
              <a:solidFill>
                <a:schemeClr val="dk1"/>
              </a:solidFill>
            </a:endParaRPr>
          </a:p>
        </p:txBody>
      </p:sp>
      <p:sp>
        <p:nvSpPr>
          <p:cNvPr id="401" name="Google Shape;401;p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Reveal the scenario.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Facilitation on next slide.</a:t>
            </a:r>
            <a:endParaRPr/>
          </a:p>
        </p:txBody>
      </p:sp>
      <p:sp>
        <p:nvSpPr>
          <p:cNvPr id="410" name="Google Shape;410;p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Purpose:</a:t>
            </a:r>
            <a:r>
              <a:rPr lang="en-US">
                <a:solidFill>
                  <a:schemeClr val="dk1"/>
                </a:solidFill>
              </a:rPr>
              <a:t> Apply the Four Fs to </a:t>
            </a:r>
            <a:r>
              <a:rPr b="1" lang="en-US">
                <a:solidFill>
                  <a:schemeClr val="dk1"/>
                </a:solidFill>
              </a:rPr>
              <a:t>problematic social-media/online use</a:t>
            </a:r>
            <a:r>
              <a:rPr lang="en-US">
                <a:solidFill>
                  <a:schemeClr val="dk1"/>
                </a:solidFill>
              </a:rPr>
              <a:t> without inventing an addiction diagnosis.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Facilitate:</a:t>
            </a:r>
            <a:r>
              <a:rPr lang="en-US">
                <a:solidFill>
                  <a:schemeClr val="dk1"/>
                </a:solidFill>
              </a:rPr>
              <a:t> Start with the legitimate function: </a:t>
            </a:r>
            <a:r>
              <a:rPr b="1" lang="en-US">
                <a:solidFill>
                  <a:schemeClr val="dk1"/>
                </a:solidFill>
              </a:rPr>
              <a:t>connection</a:t>
            </a:r>
            <a:r>
              <a:rPr lang="en-US">
                <a:solidFill>
                  <a:schemeClr val="dk1"/>
                </a:solidFill>
              </a:rPr>
              <a:t>. Leslie isn't doing something inherently pathological. The question is when something helpful begins becoming </a:t>
            </a:r>
            <a:r>
              <a:rPr b="1" lang="en-US">
                <a:solidFill>
                  <a:schemeClr val="dk1"/>
                </a:solidFill>
              </a:rPr>
              <a:t>costly or inflexible</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Four Fs: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Function</a:t>
            </a:r>
            <a:r>
              <a:rPr lang="en-US">
                <a:solidFill>
                  <a:schemeClr val="dk1"/>
                </a:solidFill>
              </a:rPr>
              <a:t> — What is the internet giving Leslie? Connection? Relief from loneliness? Belonging?</a:t>
            </a:r>
            <a:br>
              <a:rPr lang="en-US">
                <a:solidFill>
                  <a:schemeClr val="dk1"/>
                </a:solidFill>
              </a:rPr>
            </a:br>
            <a:r>
              <a:rPr b="1" lang="en-US">
                <a:solidFill>
                  <a:schemeClr val="dk1"/>
                </a:solidFill>
              </a:rPr>
              <a:t>Freedom</a:t>
            </a:r>
            <a:r>
              <a:rPr lang="en-US">
                <a:solidFill>
                  <a:schemeClr val="dk1"/>
                </a:solidFill>
              </a:rPr>
              <a:t> — What happens when Leslie can't check or connect?</a:t>
            </a:r>
            <a:br>
              <a:rPr lang="en-US">
                <a:solidFill>
                  <a:schemeClr val="dk1"/>
                </a:solidFill>
              </a:rPr>
            </a:br>
            <a:r>
              <a:rPr b="1" lang="en-US">
                <a:solidFill>
                  <a:schemeClr val="dk1"/>
                </a:solidFill>
              </a:rPr>
              <a:t>Focus</a:t>
            </a:r>
            <a:r>
              <a:rPr lang="en-US">
                <a:solidFill>
                  <a:schemeClr val="dk1"/>
                </a:solidFill>
              </a:rPr>
              <a:t> — How much time, attention, and mental space is it beginning to occupy?</a:t>
            </a:r>
            <a:br>
              <a:rPr lang="en-US">
                <a:solidFill>
                  <a:schemeClr val="dk1"/>
                </a:solidFill>
              </a:rPr>
            </a:br>
            <a:r>
              <a:rPr b="1" lang="en-US">
                <a:solidFill>
                  <a:schemeClr val="dk1"/>
                </a:solidFill>
              </a:rPr>
              <a:t>Fallout</a:t>
            </a:r>
            <a:r>
              <a:rPr lang="en-US">
                <a:solidFill>
                  <a:schemeClr val="dk1"/>
                </a:solidFill>
              </a:rPr>
              <a:t> — What's getting pushed aside at home and 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widen the assessment rather than jumping to a label: </a:t>
            </a:r>
            <a:r>
              <a:rPr b="1" lang="en-US">
                <a:solidFill>
                  <a:schemeClr val="dk1"/>
                </a:solidFill>
              </a:rPr>
              <a:t>What else could be contributing to this pattern?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Probes:</a:t>
            </a:r>
            <a:br>
              <a:rPr b="1" lang="en-US">
                <a:solidFill>
                  <a:schemeClr val="dk1"/>
                </a:solidFill>
              </a:rPr>
            </a:br>
            <a:r>
              <a:rPr lang="en-US">
                <a:solidFill>
                  <a:schemeClr val="dk1"/>
                </a:solidFill>
              </a:rPr>
              <a:t>“What is the internet giving Leslie?”</a:t>
            </a:r>
            <a:br>
              <a:rPr lang="en-US">
                <a:solidFill>
                  <a:schemeClr val="dk1"/>
                </a:solidFill>
              </a:rPr>
            </a:br>
            <a:r>
              <a:rPr lang="en-US">
                <a:solidFill>
                  <a:schemeClr val="dk1"/>
                </a:solidFill>
              </a:rPr>
              <a:t>“What is getting pushed aside?”</a:t>
            </a:r>
            <a:br>
              <a:rPr lang="en-US">
                <a:solidFill>
                  <a:schemeClr val="dk1"/>
                </a:solidFill>
              </a:rPr>
            </a:br>
            <a:r>
              <a:rPr lang="en-US">
                <a:solidFill>
                  <a:schemeClr val="dk1"/>
                </a:solidFill>
              </a:rPr>
              <a:t>“What else would you assess—sleep, mood, anxiety, ADHD, trauma, social context?”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Must land:</a:t>
            </a:r>
            <a:r>
              <a:rPr lang="en-US">
                <a:solidFill>
                  <a:schemeClr val="dk1"/>
                </a:solidFill>
              </a:rPr>
              <a:t> Problematic digital/social-media use </a:t>
            </a:r>
            <a:r>
              <a:rPr b="1" lang="en-US">
                <a:solidFill>
                  <a:schemeClr val="dk1"/>
                </a:solidFill>
              </a:rPr>
              <a:t>can cause genuine impairment without “social media addiction” being a formal DSM-5-TR diagnosis.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That's the point Leslie adds to the sequence: </a:t>
            </a:r>
            <a:r>
              <a:rPr b="1" lang="en-US">
                <a:solidFill>
                  <a:schemeClr val="dk1"/>
                </a:solidFill>
              </a:rPr>
              <a:t>we don't need to manufacture a diagnosis before we're allowed to notice harm.</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Guardrail:</a:t>
            </a:r>
            <a:r>
              <a:rPr lang="en-US">
                <a:solidFill>
                  <a:schemeClr val="dk1"/>
                </a:solidFill>
              </a:rPr>
              <a:t> Loneliness, high screen time, and frequent phone use are not diagnoses. Don't pathologize the behavior simply because there's a lot of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Transition:</a:t>
            </a:r>
            <a:r>
              <a:rPr lang="en-US">
                <a:solidFill>
                  <a:schemeClr val="dk1"/>
                </a:solidFill>
              </a:rPr>
              <a:t> </a:t>
            </a:r>
            <a:r>
              <a:rPr b="1" lang="en-US">
                <a:solidFill>
                  <a:schemeClr val="dk1"/>
                </a:solidFill>
              </a:rPr>
              <a:t>“Jack brings the same pattern-recognition exercise into a medical and safety context.”</a:t>
            </a:r>
            <a:endParaRPr b="1">
              <a:solidFill>
                <a:schemeClr val="dk1"/>
              </a:solidFill>
            </a:endParaRPr>
          </a:p>
          <a:p>
            <a:pPr indent="0" lvl="0" marL="0" rtl="0" algn="l">
              <a:lnSpc>
                <a:spcPct val="100000"/>
              </a:lnSpc>
              <a:spcBef>
                <a:spcPts val="1200"/>
              </a:spcBef>
              <a:spcAft>
                <a:spcPts val="0"/>
              </a:spcAft>
              <a:buSzPts val="1100"/>
              <a:buNone/>
            </a:pPr>
            <a:r>
              <a:t/>
            </a:r>
            <a:endParaRPr/>
          </a:p>
        </p:txBody>
      </p:sp>
      <p:sp>
        <p:nvSpPr>
          <p:cNvPr id="422" name="Google Shape;422;p1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Reveal the scenario.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Facilitation on next slide.</a:t>
            </a:r>
            <a:endParaRPr/>
          </a:p>
        </p:txBody>
      </p:sp>
      <p:sp>
        <p:nvSpPr>
          <p:cNvPr id="431" name="Google Shape;431;p1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Purpose:</a:t>
            </a:r>
            <a:r>
              <a:rPr lang="en-US">
                <a:solidFill>
                  <a:schemeClr val="dk1"/>
                </a:solidFill>
              </a:rPr>
              <a:t> Differentiate </a:t>
            </a:r>
            <a:r>
              <a:rPr b="1" lang="en-US">
                <a:solidFill>
                  <a:schemeClr val="dk1"/>
                </a:solidFill>
              </a:rPr>
              <a:t>legitimate medical treatment</a:t>
            </a:r>
            <a:r>
              <a:rPr lang="en-US">
                <a:solidFill>
                  <a:schemeClr val="dk1"/>
                </a:solidFill>
              </a:rPr>
              <a:t> from a changing, increasingly unsafe pattern—and land the medical safety piece.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Facilitate:</a:t>
            </a:r>
            <a:r>
              <a:rPr lang="en-US">
                <a:solidFill>
                  <a:schemeClr val="dk1"/>
                </a:solidFill>
              </a:rPr>
              <a:t> Start with </a:t>
            </a:r>
            <a:r>
              <a:rPr b="1" lang="en-US">
                <a:solidFill>
                  <a:schemeClr val="dk1"/>
                </a:solidFill>
              </a:rPr>
              <a:t>one question only: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“Where did the pattern change?”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Protect the beginning of Jack's story from retrospective moralizing. He had an injury and received legitimate pain treatment. </a:t>
            </a:r>
            <a:r>
              <a:rPr b="1" lang="en-US">
                <a:solidFill>
                  <a:schemeClr val="dk1"/>
                </a:solidFill>
              </a:rPr>
              <a:t>Being prescribed an opioid is not, by definition, the problem.</a:t>
            </a:r>
            <a:endParaRPr b="1">
              <a:solidFill>
                <a:schemeClr val="dk1"/>
              </a:solidFill>
            </a:endParaRPr>
          </a:p>
          <a:p>
            <a:pPr indent="0" lvl="0" marL="0" rtl="0" algn="l">
              <a:lnSpc>
                <a:spcPct val="115000"/>
              </a:lnSpc>
              <a:spcBef>
                <a:spcPts val="1200"/>
              </a:spcBef>
              <a:spcAft>
                <a:spcPts val="1200"/>
              </a:spcAft>
              <a:buSzPts val="1100"/>
              <a:buNone/>
            </a:pPr>
            <a:r>
              <a:rPr lang="en-US">
                <a:solidFill>
                  <a:schemeClr val="dk1"/>
                </a:solidFill>
              </a:rPr>
              <a:t>Let the group identify where things begin changing. Then use the Four Fs and ask what information we'd still need.</a:t>
            </a:r>
            <a:endParaRPr/>
          </a:p>
        </p:txBody>
      </p:sp>
      <p:sp>
        <p:nvSpPr>
          <p:cNvPr id="444" name="Google Shape;444;p1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Function</a:t>
            </a:r>
            <a:r>
              <a:rPr lang="en-US">
                <a:solidFill>
                  <a:schemeClr val="dk1"/>
                </a:solidFill>
              </a:rPr>
              <a:t> — What is the medication doing at different points in the story? Don't assume pain relief and other reinforcement are mutually exclusive.</a:t>
            </a:r>
            <a:br>
              <a:rPr lang="en-US">
                <a:solidFill>
                  <a:schemeClr val="dk1"/>
                </a:solidFill>
              </a:rPr>
            </a:br>
            <a:r>
              <a:rPr b="1" lang="en-US">
                <a:solidFill>
                  <a:schemeClr val="dk1"/>
                </a:solidFill>
              </a:rPr>
              <a:t>Freedom</a:t>
            </a:r>
            <a:r>
              <a:rPr lang="en-US">
                <a:solidFill>
                  <a:schemeClr val="dk1"/>
                </a:solidFill>
              </a:rPr>
              <a:t> — Where does control/flexibility begin changing?</a:t>
            </a:r>
            <a:br>
              <a:rPr lang="en-US">
                <a:solidFill>
                  <a:schemeClr val="dk1"/>
                </a:solidFill>
              </a:rPr>
            </a:br>
            <a:r>
              <a:rPr b="1" lang="en-US">
                <a:solidFill>
                  <a:schemeClr val="dk1"/>
                </a:solidFill>
              </a:rPr>
              <a:t>Focus</a:t>
            </a:r>
            <a:r>
              <a:rPr lang="en-US">
                <a:solidFill>
                  <a:schemeClr val="dk1"/>
                </a:solidFill>
              </a:rPr>
              <a:t> — When do obtaining and managing substances start occupying more territory?</a:t>
            </a:r>
            <a:br>
              <a:rPr lang="en-US">
                <a:solidFill>
                  <a:schemeClr val="dk1"/>
                </a:solidFill>
              </a:rPr>
            </a:br>
            <a:r>
              <a:rPr b="1" lang="en-US">
                <a:solidFill>
                  <a:schemeClr val="dk1"/>
                </a:solidFill>
              </a:rPr>
              <a:t>Fallout</a:t>
            </a:r>
            <a:r>
              <a:rPr lang="en-US">
                <a:solidFill>
                  <a:schemeClr val="dk1"/>
                </a:solidFill>
              </a:rPr>
              <a:t> — What risks and consequences are emerging?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Probes:</a:t>
            </a:r>
            <a:br>
              <a:rPr b="1" lang="en-US">
                <a:solidFill>
                  <a:schemeClr val="dk1"/>
                </a:solidFill>
              </a:rPr>
            </a:br>
            <a:r>
              <a:rPr lang="en-US">
                <a:solidFill>
                  <a:schemeClr val="dk1"/>
                </a:solidFill>
              </a:rPr>
              <a:t>“What changed first—dose, source, control, secrecy, consequences?”</a:t>
            </a:r>
            <a:br>
              <a:rPr lang="en-US">
                <a:solidFill>
                  <a:schemeClr val="dk1"/>
                </a:solidFill>
              </a:rPr>
            </a:br>
            <a:r>
              <a:rPr lang="en-US">
                <a:solidFill>
                  <a:schemeClr val="dk1"/>
                </a:solidFill>
              </a:rPr>
              <a:t>“What would you need to know about pain, tolerance, withdrawal, and prescribing?”</a:t>
            </a:r>
            <a:br>
              <a:rPr lang="en-US">
                <a:solidFill>
                  <a:schemeClr val="dk1"/>
                </a:solidFill>
              </a:rPr>
            </a:br>
            <a:r>
              <a:rPr lang="en-US">
                <a:solidFill>
                  <a:schemeClr val="dk1"/>
                </a:solidFill>
              </a:rPr>
              <a:t>“What needs prompt medical assessment?”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Must land / safety:</a:t>
            </a:r>
            <a:r>
              <a:rPr lang="en-US">
                <a:solidFill>
                  <a:schemeClr val="dk1"/>
                </a:solidFill>
              </a:rPr>
              <a:t> </a:t>
            </a:r>
            <a:r>
              <a:rPr b="1" lang="en-US">
                <a:solidFill>
                  <a:schemeClr val="dk1"/>
                </a:solidFill>
              </a:rPr>
              <a:t>Opioid + benzodiazepine exposure raises overdose risk. Abrupt benzodiazepine or heavy-alcohol cessation can be life-threatening. Withdrawal management is not the same thing as ongoing OUD treatment.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Cross-reference the program's required Narcan training rather than turning this into Narcan Training II: Jack's Revenge.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Guardrail:</a:t>
            </a:r>
            <a:r>
              <a:rPr lang="en-US">
                <a:solidFill>
                  <a:schemeClr val="dk1"/>
                </a:solidFill>
              </a:rPr>
              <a:t> Don't call every pain request </a:t>
            </a:r>
            <a:r>
              <a:rPr b="1" lang="en-US">
                <a:solidFill>
                  <a:schemeClr val="dk1"/>
                </a:solidFill>
              </a:rPr>
              <a:t>“drug seeking.”</a:t>
            </a:r>
            <a:r>
              <a:rPr lang="en-US">
                <a:solidFill>
                  <a:schemeClr val="dk1"/>
                </a:solidFill>
              </a:rPr>
              <a:t> Legitimate pain, undertreatment, tolerance, physical dependence, misuse, withdrawal, and OUD can overlap. They require assessment rather than assumptions.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Stephanie note:</a:t>
            </a:r>
            <a:r>
              <a:rPr lang="en-US">
                <a:solidFill>
                  <a:schemeClr val="dk1"/>
                </a:solidFill>
              </a:rPr>
              <a:t> This is the case where the guide deliberately says: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“No cute line here. This is one of the places where nuance gets the whole stage.”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the humor exits before the safety teaching.</a:t>
            </a:r>
            <a:endParaRPr>
              <a:solidFill>
                <a:schemeClr val="dk1"/>
              </a:solidFill>
            </a:endParaRPr>
          </a:p>
          <a:p>
            <a:pPr indent="0" lvl="0" marL="0" rtl="0" algn="l">
              <a:lnSpc>
                <a:spcPct val="115000"/>
              </a:lnSpc>
              <a:spcBef>
                <a:spcPts val="1200"/>
              </a:spcBef>
              <a:spcAft>
                <a:spcPts val="1200"/>
              </a:spcAft>
              <a:buSzPts val="1100"/>
              <a:buNone/>
            </a:pPr>
            <a:r>
              <a:rPr b="1" lang="en-US">
                <a:solidFill>
                  <a:schemeClr val="dk1"/>
                </a:solidFill>
              </a:rPr>
              <a:t>Transition:</a:t>
            </a:r>
            <a:r>
              <a:rPr lang="en-US">
                <a:solidFill>
                  <a:schemeClr val="dk1"/>
                </a:solidFill>
              </a:rPr>
              <a:t> </a:t>
            </a:r>
            <a:r>
              <a:rPr b="1" lang="en-US">
                <a:solidFill>
                  <a:schemeClr val="dk1"/>
                </a:solidFill>
              </a:rPr>
              <a:t>“Now compare the cases without pretending they are clinically identical.”</a:t>
            </a:r>
            <a:endParaRPr/>
          </a:p>
        </p:txBody>
      </p:sp>
      <p:sp>
        <p:nvSpPr>
          <p:cNvPr id="451" name="Google Shape;451;p1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Purpose:</a:t>
            </a:r>
            <a:r>
              <a:rPr lang="en-US">
                <a:solidFill>
                  <a:schemeClr val="dk1"/>
                </a:solidFill>
              </a:rPr>
              <a:t> Pull the cases together without pretending Tim, Lana, Buck, Leslie, and Jack are clinically equivalent.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Facilitate:</a:t>
            </a:r>
            <a:r>
              <a:rPr lang="en-US">
                <a:solidFill>
                  <a:schemeClr val="dk1"/>
                </a:solidFill>
              </a:rPr>
              <a:t> Let the group build the list </a:t>
            </a:r>
            <a:r>
              <a:rPr b="1" lang="en-US">
                <a:solidFill>
                  <a:schemeClr val="dk1"/>
                </a:solidFill>
              </a:rPr>
              <a:t>before revealing yours</a:t>
            </a:r>
            <a:r>
              <a:rPr lang="en-US">
                <a:solidFill>
                  <a:schemeClr val="dk1"/>
                </a:solidFill>
              </a:rPr>
              <a:t>. Reveal only what they miss: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Rationalizing • Preoccupation • Secrecy • Loss of control • Neglected priorities • Continuing despite consequences • Recovery Drift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a:t>
            </a:r>
            <a:r>
              <a:rPr b="1" lang="en-US">
                <a:solidFill>
                  <a:schemeClr val="dk1"/>
                </a:solidFill>
              </a:rPr>
              <a:t>recovery drift</a:t>
            </a:r>
            <a:r>
              <a:rPr lang="en-US">
                <a:solidFill>
                  <a:schemeClr val="dk1"/>
                </a:solidFill>
              </a:rPr>
              <a:t> needs explanation: it's descriptive teaching language for movement away from recovery-supportive patterns—not a diagnosis.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Probes:</a:t>
            </a:r>
            <a:br>
              <a:rPr b="1" lang="en-US">
                <a:solidFill>
                  <a:schemeClr val="dk1"/>
                </a:solidFill>
              </a:rPr>
            </a:br>
            <a:r>
              <a:rPr lang="en-US">
                <a:solidFill>
                  <a:schemeClr val="dk1"/>
                </a:solidFill>
              </a:rPr>
              <a:t>“Which warning sign showed up earliest?”</a:t>
            </a:r>
            <a:br>
              <a:rPr lang="en-US">
                <a:solidFill>
                  <a:schemeClr val="dk1"/>
                </a:solidFill>
              </a:rPr>
            </a:br>
            <a:r>
              <a:rPr lang="en-US">
                <a:solidFill>
                  <a:schemeClr val="dk1"/>
                </a:solidFill>
              </a:rPr>
              <a:t>“Which ones showed up across the most cases?”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ask: </a:t>
            </a:r>
            <a:r>
              <a:rPr b="1" lang="en-US">
                <a:solidFill>
                  <a:schemeClr val="dk1"/>
                </a:solidFill>
              </a:rPr>
              <a:t>“The behavior changed. Did the pattern?”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Must land:</a:t>
            </a:r>
            <a:r>
              <a:rPr lang="en-US">
                <a:solidFill>
                  <a:schemeClr val="dk1"/>
                </a:solidFill>
              </a:rPr>
              <a:t> Shared warning signs can matter clinically </a:t>
            </a:r>
            <a:r>
              <a:rPr b="1" lang="en-US">
                <a:solidFill>
                  <a:schemeClr val="dk1"/>
                </a:solidFill>
              </a:rPr>
              <a:t>without making all five behaviors the same thing.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Guardrail:</a:t>
            </a:r>
            <a:r>
              <a:rPr lang="en-US">
                <a:solidFill>
                  <a:schemeClr val="dk1"/>
                </a:solidFill>
              </a:rPr>
              <a:t> Secrecy can reflect stigma or fear as well as disorder. Explore it; don't treat it as proof.</a:t>
            </a:r>
            <a:endParaRPr>
              <a:solidFill>
                <a:schemeClr val="dk1"/>
              </a:solidFill>
            </a:endParaRPr>
          </a:p>
          <a:p>
            <a:pPr indent="0" lvl="0" marL="0" rtl="0" algn="l">
              <a:lnSpc>
                <a:spcPct val="115000"/>
              </a:lnSpc>
              <a:spcBef>
                <a:spcPts val="1200"/>
              </a:spcBef>
              <a:spcAft>
                <a:spcPts val="1200"/>
              </a:spcAft>
              <a:buSzPts val="1100"/>
              <a:buNone/>
            </a:pPr>
            <a:r>
              <a:rPr b="1" lang="en-US">
                <a:solidFill>
                  <a:schemeClr val="dk1"/>
                </a:solidFill>
              </a:rPr>
              <a:t>Transition:</a:t>
            </a:r>
            <a:r>
              <a:rPr lang="en-US">
                <a:solidFill>
                  <a:schemeClr val="dk1"/>
                </a:solidFill>
              </a:rPr>
              <a:t> </a:t>
            </a:r>
            <a:r>
              <a:rPr b="1" lang="en-US">
                <a:solidFill>
                  <a:schemeClr val="dk1"/>
                </a:solidFill>
              </a:rPr>
              <a:t>“Turn the lens inward—but keep disclosure optional.”</a:t>
            </a:r>
            <a:endParaRPr/>
          </a:p>
        </p:txBody>
      </p:sp>
      <p:sp>
        <p:nvSpPr>
          <p:cNvPr id="460" name="Google Shape;460;p1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Purpose:</a:t>
            </a:r>
            <a:r>
              <a:rPr lang="en-US">
                <a:solidFill>
                  <a:schemeClr val="dk1"/>
                </a:solidFill>
              </a:rPr>
              <a:t> Move from analyzing everybody else's business to </a:t>
            </a:r>
            <a:r>
              <a:rPr b="1" lang="en-US">
                <a:solidFill>
                  <a:schemeClr val="dk1"/>
                </a:solidFill>
              </a:rPr>
              <a:t>private self-reflection</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Give them quiet time first. Explicitly tell them they </a:t>
            </a:r>
            <a:r>
              <a:rPr b="1" lang="en-US">
                <a:solidFill>
                  <a:schemeClr val="dk1"/>
                </a:solidFill>
              </a:rPr>
              <a:t>do not have to share their answer</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Use the Four Fs privately with the prompt: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“Is there anything I use to change how I feel?”</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you invite discussion, ask about a </a:t>
            </a:r>
            <a:r>
              <a:rPr b="1" lang="en-US">
                <a:solidFill>
                  <a:schemeClr val="dk1"/>
                </a:solidFill>
              </a:rPr>
              <a:t>pattern or need</a:t>
            </a:r>
            <a:r>
              <a:rPr lang="en-US">
                <a:solidFill>
                  <a:schemeClr val="dk1"/>
                </a:solidFill>
              </a:rPr>
              <a:t>, rather than requiring them to name the behavior.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Probes:</a:t>
            </a:r>
            <a:br>
              <a:rPr b="1" lang="en-US">
                <a:solidFill>
                  <a:schemeClr val="dk1"/>
                </a:solidFill>
              </a:rPr>
            </a:br>
            <a:r>
              <a:rPr lang="en-US">
                <a:solidFill>
                  <a:schemeClr val="dk1"/>
                </a:solidFill>
              </a:rPr>
              <a:t>“Which F gave you the most useful information?”</a:t>
            </a:r>
            <a:br>
              <a:rPr lang="en-US">
                <a:solidFill>
                  <a:schemeClr val="dk1"/>
                </a:solidFill>
              </a:rPr>
            </a:br>
            <a:r>
              <a:rPr lang="en-US">
                <a:solidFill>
                  <a:schemeClr val="dk1"/>
                </a:solidFill>
              </a:rPr>
              <a:t>“What would you want to notice earlier?”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Must land:</a:t>
            </a:r>
            <a:r>
              <a:rPr lang="en-US">
                <a:solidFill>
                  <a:schemeClr val="dk1"/>
                </a:solidFill>
              </a:rPr>
              <a:t> The goal is </a:t>
            </a:r>
            <a:r>
              <a:rPr b="1" lang="en-US">
                <a:solidFill>
                  <a:schemeClr val="dk1"/>
                </a:solidFill>
              </a:rPr>
              <a:t>awareness and earlier response—not self-diagnosis.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Guardrail:</a:t>
            </a:r>
            <a:r>
              <a:rPr lang="en-US">
                <a:solidFill>
                  <a:schemeClr val="dk1"/>
                </a:solidFill>
              </a:rPr>
              <a:t> Don't pressure disclosure. Offer private follow-up if the reflection raises a safety concern.</a:t>
            </a:r>
            <a:endParaRPr>
              <a:solidFill>
                <a:schemeClr val="dk1"/>
              </a:solidFill>
            </a:endParaRPr>
          </a:p>
          <a:p>
            <a:pPr indent="0" lvl="0" marL="0" rtl="0" algn="l">
              <a:lnSpc>
                <a:spcPct val="115000"/>
              </a:lnSpc>
              <a:spcBef>
                <a:spcPts val="1200"/>
              </a:spcBef>
              <a:spcAft>
                <a:spcPts val="1200"/>
              </a:spcAft>
              <a:buSzPts val="1100"/>
              <a:buNone/>
            </a:pPr>
            <a:r>
              <a:rPr b="1" lang="en-US">
                <a:solidFill>
                  <a:schemeClr val="dk1"/>
                </a:solidFill>
              </a:rPr>
              <a:t>Transition:</a:t>
            </a:r>
            <a:r>
              <a:rPr lang="en-US">
                <a:solidFill>
                  <a:schemeClr val="dk1"/>
                </a:solidFill>
              </a:rPr>
              <a:t> </a:t>
            </a:r>
            <a:r>
              <a:rPr b="1" lang="en-US">
                <a:solidFill>
                  <a:schemeClr val="dk1"/>
                </a:solidFill>
              </a:rPr>
              <a:t>“Awareness is useful only if we know what to do with it.”</a:t>
            </a:r>
            <a:endParaRPr/>
          </a:p>
        </p:txBody>
      </p:sp>
      <p:sp>
        <p:nvSpPr>
          <p:cNvPr id="474" name="Google Shape;474;p1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Purpose:</a:t>
            </a:r>
            <a:r>
              <a:rPr lang="en-US">
                <a:solidFill>
                  <a:schemeClr val="dk1"/>
                </a:solidFill>
              </a:rPr>
              <a:t> Turn insight into something usable.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Walk through: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NOTICE IT</a:t>
            </a:r>
            <a:r>
              <a:rPr lang="en-US">
                <a:solidFill>
                  <a:schemeClr val="dk1"/>
                </a:solidFill>
              </a:rPr>
              <a:t> — recognize the pattern earlier.</a:t>
            </a:r>
            <a:br>
              <a:rPr lang="en-US">
                <a:solidFill>
                  <a:schemeClr val="dk1"/>
                </a:solidFill>
              </a:rPr>
            </a:br>
            <a:r>
              <a:rPr b="1" lang="en-US">
                <a:solidFill>
                  <a:schemeClr val="dk1"/>
                </a:solidFill>
              </a:rPr>
              <a:t>NAME THE NEED</a:t>
            </a:r>
            <a:r>
              <a:rPr lang="en-US">
                <a:solidFill>
                  <a:schemeClr val="dk1"/>
                </a:solidFill>
              </a:rPr>
              <a:t> — what job is this doing?</a:t>
            </a:r>
            <a:br>
              <a:rPr lang="en-US">
                <a:solidFill>
                  <a:schemeClr val="dk1"/>
                </a:solidFill>
              </a:rPr>
            </a:br>
            <a:r>
              <a:rPr b="1" lang="en-US">
                <a:solidFill>
                  <a:schemeClr val="dk1"/>
                </a:solidFill>
              </a:rPr>
              <a:t>TALK ABOUT IT</a:t>
            </a:r>
            <a:r>
              <a:rPr lang="en-US">
                <a:solidFill>
                  <a:schemeClr val="dk1"/>
                </a:solidFill>
              </a:rPr>
              <a:t> — who can know before secrecy takes over?</a:t>
            </a:r>
            <a:br>
              <a:rPr lang="en-US">
                <a:solidFill>
                  <a:schemeClr val="dk1"/>
                </a:solidFill>
              </a:rPr>
            </a:br>
            <a:r>
              <a:rPr b="1" lang="en-US">
                <a:solidFill>
                  <a:schemeClr val="dk1"/>
                </a:solidFill>
              </a:rPr>
              <a:t>ADD OPTIONS</a:t>
            </a:r>
            <a:r>
              <a:rPr lang="en-US">
                <a:solidFill>
                  <a:schemeClr val="dk1"/>
                </a:solidFill>
              </a:rPr>
              <a:t> — what else could meet some of that need?</a:t>
            </a:r>
            <a:br>
              <a:rPr lang="en-US">
                <a:solidFill>
                  <a:schemeClr val="dk1"/>
                </a:solidFill>
              </a:rPr>
            </a:br>
            <a:r>
              <a:rPr b="1" lang="en-US">
                <a:solidFill>
                  <a:schemeClr val="dk1"/>
                </a:solidFill>
              </a:rPr>
              <a:t>USE SUPPORT</a:t>
            </a:r>
            <a:r>
              <a:rPr lang="en-US">
                <a:solidFill>
                  <a:schemeClr val="dk1"/>
                </a:solidFill>
              </a:rPr>
              <a:t> — don't make one strategy carry recovery by itself.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Connect these back to the Four Fs rather than introducing another framework.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Probes:</a:t>
            </a:r>
            <a:br>
              <a:rPr b="1" lang="en-US">
                <a:solidFill>
                  <a:schemeClr val="dk1"/>
                </a:solidFill>
              </a:rPr>
            </a:br>
            <a:r>
              <a:rPr lang="en-US">
                <a:solidFill>
                  <a:schemeClr val="dk1"/>
                </a:solidFill>
              </a:rPr>
              <a:t>“Who can know before secrecy takes over?”</a:t>
            </a:r>
            <a:br>
              <a:rPr lang="en-US">
                <a:solidFill>
                  <a:schemeClr val="dk1"/>
                </a:solidFill>
              </a:rPr>
            </a:br>
            <a:r>
              <a:rPr lang="en-US">
                <a:solidFill>
                  <a:schemeClr val="dk1"/>
                </a:solidFill>
              </a:rPr>
              <a:t>“What need tends to get assigned to one coping strategy over and over?”</a:t>
            </a:r>
            <a:br>
              <a:rPr lang="en-US">
                <a:solidFill>
                  <a:schemeClr val="dk1"/>
                </a:solidFill>
              </a:rPr>
            </a:br>
            <a:r>
              <a:rPr lang="en-US">
                <a:solidFill>
                  <a:schemeClr val="dk1"/>
                </a:solidFill>
              </a:rPr>
              <a:t>“What second or third option could do part of the job?”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Must land:</a:t>
            </a:r>
            <a:r>
              <a:rPr lang="en-US">
                <a:solidFill>
                  <a:schemeClr val="dk1"/>
                </a:solidFill>
              </a:rPr>
              <a:t> Self-monitoring, identifying needs, trusted support, broader coping options, and continuing care </a:t>
            </a:r>
            <a:r>
              <a:rPr b="1" lang="en-US">
                <a:solidFill>
                  <a:schemeClr val="dk1"/>
                </a:solidFill>
              </a:rPr>
              <a:t>can help and may reduce risk; they aren't guarantees.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Guardrail:</a:t>
            </a:r>
            <a:r>
              <a:rPr lang="en-US">
                <a:solidFill>
                  <a:schemeClr val="dk1"/>
                </a:solidFill>
              </a:rPr>
              <a:t> No implication that one fellowship, support model, or coping strategy fits everybody.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And the tenured professor remains employed: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“One coping skill doesn’t need seventeen jobs.”</a:t>
            </a:r>
            <a:endParaRPr b="1">
              <a:solidFill>
                <a:schemeClr val="dk1"/>
              </a:solidFill>
            </a:endParaRPr>
          </a:p>
          <a:p>
            <a:pPr indent="0" lvl="0" marL="0" rtl="0" algn="l">
              <a:lnSpc>
                <a:spcPct val="115000"/>
              </a:lnSpc>
              <a:spcBef>
                <a:spcPts val="1200"/>
              </a:spcBef>
              <a:spcAft>
                <a:spcPts val="1200"/>
              </a:spcAft>
              <a:buSzPts val="1100"/>
              <a:buNone/>
            </a:pPr>
            <a:r>
              <a:rPr b="1" lang="en-US">
                <a:solidFill>
                  <a:schemeClr val="dk1"/>
                </a:solidFill>
              </a:rPr>
              <a:t>Transition:</a:t>
            </a:r>
            <a:r>
              <a:rPr lang="en-US">
                <a:solidFill>
                  <a:schemeClr val="dk1"/>
                </a:solidFill>
              </a:rPr>
              <a:t> </a:t>
            </a:r>
            <a:r>
              <a:rPr b="1" lang="en-US">
                <a:solidFill>
                  <a:schemeClr val="dk1"/>
                </a:solidFill>
              </a:rPr>
              <a:t>“Give them a compact way to operationalize this.”</a:t>
            </a:r>
            <a:endParaRPr/>
          </a:p>
        </p:txBody>
      </p:sp>
      <p:sp>
        <p:nvSpPr>
          <p:cNvPr id="489" name="Google Shape;489;p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Purpose:</a:t>
            </a:r>
            <a:r>
              <a:rPr lang="en-US">
                <a:solidFill>
                  <a:schemeClr val="dk1"/>
                </a:solidFill>
              </a:rPr>
              <a:t> Turn the whole group into a small personal monitoring plan—not another assessment instrument. Frank remains barred from creating a scoring rubric.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WATCH</a:t>
            </a:r>
            <a:r>
              <a:rPr lang="en-US">
                <a:solidFill>
                  <a:schemeClr val="dk1"/>
                </a:solidFill>
              </a:rPr>
              <a:t> — one pattern I want to watch.</a:t>
            </a:r>
            <a:br>
              <a:rPr lang="en-US">
                <a:solidFill>
                  <a:schemeClr val="dk1"/>
                </a:solidFill>
              </a:rPr>
            </a:br>
            <a:r>
              <a:rPr b="1" lang="en-US">
                <a:solidFill>
                  <a:schemeClr val="dk1"/>
                </a:solidFill>
              </a:rPr>
              <a:t>NOTICE</a:t>
            </a:r>
            <a:r>
              <a:rPr lang="en-US">
                <a:solidFill>
                  <a:schemeClr val="dk1"/>
                </a:solidFill>
              </a:rPr>
              <a:t> — one early warning sign.</a:t>
            </a:r>
            <a:br>
              <a:rPr lang="en-US">
                <a:solidFill>
                  <a:schemeClr val="dk1"/>
                </a:solidFill>
              </a:rPr>
            </a:br>
            <a:r>
              <a:rPr b="1" lang="en-US">
                <a:solidFill>
                  <a:schemeClr val="dk1"/>
                </a:solidFill>
              </a:rPr>
              <a:t>NEED</a:t>
            </a:r>
            <a:r>
              <a:rPr lang="en-US">
                <a:solidFill>
                  <a:schemeClr val="dk1"/>
                </a:solidFill>
              </a:rPr>
              <a:t> — what need may be underneath it.</a:t>
            </a:r>
            <a:br>
              <a:rPr lang="en-US">
                <a:solidFill>
                  <a:schemeClr val="dk1"/>
                </a:solidFill>
              </a:rPr>
            </a:br>
            <a:r>
              <a:rPr b="1" lang="en-US">
                <a:solidFill>
                  <a:schemeClr val="dk1"/>
                </a:solidFill>
              </a:rPr>
              <a:t>TRY</a:t>
            </a:r>
            <a:r>
              <a:rPr lang="en-US">
                <a:solidFill>
                  <a:schemeClr val="dk1"/>
                </a:solidFill>
              </a:rPr>
              <a:t> — one alternative response.</a:t>
            </a:r>
            <a:br>
              <a:rPr lang="en-US">
                <a:solidFill>
                  <a:schemeClr val="dk1"/>
                </a:solidFill>
              </a:rPr>
            </a:br>
            <a:r>
              <a:rPr b="1" lang="en-US">
                <a:solidFill>
                  <a:schemeClr val="dk1"/>
                </a:solidFill>
              </a:rPr>
              <a:t>TALK</a:t>
            </a:r>
            <a:r>
              <a:rPr lang="en-US">
                <a:solidFill>
                  <a:schemeClr val="dk1"/>
                </a:solidFill>
              </a:rPr>
              <a:t> — one person/support I can involve.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Push for answers </a:t>
            </a:r>
            <a:r>
              <a:rPr b="1" lang="en-US">
                <a:solidFill>
                  <a:schemeClr val="dk1"/>
                </a:solidFill>
              </a:rPr>
              <a:t>small and concrete enough to actually use outside group</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Probes:</a:t>
            </a:r>
            <a:br>
              <a:rPr b="1" lang="en-US">
                <a:solidFill>
                  <a:schemeClr val="dk1"/>
                </a:solidFill>
              </a:rPr>
            </a:br>
            <a:r>
              <a:rPr lang="en-US">
                <a:solidFill>
                  <a:schemeClr val="dk1"/>
                </a:solidFill>
              </a:rPr>
              <a:t>“What would tell you early—not after the wheels are off—that something is changing?”</a:t>
            </a:r>
            <a:br>
              <a:rPr lang="en-US">
                <a:solidFill>
                  <a:schemeClr val="dk1"/>
                </a:solidFill>
              </a:rPr>
            </a:br>
            <a:r>
              <a:rPr lang="en-US">
                <a:solidFill>
                  <a:schemeClr val="dk1"/>
                </a:solidFill>
              </a:rPr>
              <a:t>“Who can you tell before you start hiding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Must land:</a:t>
            </a:r>
            <a:r>
              <a:rPr lang="en-US">
                <a:solidFill>
                  <a:schemeClr val="dk1"/>
                </a:solidFill>
              </a:rPr>
              <a:t> The dashboard supports </a:t>
            </a:r>
            <a:r>
              <a:rPr b="1" lang="en-US">
                <a:solidFill>
                  <a:schemeClr val="dk1"/>
                </a:solidFill>
              </a:rPr>
              <a:t>self-monitoring and earlier response</a:t>
            </a:r>
            <a:r>
              <a:rPr lang="en-US">
                <a:solidFill>
                  <a:schemeClr val="dk1"/>
                </a:solidFill>
              </a:rPr>
              <a:t>. It does not replace individualized assessment or safety planning.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Guardrail:</a:t>
            </a:r>
            <a:r>
              <a:rPr lang="en-US">
                <a:solidFill>
                  <a:schemeClr val="dk1"/>
                </a:solidFill>
              </a:rPr>
              <a:t> Don't bolt crisis/medical instructions onto this unless that's normal program handout practice.</a:t>
            </a:r>
            <a:endParaRPr>
              <a:solidFill>
                <a:schemeClr val="dk1"/>
              </a:solidFill>
            </a:endParaRPr>
          </a:p>
          <a:p>
            <a:pPr indent="0" lvl="0" marL="0" rtl="0" algn="l">
              <a:lnSpc>
                <a:spcPct val="115000"/>
              </a:lnSpc>
              <a:spcBef>
                <a:spcPts val="1200"/>
              </a:spcBef>
              <a:spcAft>
                <a:spcPts val="1200"/>
              </a:spcAft>
              <a:buSzPts val="1100"/>
              <a:buNone/>
            </a:pPr>
            <a:r>
              <a:rPr b="1" lang="en-US">
                <a:solidFill>
                  <a:schemeClr val="dk1"/>
                </a:solidFill>
              </a:rPr>
              <a:t>Transition:</a:t>
            </a:r>
            <a:r>
              <a:rPr lang="en-US">
                <a:solidFill>
                  <a:schemeClr val="dk1"/>
                </a:solidFill>
              </a:rPr>
              <a:t> </a:t>
            </a:r>
            <a:r>
              <a:rPr b="1" lang="en-US">
                <a:solidFill>
                  <a:schemeClr val="dk1"/>
                </a:solidFill>
              </a:rPr>
              <a:t>Return to the exact question that opened the group.</a:t>
            </a:r>
            <a:endParaRPr/>
          </a:p>
        </p:txBody>
      </p:sp>
      <p:sp>
        <p:nvSpPr>
          <p:cNvPr id="505" name="Google Shape;505;p1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Ask it again.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And wait.</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Let </a:t>
            </a:r>
            <a:r>
              <a:rPr i="1" lang="en-US">
                <a:solidFill>
                  <a:schemeClr val="dk1"/>
                </a:solidFill>
              </a:rPr>
              <a:t>them</a:t>
            </a:r>
            <a:r>
              <a:rPr lang="en-US">
                <a:solidFill>
                  <a:schemeClr val="dk1"/>
                </a:solidFill>
              </a:rPr>
              <a:t> answer it now using the language they've developed through the group. Don't recap the lesson for them before they've had the chance to demonstrate that they got there.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reveal slowly: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“Recovery isn’t only about what I stop.”</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“It’s also about what I build instead.”</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one final probe is useful: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“What do you want to build that makes the old solution less necessary?”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Must land:</a:t>
            </a:r>
            <a:r>
              <a:rPr lang="en-US">
                <a:solidFill>
                  <a:schemeClr val="dk1"/>
                </a:solidFill>
              </a:rPr>
              <a:t> Recovery includes what someone </a:t>
            </a:r>
            <a:r>
              <a:rPr b="1" lang="en-US">
                <a:solidFill>
                  <a:schemeClr val="dk1"/>
                </a:solidFill>
              </a:rPr>
              <a:t>builds, practices, and supports</a:t>
            </a:r>
            <a:r>
              <a:rPr lang="en-US">
                <a:solidFill>
                  <a:schemeClr val="dk1"/>
                </a:solidFill>
              </a:rPr>
              <a:t>, not only what gets removed.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Guardrail:</a:t>
            </a:r>
            <a:r>
              <a:rPr lang="en-US">
                <a:solidFill>
                  <a:schemeClr val="dk1"/>
                </a:solidFill>
              </a:rPr>
              <a:t> Recurrence isn't failure; it's information that support or treatment may need reassessment.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And then, per the facilitator guide's highly technical final instruction:</a:t>
            </a:r>
            <a:endParaRPr>
              <a:solidFill>
                <a:schemeClr val="dk1"/>
              </a:solidFill>
            </a:endParaRPr>
          </a:p>
          <a:p>
            <a:pPr indent="0" lvl="0" marL="0" rtl="0" algn="l">
              <a:lnSpc>
                <a:spcPct val="115000"/>
              </a:lnSpc>
              <a:spcBef>
                <a:spcPts val="1200"/>
              </a:spcBef>
              <a:spcAft>
                <a:spcPts val="1200"/>
              </a:spcAft>
              <a:buSzPts val="1100"/>
              <a:buNone/>
            </a:pPr>
            <a:r>
              <a:rPr b="1" lang="en-US">
                <a:solidFill>
                  <a:schemeClr val="dk1"/>
                </a:solidFill>
              </a:rPr>
              <a:t>Stop. The ending has already done its job.</a:t>
            </a:r>
            <a:endParaRPr/>
          </a:p>
        </p:txBody>
      </p:sp>
      <p:sp>
        <p:nvSpPr>
          <p:cNvPr id="521" name="Google Shape;521;p1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4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4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4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4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4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5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5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5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2"/>
          <p:cNvSpPr/>
          <p:nvPr>
            <p:ph idx="2" type="pic"/>
          </p:nvPr>
        </p:nvSpPr>
        <p:spPr>
          <a:xfrm>
            <a:off x="1792288" y="612775"/>
            <a:ext cx="5486400" cy="4114800"/>
          </a:xfrm>
          <a:prstGeom prst="rect">
            <a:avLst/>
          </a:prstGeom>
          <a:noFill/>
          <a:ln>
            <a:noFill/>
          </a:ln>
        </p:spPr>
      </p:sp>
      <p:sp>
        <p:nvSpPr>
          <p:cNvPr id="64" name="Google Shape;64;p15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5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83" name="Shape 83"/>
        <p:cNvGrpSpPr/>
        <p:nvPr/>
      </p:nvGrpSpPr>
      <p:grpSpPr>
        <a:xfrm>
          <a:off x="0" y="0"/>
          <a:ext cx="0" cy="0"/>
          <a:chOff x="0" y="0"/>
          <a:chExt cx="0" cy="0"/>
        </a:xfrm>
      </p:grpSpPr>
      <p:sp>
        <p:nvSpPr>
          <p:cNvPr id="84" name="Google Shape;84;p1"/>
          <p:cNvSpPr/>
          <p:nvPr/>
        </p:nvSpPr>
        <p:spPr>
          <a:xfrm>
            <a:off x="11494404" y="1390706"/>
            <a:ext cx="8719375" cy="9130235"/>
          </a:xfrm>
          <a:custGeom>
            <a:rect b="b" l="l" r="r" t="t"/>
            <a:pathLst>
              <a:path extrusionOk="0" h="9130235" w="8719375">
                <a:moveTo>
                  <a:pt x="0" y="0"/>
                </a:moveTo>
                <a:lnTo>
                  <a:pt x="8719375" y="0"/>
                </a:lnTo>
                <a:lnTo>
                  <a:pt x="8719375" y="9130235"/>
                </a:lnTo>
                <a:lnTo>
                  <a:pt x="0" y="9130235"/>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1"/>
          <p:cNvSpPr txBox="1"/>
          <p:nvPr/>
        </p:nvSpPr>
        <p:spPr>
          <a:xfrm>
            <a:off x="1028700" y="5076825"/>
            <a:ext cx="11346900" cy="5232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399"/>
              <a:buFont typeface="Arial"/>
              <a:buNone/>
            </a:pPr>
            <a:r>
              <a:rPr b="0" i="0" lang="en-US" sz="3399" u="none" cap="none" strike="noStrike">
                <a:solidFill>
                  <a:srgbClr val="3D4A55"/>
                </a:solidFill>
                <a:latin typeface="Arial"/>
                <a:ea typeface="Arial"/>
                <a:cs typeface="Arial"/>
                <a:sym typeface="Arial"/>
              </a:rPr>
              <a:t>When the substance changes, does the pattern change?</a:t>
            </a:r>
            <a:endParaRPr b="0" i="0" sz="1400" u="none" cap="none" strike="noStrike">
              <a:solidFill>
                <a:srgbClr val="000000"/>
              </a:solidFill>
              <a:latin typeface="Arial"/>
              <a:ea typeface="Arial"/>
              <a:cs typeface="Arial"/>
              <a:sym typeface="Arial"/>
            </a:endParaRPr>
          </a:p>
        </p:txBody>
      </p:sp>
      <p:sp>
        <p:nvSpPr>
          <p:cNvPr id="86" name="Google Shape;86;p1"/>
          <p:cNvSpPr txBox="1"/>
          <p:nvPr/>
        </p:nvSpPr>
        <p:spPr>
          <a:xfrm>
            <a:off x="1028700" y="3949700"/>
            <a:ext cx="8588100" cy="10773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CROSS-ADDICTION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90" name="Shape 90"/>
        <p:cNvGrpSpPr/>
        <p:nvPr/>
      </p:nvGrpSpPr>
      <p:grpSpPr>
        <a:xfrm>
          <a:off x="0" y="0"/>
          <a:ext cx="0" cy="0"/>
          <a:chOff x="0" y="0"/>
          <a:chExt cx="0" cy="0"/>
        </a:xfrm>
      </p:grpSpPr>
      <p:sp>
        <p:nvSpPr>
          <p:cNvPr id="91" name="Google Shape;91;p2"/>
          <p:cNvSpPr txBox="1"/>
          <p:nvPr/>
        </p:nvSpPr>
        <p:spPr>
          <a:xfrm>
            <a:off x="1028700" y="5067300"/>
            <a:ext cx="12258600" cy="61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725"/>
              <a:buFont typeface="Arial"/>
              <a:buNone/>
            </a:pPr>
            <a:r>
              <a:rPr b="0" i="0" lang="en-US" sz="4025" u="none" cap="none" strike="noStrike">
                <a:solidFill>
                  <a:srgbClr val="3D4A55"/>
                </a:solidFill>
                <a:latin typeface="Arial"/>
                <a:ea typeface="Arial"/>
                <a:cs typeface="Arial"/>
                <a:sym typeface="Arial"/>
              </a:rPr>
              <a:t>In your own words, what does cross-addiction mean?</a:t>
            </a:r>
            <a:endParaRPr b="0" i="0" sz="1700" u="none" cap="none" strike="noStrike">
              <a:solidFill>
                <a:srgbClr val="000000"/>
              </a:solidFill>
              <a:latin typeface="Arial"/>
              <a:ea typeface="Arial"/>
              <a:cs typeface="Arial"/>
              <a:sym typeface="Arial"/>
            </a:endParaRPr>
          </a:p>
        </p:txBody>
      </p:sp>
      <p:sp>
        <p:nvSpPr>
          <p:cNvPr id="92" name="Google Shape;92;p2"/>
          <p:cNvSpPr txBox="1"/>
          <p:nvPr/>
        </p:nvSpPr>
        <p:spPr>
          <a:xfrm>
            <a:off x="1028700" y="3990000"/>
            <a:ext cx="8469900" cy="10773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What do you think?</a:t>
            </a:r>
            <a:endParaRPr b="0" i="0" sz="1400" u="none" cap="none" strike="noStrike">
              <a:solidFill>
                <a:srgbClr val="000000"/>
              </a:solidFill>
              <a:latin typeface="Arial"/>
              <a:ea typeface="Arial"/>
              <a:cs typeface="Arial"/>
              <a:sym typeface="Arial"/>
            </a:endParaRPr>
          </a:p>
        </p:txBody>
      </p:sp>
      <p:sp>
        <p:nvSpPr>
          <p:cNvPr id="93" name="Google Shape;93;p2"/>
          <p:cNvSpPr/>
          <p:nvPr/>
        </p:nvSpPr>
        <p:spPr>
          <a:xfrm>
            <a:off x="12072896" y="4693182"/>
            <a:ext cx="8719375" cy="9130235"/>
          </a:xfrm>
          <a:custGeom>
            <a:rect b="b" l="l" r="r" t="t"/>
            <a:pathLst>
              <a:path extrusionOk="0" h="9130235" w="8719375">
                <a:moveTo>
                  <a:pt x="0" y="0"/>
                </a:moveTo>
                <a:lnTo>
                  <a:pt x="8719375" y="0"/>
                </a:lnTo>
                <a:lnTo>
                  <a:pt x="8719375"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97" name="Shape 97"/>
        <p:cNvGrpSpPr/>
        <p:nvPr/>
      </p:nvGrpSpPr>
      <p:grpSpPr>
        <a:xfrm>
          <a:off x="0" y="0"/>
          <a:ext cx="0" cy="0"/>
          <a:chOff x="0" y="0"/>
          <a:chExt cx="0" cy="0"/>
        </a:xfrm>
      </p:grpSpPr>
      <p:sp>
        <p:nvSpPr>
          <p:cNvPr id="98" name="Google Shape;98;p4"/>
          <p:cNvSpPr/>
          <p:nvPr/>
        </p:nvSpPr>
        <p:spPr>
          <a:xfrm>
            <a:off x="12072896" y="4693182"/>
            <a:ext cx="8719375" cy="9130235"/>
          </a:xfrm>
          <a:custGeom>
            <a:rect b="b" l="l" r="r" t="t"/>
            <a:pathLst>
              <a:path extrusionOk="0" h="9130235" w="8719375">
                <a:moveTo>
                  <a:pt x="0" y="0"/>
                </a:moveTo>
                <a:lnTo>
                  <a:pt x="8719375" y="0"/>
                </a:lnTo>
                <a:lnTo>
                  <a:pt x="8719375"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4"/>
          <p:cNvSpPr txBox="1"/>
          <p:nvPr/>
        </p:nvSpPr>
        <p:spPr>
          <a:xfrm>
            <a:off x="1190549" y="5076825"/>
            <a:ext cx="9088800" cy="569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702" u="none" cap="none" strike="noStrike">
                <a:solidFill>
                  <a:srgbClr val="725B87"/>
                </a:solidFill>
                <a:latin typeface="Arial"/>
                <a:ea typeface="Arial"/>
                <a:cs typeface="Arial"/>
                <a:sym typeface="Arial"/>
              </a:rPr>
              <a:t>Useful recovery concept ≠ formal diagnosis</a:t>
            </a:r>
            <a:endParaRPr b="0" i="0" sz="1400" u="none" cap="none" strike="noStrike">
              <a:solidFill>
                <a:srgbClr val="000000"/>
              </a:solidFill>
              <a:latin typeface="Arial"/>
              <a:ea typeface="Arial"/>
              <a:cs typeface="Arial"/>
              <a:sym typeface="Arial"/>
            </a:endParaRPr>
          </a:p>
        </p:txBody>
      </p:sp>
      <p:sp>
        <p:nvSpPr>
          <p:cNvPr id="100" name="Google Shape;100;p4"/>
          <p:cNvSpPr txBox="1"/>
          <p:nvPr/>
        </p:nvSpPr>
        <p:spPr>
          <a:xfrm>
            <a:off x="1028700" y="1473200"/>
            <a:ext cx="14331900" cy="2154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A shift from one problematic substance or behavior to another.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104" name="Shape 104"/>
        <p:cNvGrpSpPr/>
        <p:nvPr/>
      </p:nvGrpSpPr>
      <p:grpSpPr>
        <a:xfrm>
          <a:off x="0" y="0"/>
          <a:ext cx="0" cy="0"/>
          <a:chOff x="0" y="0"/>
          <a:chExt cx="0" cy="0"/>
        </a:xfrm>
      </p:grpSpPr>
      <p:sp>
        <p:nvSpPr>
          <p:cNvPr id="105" name="Google Shape;105;p8"/>
          <p:cNvSpPr/>
          <p:nvPr/>
        </p:nvSpPr>
        <p:spPr>
          <a:xfrm>
            <a:off x="12072896" y="4693182"/>
            <a:ext cx="8719375" cy="9130235"/>
          </a:xfrm>
          <a:custGeom>
            <a:rect b="b" l="l" r="r" t="t"/>
            <a:pathLst>
              <a:path extrusionOk="0" h="9130235" w="8719375">
                <a:moveTo>
                  <a:pt x="0" y="0"/>
                </a:moveTo>
                <a:lnTo>
                  <a:pt x="8719375" y="0"/>
                </a:lnTo>
                <a:lnTo>
                  <a:pt x="8719375"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 name="Google Shape;106;p8"/>
          <p:cNvSpPr txBox="1"/>
          <p:nvPr/>
        </p:nvSpPr>
        <p:spPr>
          <a:xfrm>
            <a:off x="1234525" y="3660100"/>
            <a:ext cx="5449500" cy="569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702" u="none" cap="none" strike="noStrike">
                <a:solidFill>
                  <a:srgbClr val="725B87"/>
                </a:solidFill>
                <a:latin typeface="Arial"/>
                <a:ea typeface="Arial"/>
                <a:cs typeface="Arial"/>
                <a:sym typeface="Arial"/>
              </a:rPr>
              <a:t>Substance </a:t>
            </a:r>
            <a:r>
              <a:rPr b="0" i="0" lang="en-US" sz="3702" u="none" cap="none" strike="noStrike">
                <a:solidFill>
                  <a:srgbClr val="69418B"/>
                </a:solidFill>
                <a:latin typeface="Arial"/>
                <a:ea typeface="Arial"/>
                <a:cs typeface="Arial"/>
                <a:sym typeface="Arial"/>
              </a:rPr>
              <a:t>→</a:t>
            </a:r>
            <a:r>
              <a:rPr b="0" i="0" lang="en-US" sz="3702" u="none" cap="none" strike="noStrike">
                <a:solidFill>
                  <a:srgbClr val="725B87"/>
                </a:solidFill>
                <a:latin typeface="Arial"/>
                <a:ea typeface="Arial"/>
                <a:cs typeface="Arial"/>
                <a:sym typeface="Arial"/>
              </a:rPr>
              <a:t> Substance</a:t>
            </a:r>
            <a:endParaRPr b="0" i="0" sz="1400" u="none" cap="none" strike="noStrike">
              <a:solidFill>
                <a:srgbClr val="000000"/>
              </a:solidFill>
              <a:latin typeface="Arial"/>
              <a:ea typeface="Arial"/>
              <a:cs typeface="Arial"/>
              <a:sym typeface="Arial"/>
            </a:endParaRPr>
          </a:p>
        </p:txBody>
      </p:sp>
      <p:sp>
        <p:nvSpPr>
          <p:cNvPr id="107" name="Google Shape;107;p8"/>
          <p:cNvSpPr txBox="1"/>
          <p:nvPr/>
        </p:nvSpPr>
        <p:spPr>
          <a:xfrm>
            <a:off x="1234525" y="1529550"/>
            <a:ext cx="87195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What can change?</a:t>
            </a:r>
            <a:endParaRPr b="0" i="0" sz="1400" u="none" cap="none" strike="noStrike">
              <a:solidFill>
                <a:srgbClr val="000000"/>
              </a:solidFill>
              <a:latin typeface="Arial"/>
              <a:ea typeface="Arial"/>
              <a:cs typeface="Arial"/>
              <a:sym typeface="Arial"/>
            </a:endParaRPr>
          </a:p>
        </p:txBody>
      </p:sp>
      <p:sp>
        <p:nvSpPr>
          <p:cNvPr id="108" name="Google Shape;108;p8"/>
          <p:cNvSpPr txBox="1"/>
          <p:nvPr/>
        </p:nvSpPr>
        <p:spPr>
          <a:xfrm>
            <a:off x="1234525" y="4525525"/>
            <a:ext cx="5449500" cy="569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702" u="none" cap="none" strike="noStrike">
                <a:solidFill>
                  <a:srgbClr val="725B87"/>
                </a:solidFill>
                <a:latin typeface="Arial"/>
                <a:ea typeface="Arial"/>
                <a:cs typeface="Arial"/>
                <a:sym typeface="Arial"/>
              </a:rPr>
              <a:t>Substance </a:t>
            </a:r>
            <a:r>
              <a:rPr b="0" i="0" lang="en-US" sz="3702" u="none" cap="none" strike="noStrike">
                <a:solidFill>
                  <a:srgbClr val="69418B"/>
                </a:solidFill>
                <a:latin typeface="Arial"/>
                <a:ea typeface="Arial"/>
                <a:cs typeface="Arial"/>
                <a:sym typeface="Arial"/>
              </a:rPr>
              <a:t>→</a:t>
            </a:r>
            <a:r>
              <a:rPr b="0" i="0" lang="en-US" sz="3702" u="none" cap="none" strike="noStrike">
                <a:solidFill>
                  <a:srgbClr val="725B87"/>
                </a:solidFill>
                <a:latin typeface="Arial"/>
                <a:ea typeface="Arial"/>
                <a:cs typeface="Arial"/>
                <a:sym typeface="Arial"/>
              </a:rPr>
              <a:t> Behavior</a:t>
            </a:r>
            <a:endParaRPr b="0" i="0" sz="1400" u="none" cap="none" strike="noStrike">
              <a:solidFill>
                <a:srgbClr val="000000"/>
              </a:solidFill>
              <a:latin typeface="Arial"/>
              <a:ea typeface="Arial"/>
              <a:cs typeface="Arial"/>
              <a:sym typeface="Arial"/>
            </a:endParaRPr>
          </a:p>
        </p:txBody>
      </p:sp>
      <p:sp>
        <p:nvSpPr>
          <p:cNvPr id="109" name="Google Shape;109;p8"/>
          <p:cNvSpPr txBox="1"/>
          <p:nvPr/>
        </p:nvSpPr>
        <p:spPr>
          <a:xfrm>
            <a:off x="1234525" y="5390950"/>
            <a:ext cx="5449500" cy="569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702" u="none" cap="none" strike="noStrike">
                <a:solidFill>
                  <a:srgbClr val="725B87"/>
                </a:solidFill>
                <a:latin typeface="Arial"/>
                <a:ea typeface="Arial"/>
                <a:cs typeface="Arial"/>
                <a:sym typeface="Arial"/>
              </a:rPr>
              <a:t>Behavior </a:t>
            </a:r>
            <a:r>
              <a:rPr b="0" i="0" lang="en-US" sz="3702" u="none" cap="none" strike="noStrike">
                <a:solidFill>
                  <a:srgbClr val="69418B"/>
                </a:solidFill>
                <a:latin typeface="Arial"/>
                <a:ea typeface="Arial"/>
                <a:cs typeface="Arial"/>
                <a:sym typeface="Arial"/>
              </a:rPr>
              <a:t>→</a:t>
            </a:r>
            <a:r>
              <a:rPr b="0" i="0" lang="en-US" sz="3702" u="none" cap="none" strike="noStrike">
                <a:solidFill>
                  <a:srgbClr val="725B87"/>
                </a:solidFill>
                <a:latin typeface="Arial"/>
                <a:ea typeface="Arial"/>
                <a:cs typeface="Arial"/>
                <a:sym typeface="Arial"/>
              </a:rPr>
              <a:t> Behavior</a:t>
            </a:r>
            <a:endParaRPr b="0" i="0" sz="1400" u="none" cap="none" strike="noStrike">
              <a:solidFill>
                <a:srgbClr val="000000"/>
              </a:solidFill>
              <a:latin typeface="Arial"/>
              <a:ea typeface="Arial"/>
              <a:cs typeface="Arial"/>
              <a:sym typeface="Arial"/>
            </a:endParaRPr>
          </a:p>
        </p:txBody>
      </p:sp>
      <p:sp>
        <p:nvSpPr>
          <p:cNvPr id="110" name="Google Shape;110;p8"/>
          <p:cNvSpPr txBox="1"/>
          <p:nvPr/>
        </p:nvSpPr>
        <p:spPr>
          <a:xfrm>
            <a:off x="1234525" y="7121800"/>
            <a:ext cx="117417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What might stay the same?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114" name="Shape 114"/>
        <p:cNvGrpSpPr/>
        <p:nvPr/>
      </p:nvGrpSpPr>
      <p:grpSpPr>
        <a:xfrm>
          <a:off x="0" y="0"/>
          <a:ext cx="0" cy="0"/>
          <a:chOff x="0" y="0"/>
          <a:chExt cx="0" cy="0"/>
        </a:xfrm>
      </p:grpSpPr>
      <p:sp>
        <p:nvSpPr>
          <p:cNvPr id="115" name="Google Shape;115;p10"/>
          <p:cNvSpPr/>
          <p:nvPr/>
        </p:nvSpPr>
        <p:spPr>
          <a:xfrm>
            <a:off x="12072896" y="4693182"/>
            <a:ext cx="8719375" cy="9130235"/>
          </a:xfrm>
          <a:custGeom>
            <a:rect b="b" l="l" r="r" t="t"/>
            <a:pathLst>
              <a:path extrusionOk="0" h="9130235" w="8719375">
                <a:moveTo>
                  <a:pt x="0" y="0"/>
                </a:moveTo>
                <a:lnTo>
                  <a:pt x="8719375" y="0"/>
                </a:lnTo>
                <a:lnTo>
                  <a:pt x="8719375"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 name="Google Shape;116;p10"/>
          <p:cNvSpPr txBox="1"/>
          <p:nvPr/>
        </p:nvSpPr>
        <p:spPr>
          <a:xfrm>
            <a:off x="1028700" y="1473200"/>
            <a:ext cx="15828300" cy="10776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7000" u="none" cap="none" strike="noStrike">
                <a:solidFill>
                  <a:srgbClr val="34373B"/>
                </a:solidFill>
                <a:latin typeface="Arial"/>
                <a:ea typeface="Arial"/>
                <a:cs typeface="Arial"/>
                <a:sym typeface="Arial"/>
              </a:rPr>
              <a:t>What did your substance do for you?</a:t>
            </a:r>
            <a:endParaRPr b="0" i="0" sz="7000" u="none" cap="none" strike="noStrike">
              <a:solidFill>
                <a:srgbClr val="000000"/>
              </a:solidFill>
              <a:latin typeface="Arial"/>
              <a:ea typeface="Arial"/>
              <a:cs typeface="Arial"/>
              <a:sym typeface="Arial"/>
            </a:endParaRPr>
          </a:p>
        </p:txBody>
      </p:sp>
      <p:sp>
        <p:nvSpPr>
          <p:cNvPr id="117" name="Google Shape;117;p10"/>
          <p:cNvSpPr txBox="1"/>
          <p:nvPr/>
        </p:nvSpPr>
        <p:spPr>
          <a:xfrm>
            <a:off x="1040800" y="3429000"/>
            <a:ext cx="22392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Escape</a:t>
            </a:r>
            <a:endParaRPr b="0" i="0" sz="1400" u="none" cap="none" strike="noStrike">
              <a:solidFill>
                <a:srgbClr val="000000"/>
              </a:solidFill>
              <a:latin typeface="Arial"/>
              <a:ea typeface="Arial"/>
              <a:cs typeface="Arial"/>
              <a:sym typeface="Arial"/>
            </a:endParaRPr>
          </a:p>
        </p:txBody>
      </p:sp>
      <p:sp>
        <p:nvSpPr>
          <p:cNvPr id="118" name="Google Shape;118;p10"/>
          <p:cNvSpPr txBox="1"/>
          <p:nvPr/>
        </p:nvSpPr>
        <p:spPr>
          <a:xfrm>
            <a:off x="4127525" y="3429000"/>
            <a:ext cx="20709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Energy</a:t>
            </a:r>
            <a:endParaRPr b="0" i="0" sz="1400" u="none" cap="none" strike="noStrike">
              <a:solidFill>
                <a:srgbClr val="000000"/>
              </a:solidFill>
              <a:latin typeface="Arial"/>
              <a:ea typeface="Arial"/>
              <a:cs typeface="Arial"/>
              <a:sym typeface="Arial"/>
            </a:endParaRPr>
          </a:p>
        </p:txBody>
      </p:sp>
      <p:sp>
        <p:nvSpPr>
          <p:cNvPr id="119" name="Google Shape;119;p10"/>
          <p:cNvSpPr txBox="1"/>
          <p:nvPr/>
        </p:nvSpPr>
        <p:spPr>
          <a:xfrm>
            <a:off x="7045949" y="3429000"/>
            <a:ext cx="34764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Confidence</a:t>
            </a:r>
            <a:endParaRPr b="0" i="0" sz="1400" u="none" cap="none" strike="noStrike">
              <a:solidFill>
                <a:srgbClr val="000000"/>
              </a:solidFill>
              <a:latin typeface="Arial"/>
              <a:ea typeface="Arial"/>
              <a:cs typeface="Arial"/>
              <a:sym typeface="Arial"/>
            </a:endParaRPr>
          </a:p>
        </p:txBody>
      </p:sp>
      <p:sp>
        <p:nvSpPr>
          <p:cNvPr id="120" name="Google Shape;120;p10"/>
          <p:cNvSpPr txBox="1"/>
          <p:nvPr/>
        </p:nvSpPr>
        <p:spPr>
          <a:xfrm>
            <a:off x="1028700" y="4516600"/>
            <a:ext cx="17154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Relief</a:t>
            </a:r>
            <a:endParaRPr b="0" i="0" sz="1400" u="none" cap="none" strike="noStrike">
              <a:solidFill>
                <a:srgbClr val="000000"/>
              </a:solidFill>
              <a:latin typeface="Arial"/>
              <a:ea typeface="Arial"/>
              <a:cs typeface="Arial"/>
              <a:sym typeface="Arial"/>
            </a:endParaRPr>
          </a:p>
        </p:txBody>
      </p:sp>
      <p:sp>
        <p:nvSpPr>
          <p:cNvPr id="121" name="Google Shape;121;p10"/>
          <p:cNvSpPr txBox="1"/>
          <p:nvPr/>
        </p:nvSpPr>
        <p:spPr>
          <a:xfrm>
            <a:off x="4127525" y="4516600"/>
            <a:ext cx="25773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Numbing</a:t>
            </a:r>
            <a:endParaRPr b="0" i="0" sz="1400" u="none" cap="none" strike="noStrike">
              <a:solidFill>
                <a:srgbClr val="000000"/>
              </a:solidFill>
              <a:latin typeface="Arial"/>
              <a:ea typeface="Arial"/>
              <a:cs typeface="Arial"/>
              <a:sym typeface="Arial"/>
            </a:endParaRPr>
          </a:p>
        </p:txBody>
      </p:sp>
      <p:sp>
        <p:nvSpPr>
          <p:cNvPr id="122" name="Google Shape;122;p10"/>
          <p:cNvSpPr txBox="1"/>
          <p:nvPr/>
        </p:nvSpPr>
        <p:spPr>
          <a:xfrm>
            <a:off x="7176612" y="4516596"/>
            <a:ext cx="32151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Connection</a:t>
            </a:r>
            <a:endParaRPr b="0" i="0" sz="1400" u="none" cap="none" strike="noStrike">
              <a:solidFill>
                <a:srgbClr val="000000"/>
              </a:solidFill>
              <a:latin typeface="Arial"/>
              <a:ea typeface="Arial"/>
              <a:cs typeface="Arial"/>
              <a:sym typeface="Arial"/>
            </a:endParaRPr>
          </a:p>
        </p:txBody>
      </p:sp>
      <p:sp>
        <p:nvSpPr>
          <p:cNvPr id="123" name="Google Shape;123;p10"/>
          <p:cNvSpPr txBox="1"/>
          <p:nvPr/>
        </p:nvSpPr>
        <p:spPr>
          <a:xfrm>
            <a:off x="7176600" y="5604200"/>
            <a:ext cx="32151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Excitement</a:t>
            </a:r>
            <a:endParaRPr b="0" i="0" sz="1400" u="none" cap="none" strike="noStrike">
              <a:solidFill>
                <a:srgbClr val="000000"/>
              </a:solidFill>
              <a:latin typeface="Arial"/>
              <a:ea typeface="Arial"/>
              <a:cs typeface="Arial"/>
              <a:sym typeface="Arial"/>
            </a:endParaRPr>
          </a:p>
        </p:txBody>
      </p:sp>
      <p:sp>
        <p:nvSpPr>
          <p:cNvPr id="124" name="Google Shape;124;p10"/>
          <p:cNvSpPr txBox="1"/>
          <p:nvPr/>
        </p:nvSpPr>
        <p:spPr>
          <a:xfrm>
            <a:off x="1040800" y="5604200"/>
            <a:ext cx="17154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Sleep</a:t>
            </a:r>
            <a:endParaRPr b="0" i="0" sz="1400" u="none" cap="none" strike="noStrike">
              <a:solidFill>
                <a:srgbClr val="000000"/>
              </a:solidFill>
              <a:latin typeface="Arial"/>
              <a:ea typeface="Arial"/>
              <a:cs typeface="Arial"/>
              <a:sym typeface="Arial"/>
            </a:endParaRPr>
          </a:p>
        </p:txBody>
      </p:sp>
      <p:sp>
        <p:nvSpPr>
          <p:cNvPr id="125" name="Google Shape;125;p10"/>
          <p:cNvSpPr txBox="1"/>
          <p:nvPr/>
        </p:nvSpPr>
        <p:spPr>
          <a:xfrm>
            <a:off x="4127525" y="5604200"/>
            <a:ext cx="22392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Reward</a:t>
            </a:r>
            <a:endParaRPr b="0" i="0" sz="1400" u="none" cap="none" strike="noStrike">
              <a:solidFill>
                <a:srgbClr val="000000"/>
              </a:solidFill>
              <a:latin typeface="Arial"/>
              <a:ea typeface="Arial"/>
              <a:cs typeface="Arial"/>
              <a:sym typeface="Arial"/>
            </a:endParaRPr>
          </a:p>
        </p:txBody>
      </p:sp>
      <p:sp>
        <p:nvSpPr>
          <p:cNvPr id="126" name="Google Shape;126;p10"/>
          <p:cNvSpPr txBox="1"/>
          <p:nvPr/>
        </p:nvSpPr>
        <p:spPr>
          <a:xfrm>
            <a:off x="2836625" y="6930200"/>
            <a:ext cx="5259900" cy="7695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Clr>
                <a:srgbClr val="000000"/>
              </a:buClr>
              <a:buSzPts val="4999"/>
              <a:buFont typeface="Arial"/>
              <a:buNone/>
            </a:pPr>
            <a:r>
              <a:rPr b="0" i="0" lang="en-US" sz="4999" u="none" cap="none" strike="noStrike">
                <a:solidFill>
                  <a:srgbClr val="34373B"/>
                </a:solidFill>
                <a:latin typeface="Arial"/>
                <a:ea typeface="Arial"/>
                <a:cs typeface="Arial"/>
                <a:sym typeface="Arial"/>
              </a:rPr>
              <a:t>Something else?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2"/>
        </a:solidFill>
      </p:bgPr>
    </p:bg>
    <p:spTree>
      <p:nvGrpSpPr>
        <p:cNvPr id="130" name="Shape 130"/>
        <p:cNvGrpSpPr/>
        <p:nvPr/>
      </p:nvGrpSpPr>
      <p:grpSpPr>
        <a:xfrm>
          <a:off x="0" y="0"/>
          <a:ext cx="0" cy="0"/>
          <a:chOff x="0" y="0"/>
          <a:chExt cx="0" cy="0"/>
        </a:xfrm>
      </p:grpSpPr>
      <p:sp>
        <p:nvSpPr>
          <p:cNvPr id="131" name="Google Shape;131;p13"/>
          <p:cNvSpPr/>
          <p:nvPr/>
        </p:nvSpPr>
        <p:spPr>
          <a:xfrm>
            <a:off x="13420710" y="-3536418"/>
            <a:ext cx="8719375" cy="9130235"/>
          </a:xfrm>
          <a:custGeom>
            <a:rect b="b" l="l" r="r" t="t"/>
            <a:pathLst>
              <a:path extrusionOk="0" h="9130235" w="8719375">
                <a:moveTo>
                  <a:pt x="0" y="0"/>
                </a:moveTo>
                <a:lnTo>
                  <a:pt x="8719375" y="0"/>
                </a:lnTo>
                <a:lnTo>
                  <a:pt x="8719375"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2" name="Google Shape;132;p13"/>
          <p:cNvSpPr txBox="1"/>
          <p:nvPr/>
        </p:nvSpPr>
        <p:spPr>
          <a:xfrm>
            <a:off x="1028700" y="1588252"/>
            <a:ext cx="13451100" cy="10776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7000" u="none" cap="none" strike="noStrike">
                <a:solidFill>
                  <a:srgbClr val="EDFFDC"/>
                </a:solidFill>
                <a:latin typeface="Arial"/>
                <a:ea typeface="Arial"/>
                <a:cs typeface="Arial"/>
                <a:sym typeface="Arial"/>
              </a:rPr>
              <a:t>The substance was a solution.</a:t>
            </a:r>
            <a:endParaRPr b="0" i="0" sz="7000" u="none" cap="none" strike="noStrike">
              <a:solidFill>
                <a:srgbClr val="000000"/>
              </a:solidFill>
              <a:latin typeface="Arial"/>
              <a:ea typeface="Arial"/>
              <a:cs typeface="Arial"/>
              <a:sym typeface="Arial"/>
            </a:endParaRPr>
          </a:p>
        </p:txBody>
      </p:sp>
      <p:sp>
        <p:nvSpPr>
          <p:cNvPr id="133" name="Google Shape;133;p13"/>
          <p:cNvSpPr txBox="1"/>
          <p:nvPr/>
        </p:nvSpPr>
        <p:spPr>
          <a:xfrm>
            <a:off x="1028700" y="3569625"/>
            <a:ext cx="11153400" cy="692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4500" u="none" cap="none" strike="noStrike">
                <a:solidFill>
                  <a:srgbClr val="EDFFDC"/>
                </a:solidFill>
                <a:latin typeface="Arial"/>
                <a:ea typeface="Arial"/>
                <a:cs typeface="Arial"/>
                <a:sym typeface="Arial"/>
              </a:rPr>
              <a:t>Until the solution became another problem.</a:t>
            </a:r>
            <a:endParaRPr b="0" i="0" sz="4500" u="none" cap="none" strike="noStrike">
              <a:solidFill>
                <a:srgbClr val="000000"/>
              </a:solidFill>
              <a:latin typeface="Arial"/>
              <a:ea typeface="Arial"/>
              <a:cs typeface="Arial"/>
              <a:sym typeface="Arial"/>
            </a:endParaRPr>
          </a:p>
        </p:txBody>
      </p:sp>
      <p:sp>
        <p:nvSpPr>
          <p:cNvPr id="134" name="Google Shape;134;p13"/>
          <p:cNvSpPr txBox="1"/>
          <p:nvPr/>
        </p:nvSpPr>
        <p:spPr>
          <a:xfrm>
            <a:off x="1028700" y="5166400"/>
            <a:ext cx="11712000" cy="203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499"/>
              <a:buFont typeface="Arial"/>
              <a:buNone/>
            </a:pPr>
            <a:r>
              <a:rPr b="1" i="0" lang="en-US" sz="5499" u="none" cap="none" strike="noStrike">
                <a:solidFill>
                  <a:srgbClr val="EDFFDC"/>
                </a:solidFill>
                <a:latin typeface="Arial"/>
                <a:ea typeface="Arial"/>
                <a:cs typeface="Arial"/>
                <a:sym typeface="Arial"/>
              </a:rPr>
              <a:t>The solution becomes the problem when it stops being a choice.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2"/>
        </a:solidFill>
      </p:bgPr>
    </p:bg>
    <p:spTree>
      <p:nvGrpSpPr>
        <p:cNvPr id="138" name="Shape 138"/>
        <p:cNvGrpSpPr/>
        <p:nvPr/>
      </p:nvGrpSpPr>
      <p:grpSpPr>
        <a:xfrm>
          <a:off x="0" y="0"/>
          <a:ext cx="0" cy="0"/>
          <a:chOff x="0" y="0"/>
          <a:chExt cx="0" cy="0"/>
        </a:xfrm>
      </p:grpSpPr>
      <p:sp>
        <p:nvSpPr>
          <p:cNvPr id="139" name="Google Shape;139;p20"/>
          <p:cNvSpPr txBox="1"/>
          <p:nvPr/>
        </p:nvSpPr>
        <p:spPr>
          <a:xfrm>
            <a:off x="1028700" y="1459675"/>
            <a:ext cx="13887900" cy="8775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399"/>
              <a:buFont typeface="Arial"/>
              <a:buNone/>
            </a:pPr>
            <a:r>
              <a:rPr b="1" i="0" lang="en-US" sz="5700" u="none" cap="none" strike="noStrike">
                <a:solidFill>
                  <a:srgbClr val="EDFFDC"/>
                </a:solidFill>
                <a:latin typeface="Arial"/>
                <a:ea typeface="Arial"/>
                <a:cs typeface="Arial"/>
                <a:sym typeface="Arial"/>
              </a:rPr>
              <a:t>How does a solution become a pattern?</a:t>
            </a:r>
            <a:endParaRPr b="0" i="0" sz="5700" u="none" cap="none" strike="noStrike">
              <a:solidFill>
                <a:srgbClr val="000000"/>
              </a:solidFill>
              <a:latin typeface="Arial"/>
              <a:ea typeface="Arial"/>
              <a:cs typeface="Arial"/>
              <a:sym typeface="Arial"/>
            </a:endParaRPr>
          </a:p>
        </p:txBody>
      </p:sp>
      <p:sp>
        <p:nvSpPr>
          <p:cNvPr id="140" name="Google Shape;140;p20"/>
          <p:cNvSpPr txBox="1"/>
          <p:nvPr/>
        </p:nvSpPr>
        <p:spPr>
          <a:xfrm>
            <a:off x="1028700" y="2581875"/>
            <a:ext cx="4832100" cy="692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4500" u="none" cap="none" strike="noStrike">
                <a:solidFill>
                  <a:srgbClr val="EDFFDC"/>
                </a:solidFill>
                <a:latin typeface="Arial"/>
                <a:ea typeface="Arial"/>
                <a:cs typeface="Arial"/>
                <a:sym typeface="Arial"/>
              </a:rPr>
              <a:t>Something works.</a:t>
            </a:r>
            <a:endParaRPr b="0" i="0" sz="4500" u="none" cap="none" strike="noStrike">
              <a:solidFill>
                <a:srgbClr val="000000"/>
              </a:solidFill>
              <a:latin typeface="Arial"/>
              <a:ea typeface="Arial"/>
              <a:cs typeface="Arial"/>
              <a:sym typeface="Arial"/>
            </a:endParaRPr>
          </a:p>
        </p:txBody>
      </p:sp>
      <p:sp>
        <p:nvSpPr>
          <p:cNvPr id="141" name="Google Shape;141;p20"/>
          <p:cNvSpPr txBox="1"/>
          <p:nvPr/>
        </p:nvSpPr>
        <p:spPr>
          <a:xfrm>
            <a:off x="1431300" y="3358050"/>
            <a:ext cx="6281400" cy="692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4500" u="none" cap="none" strike="noStrike">
                <a:solidFill>
                  <a:srgbClr val="EDFFDC"/>
                </a:solidFill>
                <a:latin typeface="Arial"/>
                <a:ea typeface="Arial"/>
                <a:cs typeface="Arial"/>
                <a:sym typeface="Arial"/>
              </a:rPr>
              <a:t>So I remember it.</a:t>
            </a:r>
            <a:endParaRPr b="0" i="0" sz="4500" u="none" cap="none" strike="noStrike">
              <a:solidFill>
                <a:srgbClr val="000000"/>
              </a:solidFill>
              <a:latin typeface="Arial"/>
              <a:ea typeface="Arial"/>
              <a:cs typeface="Arial"/>
              <a:sym typeface="Arial"/>
            </a:endParaRPr>
          </a:p>
        </p:txBody>
      </p:sp>
      <p:sp>
        <p:nvSpPr>
          <p:cNvPr id="142" name="Google Shape;142;p20"/>
          <p:cNvSpPr txBox="1"/>
          <p:nvPr/>
        </p:nvSpPr>
        <p:spPr>
          <a:xfrm>
            <a:off x="1869025" y="4050750"/>
            <a:ext cx="12279000" cy="692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4500" u="none" cap="none" strike="noStrike">
                <a:solidFill>
                  <a:srgbClr val="EDFFDC"/>
                </a:solidFill>
                <a:latin typeface="Arial"/>
                <a:ea typeface="Arial"/>
                <a:cs typeface="Arial"/>
                <a:sym typeface="Arial"/>
              </a:rPr>
              <a:t>I use it again when I want the same result.</a:t>
            </a:r>
            <a:endParaRPr b="0" i="0" sz="4500" u="none" cap="none" strike="noStrike">
              <a:solidFill>
                <a:srgbClr val="000000"/>
              </a:solidFill>
              <a:latin typeface="Arial"/>
              <a:ea typeface="Arial"/>
              <a:cs typeface="Arial"/>
              <a:sym typeface="Arial"/>
            </a:endParaRPr>
          </a:p>
        </p:txBody>
      </p:sp>
      <p:sp>
        <p:nvSpPr>
          <p:cNvPr id="143" name="Google Shape;143;p20"/>
          <p:cNvSpPr/>
          <p:nvPr/>
        </p:nvSpPr>
        <p:spPr>
          <a:xfrm>
            <a:off x="13420710" y="-3536418"/>
            <a:ext cx="8719375" cy="9130235"/>
          </a:xfrm>
          <a:custGeom>
            <a:rect b="b" l="l" r="r" t="t"/>
            <a:pathLst>
              <a:path extrusionOk="0" h="9130235" w="8719375">
                <a:moveTo>
                  <a:pt x="0" y="0"/>
                </a:moveTo>
                <a:lnTo>
                  <a:pt x="8719375" y="0"/>
                </a:lnTo>
                <a:lnTo>
                  <a:pt x="8719375"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20"/>
          <p:cNvSpPr txBox="1"/>
          <p:nvPr/>
        </p:nvSpPr>
        <p:spPr>
          <a:xfrm>
            <a:off x="2277078" y="4797150"/>
            <a:ext cx="5641800" cy="692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4500" u="none" cap="none" strike="noStrike">
                <a:solidFill>
                  <a:srgbClr val="EDFFDC"/>
                </a:solidFill>
                <a:latin typeface="Arial"/>
                <a:ea typeface="Arial"/>
                <a:cs typeface="Arial"/>
                <a:sym typeface="Arial"/>
              </a:rPr>
              <a:t>It works again.</a:t>
            </a:r>
            <a:endParaRPr b="0" i="0" sz="4500" u="none" cap="none" strike="noStrike">
              <a:solidFill>
                <a:srgbClr val="000000"/>
              </a:solidFill>
              <a:latin typeface="Arial"/>
              <a:ea typeface="Arial"/>
              <a:cs typeface="Arial"/>
              <a:sym typeface="Arial"/>
            </a:endParaRPr>
          </a:p>
        </p:txBody>
      </p:sp>
      <p:sp>
        <p:nvSpPr>
          <p:cNvPr id="145" name="Google Shape;145;p20"/>
          <p:cNvSpPr txBox="1"/>
          <p:nvPr/>
        </p:nvSpPr>
        <p:spPr>
          <a:xfrm>
            <a:off x="2777225" y="5543550"/>
            <a:ext cx="11521800" cy="6927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4500" u="none" cap="none" strike="noStrike">
                <a:solidFill>
                  <a:srgbClr val="EDFFDC"/>
                </a:solidFill>
                <a:latin typeface="Arial"/>
                <a:ea typeface="Arial"/>
                <a:cs typeface="Arial"/>
                <a:sym typeface="Arial"/>
              </a:rPr>
              <a:t>So it becomes easier to reach for next time.</a:t>
            </a:r>
            <a:endParaRPr b="0" i="0" sz="4500" u="none" cap="none" strike="noStrike">
              <a:solidFill>
                <a:srgbClr val="000000"/>
              </a:solidFill>
              <a:latin typeface="Arial"/>
              <a:ea typeface="Arial"/>
              <a:cs typeface="Arial"/>
              <a:sym typeface="Arial"/>
            </a:endParaRPr>
          </a:p>
        </p:txBody>
      </p:sp>
      <p:sp>
        <p:nvSpPr>
          <p:cNvPr id="146" name="Google Shape;146;p20"/>
          <p:cNvSpPr txBox="1"/>
          <p:nvPr/>
        </p:nvSpPr>
        <p:spPr>
          <a:xfrm>
            <a:off x="1028700" y="7036350"/>
            <a:ext cx="15958800" cy="169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399"/>
              <a:buFont typeface="Arial"/>
              <a:buNone/>
            </a:pPr>
            <a:r>
              <a:rPr b="1" i="0" lang="en-US" sz="5500" u="none" cap="none" strike="noStrike">
                <a:solidFill>
                  <a:srgbClr val="EDFFDC"/>
                </a:solidFill>
                <a:latin typeface="Arial"/>
                <a:ea typeface="Arial"/>
                <a:cs typeface="Arial"/>
                <a:sym typeface="Arial"/>
              </a:rPr>
              <a:t>At what point am I reaching automatically instead of choosing intentionally?</a:t>
            </a:r>
            <a:endParaRPr b="0" i="0" sz="55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150" name="Shape 150"/>
        <p:cNvGrpSpPr/>
        <p:nvPr/>
      </p:nvGrpSpPr>
      <p:grpSpPr>
        <a:xfrm>
          <a:off x="0" y="0"/>
          <a:ext cx="0" cy="0"/>
          <a:chOff x="0" y="0"/>
          <a:chExt cx="0" cy="0"/>
        </a:xfrm>
      </p:grpSpPr>
      <p:sp>
        <p:nvSpPr>
          <p:cNvPr id="151" name="Google Shape;151;p21"/>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21"/>
          <p:cNvSpPr txBox="1"/>
          <p:nvPr/>
        </p:nvSpPr>
        <p:spPr>
          <a:xfrm>
            <a:off x="1028700" y="3949700"/>
            <a:ext cx="10458600" cy="10773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“But it’s not my DOC.”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156" name="Shape 156"/>
        <p:cNvGrpSpPr/>
        <p:nvPr/>
      </p:nvGrpSpPr>
      <p:grpSpPr>
        <a:xfrm>
          <a:off x="0" y="0"/>
          <a:ext cx="0" cy="0"/>
          <a:chOff x="0" y="0"/>
          <a:chExt cx="0" cy="0"/>
        </a:xfrm>
      </p:grpSpPr>
      <p:sp>
        <p:nvSpPr>
          <p:cNvPr id="157" name="Google Shape;157;p23"/>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8" name="Google Shape;158;p23"/>
          <p:cNvSpPr txBox="1"/>
          <p:nvPr/>
        </p:nvSpPr>
        <p:spPr>
          <a:xfrm>
            <a:off x="1028700" y="895350"/>
            <a:ext cx="143844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What actually changes the risk?</a:t>
            </a:r>
            <a:endParaRPr b="0" i="0" sz="1400" u="none" cap="none" strike="noStrike">
              <a:solidFill>
                <a:srgbClr val="000000"/>
              </a:solidFill>
              <a:latin typeface="Arial"/>
              <a:ea typeface="Arial"/>
              <a:cs typeface="Arial"/>
              <a:sym typeface="Arial"/>
            </a:endParaRPr>
          </a:p>
        </p:txBody>
      </p:sp>
      <p:sp>
        <p:nvSpPr>
          <p:cNvPr id="159" name="Google Shape;159;p23"/>
          <p:cNvSpPr txBox="1"/>
          <p:nvPr/>
        </p:nvSpPr>
        <p:spPr>
          <a:xfrm>
            <a:off x="1142700" y="2833400"/>
            <a:ext cx="1796100" cy="5388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500" u="none" cap="none" strike="noStrike">
                <a:solidFill>
                  <a:srgbClr val="725B87"/>
                </a:solidFill>
                <a:latin typeface="Arial"/>
                <a:ea typeface="Arial"/>
                <a:cs typeface="Arial"/>
                <a:sym typeface="Arial"/>
              </a:rPr>
              <a:t>History</a:t>
            </a:r>
            <a:endParaRPr b="0" i="0" sz="3500" u="none" cap="none" strike="noStrike">
              <a:solidFill>
                <a:srgbClr val="000000"/>
              </a:solidFill>
              <a:latin typeface="Arial"/>
              <a:ea typeface="Arial"/>
              <a:cs typeface="Arial"/>
              <a:sym typeface="Arial"/>
            </a:endParaRPr>
          </a:p>
        </p:txBody>
      </p:sp>
      <p:sp>
        <p:nvSpPr>
          <p:cNvPr id="160" name="Google Shape;160;p23"/>
          <p:cNvSpPr txBox="1"/>
          <p:nvPr/>
        </p:nvSpPr>
        <p:spPr>
          <a:xfrm>
            <a:off x="1142700" y="3664900"/>
            <a:ext cx="2024100" cy="5388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500" u="none" cap="none" strike="noStrike">
                <a:solidFill>
                  <a:srgbClr val="725B87"/>
                </a:solidFill>
                <a:latin typeface="Arial"/>
                <a:ea typeface="Arial"/>
                <a:cs typeface="Arial"/>
                <a:sym typeface="Arial"/>
              </a:rPr>
              <a:t>Function</a:t>
            </a:r>
            <a:endParaRPr b="0" i="0" sz="3500" u="none" cap="none" strike="noStrike">
              <a:solidFill>
                <a:srgbClr val="000000"/>
              </a:solidFill>
              <a:latin typeface="Arial"/>
              <a:ea typeface="Arial"/>
              <a:cs typeface="Arial"/>
              <a:sym typeface="Arial"/>
            </a:endParaRPr>
          </a:p>
        </p:txBody>
      </p:sp>
      <p:sp>
        <p:nvSpPr>
          <p:cNvPr id="161" name="Google Shape;161;p23"/>
          <p:cNvSpPr txBox="1"/>
          <p:nvPr/>
        </p:nvSpPr>
        <p:spPr>
          <a:xfrm>
            <a:off x="1142700" y="4914233"/>
            <a:ext cx="3979200" cy="5388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500" u="none" cap="none" strike="noStrike">
                <a:solidFill>
                  <a:srgbClr val="725B87"/>
                </a:solidFill>
                <a:latin typeface="Arial"/>
                <a:ea typeface="Arial"/>
                <a:cs typeface="Arial"/>
                <a:sym typeface="Arial"/>
              </a:rPr>
              <a:t>Frequency/amount</a:t>
            </a:r>
            <a:endParaRPr b="0" i="0" sz="3500" u="none" cap="none" strike="noStrike">
              <a:solidFill>
                <a:srgbClr val="000000"/>
              </a:solidFill>
              <a:latin typeface="Arial"/>
              <a:ea typeface="Arial"/>
              <a:cs typeface="Arial"/>
              <a:sym typeface="Arial"/>
            </a:endParaRPr>
          </a:p>
        </p:txBody>
      </p:sp>
      <p:sp>
        <p:nvSpPr>
          <p:cNvPr id="162" name="Google Shape;162;p23"/>
          <p:cNvSpPr txBox="1"/>
          <p:nvPr/>
        </p:nvSpPr>
        <p:spPr>
          <a:xfrm>
            <a:off x="1142700" y="5748952"/>
            <a:ext cx="1614900" cy="5388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500" u="none" cap="none" strike="noStrike">
                <a:solidFill>
                  <a:srgbClr val="725B87"/>
                </a:solidFill>
                <a:latin typeface="Arial"/>
                <a:ea typeface="Arial"/>
                <a:cs typeface="Arial"/>
                <a:sym typeface="Arial"/>
              </a:rPr>
              <a:t>Control</a:t>
            </a:r>
            <a:endParaRPr b="0" i="0" sz="3500" u="none" cap="none" strike="noStrike">
              <a:solidFill>
                <a:srgbClr val="000000"/>
              </a:solidFill>
              <a:latin typeface="Arial"/>
              <a:ea typeface="Arial"/>
              <a:cs typeface="Arial"/>
              <a:sym typeface="Arial"/>
            </a:endParaRPr>
          </a:p>
        </p:txBody>
      </p:sp>
      <p:sp>
        <p:nvSpPr>
          <p:cNvPr id="163" name="Google Shape;163;p23"/>
          <p:cNvSpPr txBox="1"/>
          <p:nvPr/>
        </p:nvSpPr>
        <p:spPr>
          <a:xfrm>
            <a:off x="6873151" y="2833400"/>
            <a:ext cx="3400500" cy="5388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500" u="none" cap="none" strike="noStrike">
                <a:solidFill>
                  <a:srgbClr val="725B87"/>
                </a:solidFill>
                <a:latin typeface="Arial"/>
                <a:ea typeface="Arial"/>
                <a:cs typeface="Arial"/>
                <a:sym typeface="Arial"/>
              </a:rPr>
              <a:t>Consequences</a:t>
            </a:r>
            <a:endParaRPr b="0" i="0" sz="3500" u="none" cap="none" strike="noStrike">
              <a:solidFill>
                <a:srgbClr val="000000"/>
              </a:solidFill>
              <a:latin typeface="Arial"/>
              <a:ea typeface="Arial"/>
              <a:cs typeface="Arial"/>
              <a:sym typeface="Arial"/>
            </a:endParaRPr>
          </a:p>
        </p:txBody>
      </p:sp>
      <p:sp>
        <p:nvSpPr>
          <p:cNvPr id="164" name="Google Shape;164;p23"/>
          <p:cNvSpPr txBox="1"/>
          <p:nvPr/>
        </p:nvSpPr>
        <p:spPr>
          <a:xfrm>
            <a:off x="6873150" y="3664900"/>
            <a:ext cx="3979200" cy="5388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500" u="none" cap="none" strike="noStrike">
                <a:solidFill>
                  <a:srgbClr val="725B87"/>
                </a:solidFill>
                <a:latin typeface="Arial"/>
                <a:ea typeface="Arial"/>
                <a:cs typeface="Arial"/>
                <a:sym typeface="Arial"/>
              </a:rPr>
              <a:t>Recovery stability</a:t>
            </a:r>
            <a:endParaRPr b="0" i="0" sz="3500" u="none" cap="none" strike="noStrike">
              <a:solidFill>
                <a:srgbClr val="000000"/>
              </a:solidFill>
              <a:latin typeface="Arial"/>
              <a:ea typeface="Arial"/>
              <a:cs typeface="Arial"/>
              <a:sym typeface="Arial"/>
            </a:endParaRPr>
          </a:p>
        </p:txBody>
      </p:sp>
      <p:sp>
        <p:nvSpPr>
          <p:cNvPr id="165" name="Google Shape;165;p23"/>
          <p:cNvSpPr txBox="1"/>
          <p:nvPr/>
        </p:nvSpPr>
        <p:spPr>
          <a:xfrm>
            <a:off x="6822750" y="4914225"/>
            <a:ext cx="3501300" cy="5388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500" u="none" cap="none" strike="noStrike">
                <a:solidFill>
                  <a:srgbClr val="725B87"/>
                </a:solidFill>
                <a:latin typeface="Arial"/>
                <a:ea typeface="Arial"/>
                <a:cs typeface="Arial"/>
                <a:sym typeface="Arial"/>
              </a:rPr>
              <a:t>Medical context</a:t>
            </a:r>
            <a:endParaRPr b="0" i="0" sz="3500" u="none" cap="none" strike="noStrike">
              <a:solidFill>
                <a:srgbClr val="000000"/>
              </a:solidFill>
              <a:latin typeface="Arial"/>
              <a:ea typeface="Arial"/>
              <a:cs typeface="Arial"/>
              <a:sym typeface="Arial"/>
            </a:endParaRPr>
          </a:p>
        </p:txBody>
      </p:sp>
      <p:sp>
        <p:nvSpPr>
          <p:cNvPr id="166" name="Google Shape;166;p23"/>
          <p:cNvSpPr txBox="1"/>
          <p:nvPr/>
        </p:nvSpPr>
        <p:spPr>
          <a:xfrm>
            <a:off x="6822743" y="5748952"/>
            <a:ext cx="3501300" cy="538800"/>
          </a:xfrm>
          <a:prstGeom prst="rect">
            <a:avLst/>
          </a:prstGeom>
          <a:noFill/>
          <a:ln>
            <a:noFill/>
          </a:ln>
        </p:spPr>
        <p:txBody>
          <a:bodyPr anchorCtr="0" anchor="t" bIns="0" lIns="0" spcFirstLastPara="1" rIns="0" wrap="square" tIns="0">
            <a:spAutoFit/>
          </a:bodyPr>
          <a:lstStyle/>
          <a:p>
            <a:pPr indent="0" lvl="0" marL="0" marR="0" rtl="0" algn="l">
              <a:lnSpc>
                <a:spcPct val="140032"/>
              </a:lnSpc>
              <a:spcBef>
                <a:spcPts val="0"/>
              </a:spcBef>
              <a:spcAft>
                <a:spcPts val="0"/>
              </a:spcAft>
              <a:buClr>
                <a:srgbClr val="000000"/>
              </a:buClr>
              <a:buSzPts val="3702"/>
              <a:buFont typeface="Arial"/>
              <a:buNone/>
            </a:pPr>
            <a:r>
              <a:rPr b="0" i="0" lang="en-US" sz="3500" u="none" cap="none" strike="noStrike">
                <a:solidFill>
                  <a:srgbClr val="725B87"/>
                </a:solidFill>
                <a:latin typeface="Arial"/>
                <a:ea typeface="Arial"/>
                <a:cs typeface="Arial"/>
                <a:sym typeface="Arial"/>
              </a:rPr>
              <a:t>Honesty/secrecy</a:t>
            </a:r>
            <a:endParaRPr b="0" i="0" sz="3500" u="none" cap="none" strike="noStrike">
              <a:solidFill>
                <a:srgbClr val="000000"/>
              </a:solidFill>
              <a:latin typeface="Arial"/>
              <a:ea typeface="Arial"/>
              <a:cs typeface="Arial"/>
              <a:sym typeface="Arial"/>
            </a:endParaRPr>
          </a:p>
        </p:txBody>
      </p:sp>
      <p:sp>
        <p:nvSpPr>
          <p:cNvPr id="167" name="Google Shape;167;p23"/>
          <p:cNvSpPr txBox="1"/>
          <p:nvPr/>
        </p:nvSpPr>
        <p:spPr>
          <a:xfrm>
            <a:off x="1028700" y="7498247"/>
            <a:ext cx="13138500" cy="1600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199"/>
              <a:buFont typeface="Arial"/>
              <a:buNone/>
            </a:pPr>
            <a:r>
              <a:rPr b="1" i="0" lang="en-US" sz="5199" u="none" cap="none" strike="noStrike">
                <a:solidFill>
                  <a:srgbClr val="34373B"/>
                </a:solidFill>
                <a:latin typeface="Arial"/>
                <a:ea typeface="Arial"/>
                <a:cs typeface="Arial"/>
                <a:sym typeface="Arial"/>
              </a:rPr>
              <a:t>“Not my DOC” is one piece of information – not the whole assessment.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171" name="Shape 171"/>
        <p:cNvGrpSpPr/>
        <p:nvPr/>
      </p:nvGrpSpPr>
      <p:grpSpPr>
        <a:xfrm>
          <a:off x="0" y="0"/>
          <a:ext cx="0" cy="0"/>
          <a:chOff x="0" y="0"/>
          <a:chExt cx="0" cy="0"/>
        </a:xfrm>
      </p:grpSpPr>
      <p:sp>
        <p:nvSpPr>
          <p:cNvPr id="172" name="Google Shape;172;p26"/>
          <p:cNvSpPr/>
          <p:nvPr/>
        </p:nvSpPr>
        <p:spPr>
          <a:xfrm>
            <a:off x="-2368098" y="5701444"/>
            <a:ext cx="6793596" cy="7113713"/>
          </a:xfrm>
          <a:custGeom>
            <a:rect b="b" l="l" r="r" t="t"/>
            <a:pathLst>
              <a:path extrusionOk="0" h="7113713" w="6793596">
                <a:moveTo>
                  <a:pt x="0" y="0"/>
                </a:moveTo>
                <a:lnTo>
                  <a:pt x="6793596" y="0"/>
                </a:lnTo>
                <a:lnTo>
                  <a:pt x="6793596"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26"/>
          <p:cNvSpPr txBox="1"/>
          <p:nvPr/>
        </p:nvSpPr>
        <p:spPr>
          <a:xfrm>
            <a:off x="1312350" y="918400"/>
            <a:ext cx="12816000" cy="3078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999"/>
              <a:buFont typeface="Arial"/>
              <a:buNone/>
            </a:pPr>
            <a:r>
              <a:rPr b="1" i="0" lang="en-US" sz="9999" u="none" cap="none" strike="noStrike">
                <a:solidFill>
                  <a:srgbClr val="34373B"/>
                </a:solidFill>
                <a:latin typeface="Arial"/>
                <a:ea typeface="Arial"/>
                <a:cs typeface="Arial"/>
                <a:sym typeface="Arial"/>
              </a:rPr>
              <a:t>“What’s the deal with </a:t>
            </a:r>
            <a:endParaRPr b="1" i="0" sz="9999" u="none" cap="none" strike="noStrike">
              <a:solidFill>
                <a:srgbClr val="34373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999"/>
              <a:buFont typeface="Arial"/>
              <a:buNone/>
            </a:pPr>
            <a:r>
              <a:rPr b="1" i="0" lang="en-US" sz="9999" u="none" cap="none" strike="noStrike">
                <a:solidFill>
                  <a:srgbClr val="34373B"/>
                </a:solidFill>
                <a:latin typeface="Arial"/>
                <a:ea typeface="Arial"/>
                <a:cs typeface="Arial"/>
                <a:sym typeface="Arial"/>
              </a:rPr>
              <a:t>‘gateway’ drugs?”</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177" name="Shape 177"/>
        <p:cNvGrpSpPr/>
        <p:nvPr/>
      </p:nvGrpSpPr>
      <p:grpSpPr>
        <a:xfrm>
          <a:off x="0" y="0"/>
          <a:ext cx="0" cy="0"/>
          <a:chOff x="0" y="0"/>
          <a:chExt cx="0" cy="0"/>
        </a:xfrm>
      </p:grpSpPr>
      <p:sp>
        <p:nvSpPr>
          <p:cNvPr id="178" name="Google Shape;178;h6aea570e64c6fd69_0_5"/>
          <p:cNvSpPr/>
          <p:nvPr/>
        </p:nvSpPr>
        <p:spPr>
          <a:xfrm>
            <a:off x="-2368098" y="5701444"/>
            <a:ext cx="6793596" cy="7113713"/>
          </a:xfrm>
          <a:custGeom>
            <a:rect b="b" l="l" r="r" t="t"/>
            <a:pathLst>
              <a:path extrusionOk="0" h="7113713" w="6793596">
                <a:moveTo>
                  <a:pt x="0" y="0"/>
                </a:moveTo>
                <a:lnTo>
                  <a:pt x="6793596" y="0"/>
                </a:lnTo>
                <a:lnTo>
                  <a:pt x="6793596"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h6aea570e64c6fd69_0_5"/>
          <p:cNvSpPr txBox="1"/>
          <p:nvPr/>
        </p:nvSpPr>
        <p:spPr>
          <a:xfrm>
            <a:off x="637800" y="918400"/>
            <a:ext cx="170124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“What’s the deal with ‘gateway’ drugs?”</a:t>
            </a:r>
            <a:endParaRPr b="0" i="0" sz="1400" u="none" cap="none" strike="noStrike">
              <a:solidFill>
                <a:srgbClr val="000000"/>
              </a:solidFill>
              <a:latin typeface="Arial"/>
              <a:ea typeface="Arial"/>
              <a:cs typeface="Arial"/>
              <a:sym typeface="Arial"/>
            </a:endParaRPr>
          </a:p>
        </p:txBody>
      </p:sp>
      <p:sp>
        <p:nvSpPr>
          <p:cNvPr id="180" name="Google Shape;180;h6aea570e64c6fd69_0_5"/>
          <p:cNvSpPr txBox="1"/>
          <p:nvPr/>
        </p:nvSpPr>
        <p:spPr>
          <a:xfrm>
            <a:off x="6061500" y="2926950"/>
            <a:ext cx="6165000" cy="10041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Clr>
                <a:srgbClr val="000000"/>
              </a:buClr>
              <a:buSzPts val="6523"/>
              <a:buFont typeface="Arial"/>
              <a:buNone/>
            </a:pPr>
            <a:r>
              <a:rPr b="0" i="0" lang="en-US" sz="6523" u="none" cap="none" strike="noStrike">
                <a:solidFill>
                  <a:srgbClr val="34373B"/>
                </a:solidFill>
                <a:latin typeface="Arial"/>
                <a:ea typeface="Arial"/>
                <a:cs typeface="Arial"/>
                <a:sym typeface="Arial"/>
              </a:rPr>
              <a:t>“Soft” → “Hard”</a:t>
            </a:r>
            <a:endParaRPr b="0" i="0" sz="1400" u="none" cap="none" strike="noStrike">
              <a:solidFill>
                <a:srgbClr val="000000"/>
              </a:solidFill>
              <a:latin typeface="Arial"/>
              <a:ea typeface="Arial"/>
              <a:cs typeface="Arial"/>
              <a:sym typeface="Arial"/>
            </a:endParaRPr>
          </a:p>
        </p:txBody>
      </p:sp>
      <p:sp>
        <p:nvSpPr>
          <p:cNvPr id="181" name="Google Shape;181;h6aea570e64c6fd69_0_5"/>
          <p:cNvSpPr txBox="1"/>
          <p:nvPr/>
        </p:nvSpPr>
        <p:spPr>
          <a:xfrm>
            <a:off x="4158200" y="5905375"/>
            <a:ext cx="13646100" cy="13836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Clr>
                <a:srgbClr val="000000"/>
              </a:buClr>
              <a:buSzPts val="8989"/>
              <a:buFont typeface="Arial"/>
              <a:buNone/>
            </a:pPr>
            <a:r>
              <a:rPr b="1" i="0" lang="en-US" sz="8989" u="none" cap="none" strike="noStrike">
                <a:solidFill>
                  <a:srgbClr val="34373B"/>
                </a:solidFill>
                <a:latin typeface="Arial"/>
                <a:ea typeface="Arial"/>
                <a:cs typeface="Arial"/>
                <a:sym typeface="Arial"/>
              </a:rPr>
              <a:t>Does first mean caused?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185" name="Shape 185"/>
        <p:cNvGrpSpPr/>
        <p:nvPr/>
      </p:nvGrpSpPr>
      <p:grpSpPr>
        <a:xfrm>
          <a:off x="0" y="0"/>
          <a:ext cx="0" cy="0"/>
          <a:chOff x="0" y="0"/>
          <a:chExt cx="0" cy="0"/>
        </a:xfrm>
      </p:grpSpPr>
      <p:sp>
        <p:nvSpPr>
          <p:cNvPr id="186" name="Google Shape;186;p27"/>
          <p:cNvSpPr/>
          <p:nvPr/>
        </p:nvSpPr>
        <p:spPr>
          <a:xfrm>
            <a:off x="-2368098" y="5701444"/>
            <a:ext cx="6793596" cy="7113713"/>
          </a:xfrm>
          <a:custGeom>
            <a:rect b="b" l="l" r="r" t="t"/>
            <a:pathLst>
              <a:path extrusionOk="0" h="7113713" w="6793596">
                <a:moveTo>
                  <a:pt x="0" y="0"/>
                </a:moveTo>
                <a:lnTo>
                  <a:pt x="6793596" y="0"/>
                </a:lnTo>
                <a:lnTo>
                  <a:pt x="6793596"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27"/>
          <p:cNvSpPr txBox="1"/>
          <p:nvPr/>
        </p:nvSpPr>
        <p:spPr>
          <a:xfrm>
            <a:off x="1028700" y="895350"/>
            <a:ext cx="16230600" cy="1193802"/>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What else could explain the order?</a:t>
            </a:r>
            <a:endParaRPr b="0" i="0" sz="1400" u="none" cap="none" strike="noStrike">
              <a:solidFill>
                <a:srgbClr val="000000"/>
              </a:solidFill>
              <a:latin typeface="Arial"/>
              <a:ea typeface="Arial"/>
              <a:cs typeface="Arial"/>
              <a:sym typeface="Arial"/>
            </a:endParaRPr>
          </a:p>
        </p:txBody>
      </p:sp>
      <p:sp>
        <p:nvSpPr>
          <p:cNvPr id="188" name="Google Shape;188;p27"/>
          <p:cNvSpPr txBox="1"/>
          <p:nvPr/>
        </p:nvSpPr>
        <p:spPr>
          <a:xfrm>
            <a:off x="4097225" y="2779300"/>
            <a:ext cx="3002400" cy="10041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523"/>
              <a:buFont typeface="Arial"/>
              <a:buNone/>
            </a:pPr>
            <a:r>
              <a:rPr b="0" i="0" lang="en-US" sz="6523" u="none" cap="none" strike="noStrike">
                <a:solidFill>
                  <a:srgbClr val="69418B"/>
                </a:solidFill>
                <a:latin typeface="Arial"/>
                <a:ea typeface="Arial"/>
                <a:cs typeface="Arial"/>
                <a:sym typeface="Arial"/>
              </a:rPr>
              <a:t>Access</a:t>
            </a:r>
            <a:endParaRPr b="0" i="0" sz="1400" u="none" cap="none" strike="noStrike">
              <a:solidFill>
                <a:srgbClr val="000000"/>
              </a:solidFill>
              <a:latin typeface="Arial"/>
              <a:ea typeface="Arial"/>
              <a:cs typeface="Arial"/>
              <a:sym typeface="Arial"/>
            </a:endParaRPr>
          </a:p>
        </p:txBody>
      </p:sp>
      <p:sp>
        <p:nvSpPr>
          <p:cNvPr id="189" name="Google Shape;189;p27"/>
          <p:cNvSpPr txBox="1"/>
          <p:nvPr/>
        </p:nvSpPr>
        <p:spPr>
          <a:xfrm>
            <a:off x="11108975" y="2779300"/>
            <a:ext cx="3682500" cy="10041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523"/>
              <a:buFont typeface="Arial"/>
              <a:buNone/>
            </a:pPr>
            <a:r>
              <a:rPr b="0" i="0" lang="en-US" sz="6523" u="none" cap="none" strike="noStrike">
                <a:solidFill>
                  <a:srgbClr val="69418B"/>
                </a:solidFill>
                <a:latin typeface="Arial"/>
                <a:ea typeface="Arial"/>
                <a:cs typeface="Arial"/>
                <a:sym typeface="Arial"/>
              </a:rPr>
              <a:t>Exposure</a:t>
            </a:r>
            <a:endParaRPr b="0" i="0" sz="1400" u="none" cap="none" strike="noStrike">
              <a:solidFill>
                <a:srgbClr val="000000"/>
              </a:solidFill>
              <a:latin typeface="Arial"/>
              <a:ea typeface="Arial"/>
              <a:cs typeface="Arial"/>
              <a:sym typeface="Arial"/>
            </a:endParaRPr>
          </a:p>
        </p:txBody>
      </p:sp>
      <p:sp>
        <p:nvSpPr>
          <p:cNvPr id="190" name="Google Shape;190;p27"/>
          <p:cNvSpPr txBox="1"/>
          <p:nvPr/>
        </p:nvSpPr>
        <p:spPr>
          <a:xfrm>
            <a:off x="4097225" y="4834800"/>
            <a:ext cx="4872600" cy="10041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523"/>
              <a:buFont typeface="Arial"/>
              <a:buNone/>
            </a:pPr>
            <a:r>
              <a:rPr b="0" i="0" lang="en-US" sz="6523" u="none" cap="none" strike="noStrike">
                <a:solidFill>
                  <a:srgbClr val="69418B"/>
                </a:solidFill>
                <a:latin typeface="Arial"/>
                <a:ea typeface="Arial"/>
                <a:cs typeface="Arial"/>
                <a:sym typeface="Arial"/>
              </a:rPr>
              <a:t>Environment</a:t>
            </a:r>
            <a:endParaRPr b="0" i="0" sz="1400" u="none" cap="none" strike="noStrike">
              <a:solidFill>
                <a:srgbClr val="000000"/>
              </a:solidFill>
              <a:latin typeface="Arial"/>
              <a:ea typeface="Arial"/>
              <a:cs typeface="Arial"/>
              <a:sym typeface="Arial"/>
            </a:endParaRPr>
          </a:p>
        </p:txBody>
      </p:sp>
      <p:sp>
        <p:nvSpPr>
          <p:cNvPr id="191" name="Google Shape;191;p27"/>
          <p:cNvSpPr txBox="1"/>
          <p:nvPr/>
        </p:nvSpPr>
        <p:spPr>
          <a:xfrm>
            <a:off x="11108975" y="4834800"/>
            <a:ext cx="4872600" cy="10041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523"/>
              <a:buFont typeface="Arial"/>
              <a:buNone/>
            </a:pPr>
            <a:r>
              <a:rPr b="0" i="0" lang="en-US" sz="6523" u="none" cap="none" strike="noStrike">
                <a:solidFill>
                  <a:srgbClr val="69418B"/>
                </a:solidFill>
                <a:latin typeface="Arial"/>
                <a:ea typeface="Arial"/>
                <a:cs typeface="Arial"/>
                <a:sym typeface="Arial"/>
              </a:rPr>
              <a:t>Vulnerability</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195" name="Shape 195"/>
        <p:cNvGrpSpPr/>
        <p:nvPr/>
      </p:nvGrpSpPr>
      <p:grpSpPr>
        <a:xfrm>
          <a:off x="0" y="0"/>
          <a:ext cx="0" cy="0"/>
          <a:chOff x="0" y="0"/>
          <a:chExt cx="0" cy="0"/>
        </a:xfrm>
      </p:grpSpPr>
      <p:sp>
        <p:nvSpPr>
          <p:cNvPr id="196" name="Google Shape;196;p30"/>
          <p:cNvSpPr/>
          <p:nvPr/>
        </p:nvSpPr>
        <p:spPr>
          <a:xfrm>
            <a:off x="-2368098" y="5701444"/>
            <a:ext cx="6793596" cy="7113713"/>
          </a:xfrm>
          <a:custGeom>
            <a:rect b="b" l="l" r="r" t="t"/>
            <a:pathLst>
              <a:path extrusionOk="0" h="7113713" w="6793596">
                <a:moveTo>
                  <a:pt x="0" y="0"/>
                </a:moveTo>
                <a:lnTo>
                  <a:pt x="6793596" y="0"/>
                </a:lnTo>
                <a:lnTo>
                  <a:pt x="6793596"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 name="Google Shape;197;p30"/>
          <p:cNvSpPr txBox="1"/>
          <p:nvPr/>
        </p:nvSpPr>
        <p:spPr>
          <a:xfrm>
            <a:off x="5471700" y="903575"/>
            <a:ext cx="7344600" cy="1077300"/>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“Soft” vs. “Hard”</a:t>
            </a:r>
            <a:endParaRPr b="0" i="0" sz="1400" u="none" cap="none" strike="noStrike">
              <a:solidFill>
                <a:srgbClr val="000000"/>
              </a:solidFill>
              <a:latin typeface="Arial"/>
              <a:ea typeface="Arial"/>
              <a:cs typeface="Arial"/>
              <a:sym typeface="Arial"/>
            </a:endParaRPr>
          </a:p>
        </p:txBody>
      </p:sp>
      <p:sp>
        <p:nvSpPr>
          <p:cNvPr id="198" name="Google Shape;198;p30"/>
          <p:cNvSpPr txBox="1"/>
          <p:nvPr/>
        </p:nvSpPr>
        <p:spPr>
          <a:xfrm>
            <a:off x="2990400" y="2639875"/>
            <a:ext cx="12307200" cy="10041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Clr>
                <a:srgbClr val="000000"/>
              </a:buClr>
              <a:buSzPts val="6523"/>
              <a:buFont typeface="Arial"/>
              <a:buNone/>
            </a:pPr>
            <a:r>
              <a:rPr b="0" i="0" lang="en-US" sz="6523" u="none" cap="none" strike="noStrike">
                <a:solidFill>
                  <a:srgbClr val="34373B"/>
                </a:solidFill>
                <a:latin typeface="Arial"/>
                <a:ea typeface="Arial"/>
                <a:cs typeface="Arial"/>
                <a:sym typeface="Arial"/>
              </a:rPr>
              <a:t>What are we actually describing?</a:t>
            </a:r>
            <a:endParaRPr b="0" i="0" sz="1400" u="none" cap="none" strike="noStrike">
              <a:solidFill>
                <a:srgbClr val="000000"/>
              </a:solidFill>
              <a:latin typeface="Arial"/>
              <a:ea typeface="Arial"/>
              <a:cs typeface="Arial"/>
              <a:sym typeface="Arial"/>
            </a:endParaRPr>
          </a:p>
        </p:txBody>
      </p:sp>
      <p:sp>
        <p:nvSpPr>
          <p:cNvPr id="199" name="Google Shape;199;p30"/>
          <p:cNvSpPr txBox="1"/>
          <p:nvPr/>
        </p:nvSpPr>
        <p:spPr>
          <a:xfrm>
            <a:off x="1473175" y="4311188"/>
            <a:ext cx="33066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000"/>
              <a:buFont typeface="Arial"/>
              <a:buNone/>
            </a:pPr>
            <a:r>
              <a:rPr b="1" i="0" lang="en-US" sz="6000" u="none" cap="none" strike="noStrike">
                <a:solidFill>
                  <a:srgbClr val="69418B"/>
                </a:solidFill>
                <a:latin typeface="Arial"/>
                <a:ea typeface="Arial"/>
                <a:cs typeface="Arial"/>
                <a:sym typeface="Arial"/>
              </a:rPr>
              <a:t>Access?</a:t>
            </a:r>
            <a:endParaRPr b="0" i="0" sz="1400" u="none" cap="none" strike="noStrike">
              <a:solidFill>
                <a:srgbClr val="000000"/>
              </a:solidFill>
              <a:latin typeface="Arial"/>
              <a:ea typeface="Arial"/>
              <a:cs typeface="Arial"/>
              <a:sym typeface="Arial"/>
            </a:endParaRPr>
          </a:p>
        </p:txBody>
      </p:sp>
      <p:sp>
        <p:nvSpPr>
          <p:cNvPr id="200" name="Google Shape;200;p30"/>
          <p:cNvSpPr txBox="1"/>
          <p:nvPr/>
        </p:nvSpPr>
        <p:spPr>
          <a:xfrm>
            <a:off x="5276888" y="4311200"/>
            <a:ext cx="36609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000"/>
              <a:buFont typeface="Arial"/>
              <a:buNone/>
            </a:pPr>
            <a:r>
              <a:rPr b="1" i="0" lang="en-US" sz="6000" u="none" cap="none" strike="noStrike">
                <a:solidFill>
                  <a:srgbClr val="69418B"/>
                </a:solidFill>
                <a:latin typeface="Arial"/>
                <a:ea typeface="Arial"/>
                <a:cs typeface="Arial"/>
                <a:sym typeface="Arial"/>
              </a:rPr>
              <a:t>Legality?</a:t>
            </a:r>
            <a:endParaRPr b="0" i="0" sz="1400" u="none" cap="none" strike="noStrike">
              <a:solidFill>
                <a:srgbClr val="000000"/>
              </a:solidFill>
              <a:latin typeface="Arial"/>
              <a:ea typeface="Arial"/>
              <a:cs typeface="Arial"/>
              <a:sym typeface="Arial"/>
            </a:endParaRPr>
          </a:p>
        </p:txBody>
      </p:sp>
      <p:sp>
        <p:nvSpPr>
          <p:cNvPr id="201" name="Google Shape;201;p30"/>
          <p:cNvSpPr txBox="1"/>
          <p:nvPr/>
        </p:nvSpPr>
        <p:spPr>
          <a:xfrm>
            <a:off x="9434925" y="4302975"/>
            <a:ext cx="48234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000"/>
              <a:buFont typeface="Arial"/>
              <a:buNone/>
            </a:pPr>
            <a:r>
              <a:rPr b="1" i="0" lang="en-US" sz="6000" u="none" cap="none" strike="noStrike">
                <a:solidFill>
                  <a:srgbClr val="69418B"/>
                </a:solidFill>
                <a:latin typeface="Arial"/>
                <a:ea typeface="Arial"/>
                <a:cs typeface="Arial"/>
                <a:sym typeface="Arial"/>
              </a:rPr>
              <a:t>Acceptance?</a:t>
            </a:r>
            <a:endParaRPr b="0" i="0" sz="1400" u="none" cap="none" strike="noStrike">
              <a:solidFill>
                <a:srgbClr val="000000"/>
              </a:solidFill>
              <a:latin typeface="Arial"/>
              <a:ea typeface="Arial"/>
              <a:cs typeface="Arial"/>
              <a:sym typeface="Arial"/>
            </a:endParaRPr>
          </a:p>
        </p:txBody>
      </p:sp>
      <p:sp>
        <p:nvSpPr>
          <p:cNvPr id="202" name="Google Shape;202;p30"/>
          <p:cNvSpPr txBox="1"/>
          <p:nvPr/>
        </p:nvSpPr>
        <p:spPr>
          <a:xfrm>
            <a:off x="14755450" y="4302975"/>
            <a:ext cx="2244000" cy="923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000"/>
              <a:buFont typeface="Arial"/>
              <a:buNone/>
            </a:pPr>
            <a:r>
              <a:rPr b="1" i="0" lang="en-US" sz="6000" u="none" cap="none" strike="noStrike">
                <a:solidFill>
                  <a:srgbClr val="69418B"/>
                </a:solidFill>
                <a:latin typeface="Arial"/>
                <a:ea typeface="Arial"/>
                <a:cs typeface="Arial"/>
                <a:sym typeface="Arial"/>
              </a:rPr>
              <a:t>Risk?</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206" name="Shape 206"/>
        <p:cNvGrpSpPr/>
        <p:nvPr/>
      </p:nvGrpSpPr>
      <p:grpSpPr>
        <a:xfrm>
          <a:off x="0" y="0"/>
          <a:ext cx="0" cy="0"/>
          <a:chOff x="0" y="0"/>
          <a:chExt cx="0" cy="0"/>
        </a:xfrm>
      </p:grpSpPr>
      <p:sp>
        <p:nvSpPr>
          <p:cNvPr id="207" name="Google Shape;207;p31"/>
          <p:cNvSpPr/>
          <p:nvPr/>
        </p:nvSpPr>
        <p:spPr>
          <a:xfrm>
            <a:off x="-2368098" y="-2951423"/>
            <a:ext cx="6793596" cy="7113713"/>
          </a:xfrm>
          <a:custGeom>
            <a:rect b="b" l="l" r="r" t="t"/>
            <a:pathLst>
              <a:path extrusionOk="0" h="7113713" w="6793596">
                <a:moveTo>
                  <a:pt x="0" y="0"/>
                </a:moveTo>
                <a:lnTo>
                  <a:pt x="6793596" y="0"/>
                </a:lnTo>
                <a:lnTo>
                  <a:pt x="6793596"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31"/>
          <p:cNvSpPr txBox="1"/>
          <p:nvPr/>
        </p:nvSpPr>
        <p:spPr>
          <a:xfrm>
            <a:off x="1367250" y="3614100"/>
            <a:ext cx="15553500" cy="30588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8280"/>
              <a:buFont typeface="Arial"/>
              <a:buNone/>
            </a:pPr>
            <a:r>
              <a:rPr b="1" i="0" lang="en-US" sz="8280" u="none" cap="none" strike="noStrike">
                <a:solidFill>
                  <a:srgbClr val="34373B"/>
                </a:solidFill>
                <a:latin typeface="Arial"/>
                <a:ea typeface="Arial"/>
                <a:cs typeface="Arial"/>
                <a:sym typeface="Arial"/>
              </a:rPr>
              <a:t>“Aren’t you just replacing one drug with another?</a:t>
            </a:r>
            <a:r>
              <a:rPr b="1" lang="en-US" sz="8280">
                <a:solidFill>
                  <a:srgbClr val="34373B"/>
                </a:solidFil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212" name="Shape 212"/>
        <p:cNvGrpSpPr/>
        <p:nvPr/>
      </p:nvGrpSpPr>
      <p:grpSpPr>
        <a:xfrm>
          <a:off x="0" y="0"/>
          <a:ext cx="0" cy="0"/>
          <a:chOff x="0" y="0"/>
          <a:chExt cx="0" cy="0"/>
        </a:xfrm>
      </p:grpSpPr>
      <p:sp>
        <p:nvSpPr>
          <p:cNvPr id="213" name="Google Shape;213;p37"/>
          <p:cNvSpPr/>
          <p:nvPr/>
        </p:nvSpPr>
        <p:spPr>
          <a:xfrm>
            <a:off x="-2368098" y="-2737111"/>
            <a:ext cx="6793596" cy="7113713"/>
          </a:xfrm>
          <a:custGeom>
            <a:rect b="b" l="l" r="r" t="t"/>
            <a:pathLst>
              <a:path extrusionOk="0" h="7113713" w="6793596">
                <a:moveTo>
                  <a:pt x="0" y="0"/>
                </a:moveTo>
                <a:lnTo>
                  <a:pt x="6793596" y="0"/>
                </a:lnTo>
                <a:lnTo>
                  <a:pt x="6793596" y="7113713"/>
                </a:lnTo>
                <a:lnTo>
                  <a:pt x="0" y="7113713"/>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37"/>
          <p:cNvSpPr txBox="1"/>
          <p:nvPr/>
        </p:nvSpPr>
        <p:spPr>
          <a:xfrm>
            <a:off x="10309525" y="1097050"/>
            <a:ext cx="6607800" cy="12468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8101"/>
              <a:buFont typeface="Arial"/>
              <a:buNone/>
            </a:pPr>
            <a:r>
              <a:rPr b="1" i="0" lang="en-US" sz="8101" u="none" cap="none" strike="noStrike">
                <a:solidFill>
                  <a:srgbClr val="34373B"/>
                </a:solidFill>
                <a:latin typeface="Arial"/>
                <a:ea typeface="Arial"/>
                <a:cs typeface="Arial"/>
                <a:sym typeface="Arial"/>
              </a:rPr>
              <a:t>Same Thing?</a:t>
            </a:r>
            <a:endParaRPr b="0" i="0" sz="1400" u="none" cap="none" strike="noStrike">
              <a:solidFill>
                <a:srgbClr val="000000"/>
              </a:solidFill>
              <a:latin typeface="Arial"/>
              <a:ea typeface="Arial"/>
              <a:cs typeface="Arial"/>
              <a:sym typeface="Arial"/>
            </a:endParaRPr>
          </a:p>
        </p:txBody>
      </p:sp>
      <p:sp>
        <p:nvSpPr>
          <p:cNvPr id="215" name="Google Shape;215;p37"/>
          <p:cNvSpPr txBox="1"/>
          <p:nvPr/>
        </p:nvSpPr>
        <p:spPr>
          <a:xfrm>
            <a:off x="11824525" y="2683425"/>
            <a:ext cx="5092800" cy="1004100"/>
          </a:xfrm>
          <a:prstGeom prst="rect">
            <a:avLst/>
          </a:prstGeom>
          <a:noFill/>
          <a:ln>
            <a:noFill/>
          </a:ln>
        </p:spPr>
        <p:txBody>
          <a:bodyPr anchorCtr="0" anchor="t" bIns="0" lIns="0" spcFirstLastPara="1" rIns="0" wrap="square" tIns="0">
            <a:spAutoFit/>
          </a:bodyPr>
          <a:lstStyle/>
          <a:p>
            <a:pPr indent="0" lvl="0" marL="0" marR="0" rtl="0" algn="r">
              <a:lnSpc>
                <a:spcPct val="140012"/>
              </a:lnSpc>
              <a:spcBef>
                <a:spcPts val="0"/>
              </a:spcBef>
              <a:spcAft>
                <a:spcPts val="0"/>
              </a:spcAft>
              <a:buClr>
                <a:srgbClr val="000000"/>
              </a:buClr>
              <a:buSzPts val="6523"/>
              <a:buFont typeface="Arial"/>
              <a:buNone/>
            </a:pPr>
            <a:r>
              <a:rPr b="0" i="0" lang="en-US" sz="6523" u="none" cap="none" strike="noStrike">
                <a:solidFill>
                  <a:srgbClr val="725B87"/>
                </a:solidFill>
                <a:latin typeface="Arial"/>
                <a:ea typeface="Arial"/>
                <a:cs typeface="Arial"/>
                <a:sym typeface="Arial"/>
              </a:rPr>
              <a:t>WHAT</a:t>
            </a:r>
            <a:r>
              <a:rPr b="0" i="0" lang="en-US" sz="6523" u="none" cap="none" strike="noStrike">
                <a:solidFill>
                  <a:srgbClr val="34373B"/>
                </a:solidFill>
                <a:latin typeface="Arial"/>
                <a:ea typeface="Arial"/>
                <a:cs typeface="Arial"/>
                <a:sym typeface="Arial"/>
              </a:rPr>
              <a:t> is it?</a:t>
            </a:r>
            <a:endParaRPr b="0" i="0" sz="1400" u="none" cap="none" strike="noStrike">
              <a:solidFill>
                <a:srgbClr val="000000"/>
              </a:solidFill>
              <a:latin typeface="Arial"/>
              <a:ea typeface="Arial"/>
              <a:cs typeface="Arial"/>
              <a:sym typeface="Arial"/>
            </a:endParaRPr>
          </a:p>
        </p:txBody>
      </p:sp>
      <p:sp>
        <p:nvSpPr>
          <p:cNvPr id="216" name="Google Shape;216;p37"/>
          <p:cNvSpPr txBox="1"/>
          <p:nvPr/>
        </p:nvSpPr>
        <p:spPr>
          <a:xfrm>
            <a:off x="9205226" y="4027113"/>
            <a:ext cx="7712100" cy="1004100"/>
          </a:xfrm>
          <a:prstGeom prst="rect">
            <a:avLst/>
          </a:prstGeom>
          <a:noFill/>
          <a:ln>
            <a:noFill/>
          </a:ln>
        </p:spPr>
        <p:txBody>
          <a:bodyPr anchorCtr="0" anchor="t" bIns="0" lIns="0" spcFirstLastPara="1" rIns="0" wrap="square" tIns="0">
            <a:spAutoFit/>
          </a:bodyPr>
          <a:lstStyle/>
          <a:p>
            <a:pPr indent="0" lvl="0" marL="0" marR="0" rtl="0" algn="r">
              <a:lnSpc>
                <a:spcPct val="140012"/>
              </a:lnSpc>
              <a:spcBef>
                <a:spcPts val="0"/>
              </a:spcBef>
              <a:spcAft>
                <a:spcPts val="0"/>
              </a:spcAft>
              <a:buClr>
                <a:srgbClr val="000000"/>
              </a:buClr>
              <a:buSzPts val="6523"/>
              <a:buFont typeface="Arial"/>
              <a:buNone/>
            </a:pPr>
            <a:r>
              <a:rPr b="0" i="0" lang="en-US" sz="6523" u="none" cap="none" strike="noStrike">
                <a:solidFill>
                  <a:srgbClr val="725B87"/>
                </a:solidFill>
                <a:latin typeface="Arial"/>
                <a:ea typeface="Arial"/>
                <a:cs typeface="Arial"/>
                <a:sym typeface="Arial"/>
              </a:rPr>
              <a:t>WHY </a:t>
            </a:r>
            <a:r>
              <a:rPr b="0" i="0" lang="en-US" sz="6523" u="none" cap="none" strike="noStrike">
                <a:solidFill>
                  <a:srgbClr val="34373B"/>
                </a:solidFill>
                <a:latin typeface="Arial"/>
                <a:ea typeface="Arial"/>
                <a:cs typeface="Arial"/>
                <a:sym typeface="Arial"/>
              </a:rPr>
              <a:t>am I using it?</a:t>
            </a:r>
            <a:endParaRPr b="0" i="0" sz="1400" u="none" cap="none" strike="noStrike">
              <a:solidFill>
                <a:srgbClr val="000000"/>
              </a:solidFill>
              <a:latin typeface="Arial"/>
              <a:ea typeface="Arial"/>
              <a:cs typeface="Arial"/>
              <a:sym typeface="Arial"/>
            </a:endParaRPr>
          </a:p>
        </p:txBody>
      </p:sp>
      <p:sp>
        <p:nvSpPr>
          <p:cNvPr id="217" name="Google Shape;217;p37"/>
          <p:cNvSpPr txBox="1"/>
          <p:nvPr/>
        </p:nvSpPr>
        <p:spPr>
          <a:xfrm>
            <a:off x="9389025" y="5370800"/>
            <a:ext cx="7528200" cy="1004100"/>
          </a:xfrm>
          <a:prstGeom prst="rect">
            <a:avLst/>
          </a:prstGeom>
          <a:noFill/>
          <a:ln>
            <a:noFill/>
          </a:ln>
        </p:spPr>
        <p:txBody>
          <a:bodyPr anchorCtr="0" anchor="t" bIns="0" lIns="0" spcFirstLastPara="1" rIns="0" wrap="square" tIns="0">
            <a:spAutoFit/>
          </a:bodyPr>
          <a:lstStyle/>
          <a:p>
            <a:pPr indent="0" lvl="0" marL="0" marR="0" rtl="0" algn="r">
              <a:lnSpc>
                <a:spcPct val="140012"/>
              </a:lnSpc>
              <a:spcBef>
                <a:spcPts val="0"/>
              </a:spcBef>
              <a:spcAft>
                <a:spcPts val="0"/>
              </a:spcAft>
              <a:buClr>
                <a:srgbClr val="000000"/>
              </a:buClr>
              <a:buSzPts val="6523"/>
              <a:buFont typeface="Arial"/>
              <a:buNone/>
            </a:pPr>
            <a:r>
              <a:rPr b="0" i="0" lang="en-US" sz="6523" u="none" cap="none" strike="noStrike">
                <a:solidFill>
                  <a:srgbClr val="725B87"/>
                </a:solidFill>
                <a:latin typeface="Arial"/>
                <a:ea typeface="Arial"/>
                <a:cs typeface="Arial"/>
                <a:sym typeface="Arial"/>
              </a:rPr>
              <a:t>HOW</a:t>
            </a:r>
            <a:r>
              <a:rPr b="0" i="0" lang="en-US" sz="6523" u="none" cap="none" strike="noStrike">
                <a:solidFill>
                  <a:srgbClr val="34373B"/>
                </a:solidFill>
                <a:latin typeface="Arial"/>
                <a:ea typeface="Arial"/>
                <a:cs typeface="Arial"/>
                <a:sym typeface="Arial"/>
              </a:rPr>
              <a:t> am I using it?</a:t>
            </a:r>
            <a:endParaRPr b="0" i="0" sz="1400" u="none" cap="none" strike="noStrike">
              <a:solidFill>
                <a:srgbClr val="000000"/>
              </a:solidFill>
              <a:latin typeface="Arial"/>
              <a:ea typeface="Arial"/>
              <a:cs typeface="Arial"/>
              <a:sym typeface="Arial"/>
            </a:endParaRPr>
          </a:p>
        </p:txBody>
      </p:sp>
      <p:sp>
        <p:nvSpPr>
          <p:cNvPr id="218" name="Google Shape;218;p37"/>
          <p:cNvSpPr txBox="1"/>
          <p:nvPr/>
        </p:nvSpPr>
        <p:spPr>
          <a:xfrm>
            <a:off x="3810325" y="6714463"/>
            <a:ext cx="13107000" cy="1004100"/>
          </a:xfrm>
          <a:prstGeom prst="rect">
            <a:avLst/>
          </a:prstGeom>
          <a:noFill/>
          <a:ln>
            <a:noFill/>
          </a:ln>
        </p:spPr>
        <p:txBody>
          <a:bodyPr anchorCtr="0" anchor="t" bIns="0" lIns="0" spcFirstLastPara="1" rIns="0" wrap="square" tIns="0">
            <a:spAutoFit/>
          </a:bodyPr>
          <a:lstStyle/>
          <a:p>
            <a:pPr indent="0" lvl="0" marL="0" marR="0" rtl="0" algn="r">
              <a:lnSpc>
                <a:spcPct val="140012"/>
              </a:lnSpc>
              <a:spcBef>
                <a:spcPts val="0"/>
              </a:spcBef>
              <a:spcAft>
                <a:spcPts val="0"/>
              </a:spcAft>
              <a:buClr>
                <a:srgbClr val="000000"/>
              </a:buClr>
              <a:buSzPts val="6523"/>
              <a:buFont typeface="Arial"/>
              <a:buNone/>
            </a:pPr>
            <a:r>
              <a:rPr b="0" i="0" lang="en-US" sz="6523" u="none" cap="none" strike="noStrike">
                <a:solidFill>
                  <a:srgbClr val="725B87"/>
                </a:solidFill>
                <a:latin typeface="Arial"/>
                <a:ea typeface="Arial"/>
                <a:cs typeface="Arial"/>
                <a:sym typeface="Arial"/>
              </a:rPr>
              <a:t>WHAT</a:t>
            </a:r>
            <a:r>
              <a:rPr b="0" i="0" lang="en-US" sz="6523" u="none" cap="none" strike="noStrike">
                <a:solidFill>
                  <a:srgbClr val="34373B"/>
                </a:solidFill>
                <a:latin typeface="Arial"/>
                <a:ea typeface="Arial"/>
                <a:cs typeface="Arial"/>
                <a:sym typeface="Arial"/>
              </a:rPr>
              <a:t> is happening because of it?</a:t>
            </a:r>
            <a:endParaRPr b="0" i="0" sz="1400" u="none" cap="none" strike="noStrike">
              <a:solidFill>
                <a:srgbClr val="000000"/>
              </a:solidFill>
              <a:latin typeface="Arial"/>
              <a:ea typeface="Arial"/>
              <a:cs typeface="Arial"/>
              <a:sym typeface="Arial"/>
            </a:endParaRPr>
          </a:p>
        </p:txBody>
      </p:sp>
      <p:sp>
        <p:nvSpPr>
          <p:cNvPr id="219" name="Google Shape;219;p37"/>
          <p:cNvSpPr txBox="1"/>
          <p:nvPr/>
        </p:nvSpPr>
        <p:spPr>
          <a:xfrm>
            <a:off x="600300" y="8271725"/>
            <a:ext cx="17087400" cy="1016100"/>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Clr>
                <a:srgbClr val="000000"/>
              </a:buClr>
              <a:buSzPts val="6601"/>
              <a:buFont typeface="Arial"/>
              <a:buNone/>
            </a:pPr>
            <a:r>
              <a:rPr b="1" i="0" lang="en-US" sz="6601" u="none" cap="none" strike="noStrike">
                <a:solidFill>
                  <a:srgbClr val="34373B"/>
                </a:solidFill>
                <a:latin typeface="Arial"/>
                <a:ea typeface="Arial"/>
                <a:cs typeface="Arial"/>
                <a:sym typeface="Arial"/>
              </a:rPr>
              <a:t>The label doesn’t tell us the whole pattern.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223" name="Shape 223"/>
        <p:cNvGrpSpPr/>
        <p:nvPr/>
      </p:nvGrpSpPr>
      <p:grpSpPr>
        <a:xfrm>
          <a:off x="0" y="0"/>
          <a:ext cx="0" cy="0"/>
          <a:chOff x="0" y="0"/>
          <a:chExt cx="0" cy="0"/>
        </a:xfrm>
      </p:grpSpPr>
      <p:sp>
        <p:nvSpPr>
          <p:cNvPr id="224" name="Google Shape;224;p39"/>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39"/>
          <p:cNvSpPr txBox="1"/>
          <p:nvPr/>
        </p:nvSpPr>
        <p:spPr>
          <a:xfrm>
            <a:off x="1249500" y="2625900"/>
            <a:ext cx="157890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Can you get “addicted” to anything?</a:t>
            </a:r>
            <a:endParaRPr b="0" i="0" sz="1400" u="none" cap="none" strike="noStrike">
              <a:solidFill>
                <a:srgbClr val="000000"/>
              </a:solidFill>
              <a:latin typeface="Arial"/>
              <a:ea typeface="Arial"/>
              <a:cs typeface="Arial"/>
              <a:sym typeface="Arial"/>
            </a:endParaRPr>
          </a:p>
        </p:txBody>
      </p:sp>
      <p:sp>
        <p:nvSpPr>
          <p:cNvPr id="226" name="Google Shape;226;p39"/>
          <p:cNvSpPr txBox="1"/>
          <p:nvPr/>
        </p:nvSpPr>
        <p:spPr>
          <a:xfrm>
            <a:off x="1249500" y="5400350"/>
            <a:ext cx="11886900" cy="2179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5899"/>
              <a:buFont typeface="Arial"/>
              <a:buNone/>
            </a:pPr>
            <a:r>
              <a:rPr b="1" i="0" lang="en-US" sz="5899" u="none" cap="none" strike="noStrike">
                <a:solidFill>
                  <a:srgbClr val="34373B"/>
                </a:solidFill>
                <a:latin typeface="Arial"/>
                <a:ea typeface="Arial"/>
                <a:cs typeface="Arial"/>
                <a:sym typeface="Arial"/>
              </a:rPr>
              <a:t>What do we mean when we say “addicted”?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230" name="Shape 230"/>
        <p:cNvGrpSpPr/>
        <p:nvPr/>
      </p:nvGrpSpPr>
      <p:grpSpPr>
        <a:xfrm>
          <a:off x="0" y="0"/>
          <a:ext cx="0" cy="0"/>
          <a:chOff x="0" y="0"/>
          <a:chExt cx="0" cy="0"/>
        </a:xfrm>
      </p:grpSpPr>
      <p:sp>
        <p:nvSpPr>
          <p:cNvPr id="231" name="Google Shape;231;p46"/>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2" name="Google Shape;232;p46"/>
          <p:cNvSpPr txBox="1"/>
          <p:nvPr/>
        </p:nvSpPr>
        <p:spPr>
          <a:xfrm>
            <a:off x="1028700" y="895350"/>
            <a:ext cx="67935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“I do it a lot.”</a:t>
            </a:r>
            <a:endParaRPr b="0" i="0" sz="1400" u="none" cap="none" strike="noStrike">
              <a:solidFill>
                <a:srgbClr val="000000"/>
              </a:solidFill>
              <a:latin typeface="Arial"/>
              <a:ea typeface="Arial"/>
              <a:cs typeface="Arial"/>
              <a:sym typeface="Arial"/>
            </a:endParaRPr>
          </a:p>
        </p:txBody>
      </p:sp>
      <p:sp>
        <p:nvSpPr>
          <p:cNvPr id="233" name="Google Shape;233;p46"/>
          <p:cNvSpPr txBox="1"/>
          <p:nvPr/>
        </p:nvSpPr>
        <p:spPr>
          <a:xfrm>
            <a:off x="2390850" y="2236050"/>
            <a:ext cx="135063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Does that make it a problem?</a:t>
            </a:r>
            <a:endParaRPr b="0" i="0" sz="1400" u="none" cap="none" strike="noStrike">
              <a:solidFill>
                <a:srgbClr val="000000"/>
              </a:solidFill>
              <a:latin typeface="Arial"/>
              <a:ea typeface="Arial"/>
              <a:cs typeface="Arial"/>
              <a:sym typeface="Arial"/>
            </a:endParaRPr>
          </a:p>
        </p:txBody>
      </p:sp>
      <p:sp>
        <p:nvSpPr>
          <p:cNvPr id="234" name="Google Shape;234;p46"/>
          <p:cNvSpPr txBox="1"/>
          <p:nvPr/>
        </p:nvSpPr>
        <p:spPr>
          <a:xfrm>
            <a:off x="1028700" y="3636645"/>
            <a:ext cx="6530700" cy="10041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523"/>
              <a:buFont typeface="Arial"/>
              <a:buNone/>
            </a:pPr>
            <a:r>
              <a:rPr b="0" i="0" lang="en-US" sz="6523" u="none" cap="none" strike="noStrike">
                <a:solidFill>
                  <a:srgbClr val="34373B"/>
                </a:solidFill>
                <a:latin typeface="Arial"/>
                <a:ea typeface="Arial"/>
                <a:cs typeface="Arial"/>
                <a:sym typeface="Arial"/>
              </a:rPr>
              <a:t>Can I control it?</a:t>
            </a:r>
            <a:endParaRPr b="0" i="0" sz="1400" u="none" cap="none" strike="noStrike">
              <a:solidFill>
                <a:srgbClr val="000000"/>
              </a:solidFill>
              <a:latin typeface="Arial"/>
              <a:ea typeface="Arial"/>
              <a:cs typeface="Arial"/>
              <a:sym typeface="Arial"/>
            </a:endParaRPr>
          </a:p>
        </p:txBody>
      </p:sp>
      <p:sp>
        <p:nvSpPr>
          <p:cNvPr id="235" name="Google Shape;235;p46"/>
          <p:cNvSpPr txBox="1"/>
          <p:nvPr/>
        </p:nvSpPr>
        <p:spPr>
          <a:xfrm>
            <a:off x="1028700" y="4711857"/>
            <a:ext cx="8852400" cy="10041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523"/>
              <a:buFont typeface="Arial"/>
              <a:buNone/>
            </a:pPr>
            <a:r>
              <a:rPr b="0" i="0" lang="en-US" sz="6523" u="none" cap="none" strike="noStrike">
                <a:solidFill>
                  <a:srgbClr val="34373B"/>
                </a:solidFill>
                <a:latin typeface="Arial"/>
                <a:ea typeface="Arial"/>
                <a:cs typeface="Arial"/>
                <a:sym typeface="Arial"/>
              </a:rPr>
              <a:t>What is it doing for me?</a:t>
            </a:r>
            <a:endParaRPr b="0" i="0" sz="1400" u="none" cap="none" strike="noStrike">
              <a:solidFill>
                <a:srgbClr val="000000"/>
              </a:solidFill>
              <a:latin typeface="Arial"/>
              <a:ea typeface="Arial"/>
              <a:cs typeface="Arial"/>
              <a:sym typeface="Arial"/>
            </a:endParaRPr>
          </a:p>
        </p:txBody>
      </p:sp>
      <p:sp>
        <p:nvSpPr>
          <p:cNvPr id="236" name="Google Shape;236;p46"/>
          <p:cNvSpPr txBox="1"/>
          <p:nvPr/>
        </p:nvSpPr>
        <p:spPr>
          <a:xfrm>
            <a:off x="1028700" y="5787042"/>
            <a:ext cx="12578400" cy="10041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523"/>
              <a:buFont typeface="Arial"/>
              <a:buNone/>
            </a:pPr>
            <a:r>
              <a:rPr b="0" i="0" lang="en-US" sz="6523" u="none" cap="none" strike="noStrike">
                <a:solidFill>
                  <a:srgbClr val="34373B"/>
                </a:solidFill>
                <a:latin typeface="Arial"/>
                <a:ea typeface="Arial"/>
                <a:cs typeface="Arial"/>
                <a:sym typeface="Arial"/>
              </a:rPr>
              <a:t>What happens when I can’t do it?</a:t>
            </a:r>
            <a:endParaRPr b="0" i="0" sz="1400" u="none" cap="none" strike="noStrike">
              <a:solidFill>
                <a:srgbClr val="000000"/>
              </a:solidFill>
              <a:latin typeface="Arial"/>
              <a:ea typeface="Arial"/>
              <a:cs typeface="Arial"/>
              <a:sym typeface="Arial"/>
            </a:endParaRPr>
          </a:p>
        </p:txBody>
      </p:sp>
      <p:sp>
        <p:nvSpPr>
          <p:cNvPr id="237" name="Google Shape;237;p46"/>
          <p:cNvSpPr txBox="1"/>
          <p:nvPr/>
        </p:nvSpPr>
        <p:spPr>
          <a:xfrm>
            <a:off x="1028700" y="6862262"/>
            <a:ext cx="16982400" cy="10041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523"/>
              <a:buFont typeface="Arial"/>
              <a:buNone/>
            </a:pPr>
            <a:r>
              <a:rPr b="0" i="0" lang="en-US" sz="6523" u="none" cap="none" strike="noStrike">
                <a:solidFill>
                  <a:srgbClr val="34373B"/>
                </a:solidFill>
                <a:latin typeface="Arial"/>
                <a:ea typeface="Arial"/>
                <a:cs typeface="Arial"/>
                <a:sym typeface="Arial"/>
              </a:rPr>
              <a:t>Is something important getting pushed aside?</a:t>
            </a:r>
            <a:endParaRPr b="0" i="0" sz="1400" u="none" cap="none" strike="noStrike">
              <a:solidFill>
                <a:srgbClr val="000000"/>
              </a:solidFill>
              <a:latin typeface="Arial"/>
              <a:ea typeface="Arial"/>
              <a:cs typeface="Arial"/>
              <a:sym typeface="Arial"/>
            </a:endParaRPr>
          </a:p>
        </p:txBody>
      </p:sp>
      <p:sp>
        <p:nvSpPr>
          <p:cNvPr id="238" name="Google Shape;238;p46"/>
          <p:cNvSpPr txBox="1"/>
          <p:nvPr/>
        </p:nvSpPr>
        <p:spPr>
          <a:xfrm>
            <a:off x="1028700" y="7937438"/>
            <a:ext cx="14778000" cy="1004100"/>
          </a:xfrm>
          <a:prstGeom prst="rect">
            <a:avLst/>
          </a:prstGeom>
          <a:noFill/>
          <a:ln>
            <a:noFill/>
          </a:ln>
        </p:spPr>
        <p:txBody>
          <a:bodyPr anchorCtr="0" anchor="t" bIns="0" lIns="0" spcFirstLastPara="1" rIns="0" wrap="square" tIns="0">
            <a:spAutoFit/>
          </a:bodyPr>
          <a:lstStyle/>
          <a:p>
            <a:pPr indent="0" lvl="0" marL="0" marR="0" rtl="0" algn="l">
              <a:lnSpc>
                <a:spcPct val="140012"/>
              </a:lnSpc>
              <a:spcBef>
                <a:spcPts val="0"/>
              </a:spcBef>
              <a:spcAft>
                <a:spcPts val="0"/>
              </a:spcAft>
              <a:buClr>
                <a:srgbClr val="000000"/>
              </a:buClr>
              <a:buSzPts val="6523"/>
              <a:buFont typeface="Arial"/>
              <a:buNone/>
            </a:pPr>
            <a:r>
              <a:rPr b="0" i="0" lang="en-US" sz="6523" u="none" cap="none" strike="noStrike">
                <a:solidFill>
                  <a:srgbClr val="34373B"/>
                </a:solidFill>
                <a:latin typeface="Arial"/>
                <a:ea typeface="Arial"/>
                <a:cs typeface="Arial"/>
                <a:sym typeface="Arial"/>
              </a:rPr>
              <a:t>Am I continuing despite consequences?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242" name="Shape 242"/>
        <p:cNvGrpSpPr/>
        <p:nvPr/>
      </p:nvGrpSpPr>
      <p:grpSpPr>
        <a:xfrm>
          <a:off x="0" y="0"/>
          <a:ext cx="0" cy="0"/>
          <a:chOff x="0" y="0"/>
          <a:chExt cx="0" cy="0"/>
        </a:xfrm>
      </p:grpSpPr>
      <p:sp>
        <p:nvSpPr>
          <p:cNvPr id="243" name="Google Shape;243;p47"/>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47"/>
          <p:cNvSpPr txBox="1"/>
          <p:nvPr/>
        </p:nvSpPr>
        <p:spPr>
          <a:xfrm>
            <a:off x="1028700" y="895350"/>
            <a:ext cx="67935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“I do it a lot.”</a:t>
            </a:r>
            <a:endParaRPr b="0" i="0" sz="1400" u="none" cap="none" strike="noStrike">
              <a:solidFill>
                <a:srgbClr val="000000"/>
              </a:solidFill>
              <a:latin typeface="Arial"/>
              <a:ea typeface="Arial"/>
              <a:cs typeface="Arial"/>
              <a:sym typeface="Arial"/>
            </a:endParaRPr>
          </a:p>
        </p:txBody>
      </p:sp>
      <p:sp>
        <p:nvSpPr>
          <p:cNvPr id="245" name="Google Shape;245;p47"/>
          <p:cNvSpPr txBox="1"/>
          <p:nvPr/>
        </p:nvSpPr>
        <p:spPr>
          <a:xfrm>
            <a:off x="2390850" y="2204700"/>
            <a:ext cx="135063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Does that make it a problem?</a:t>
            </a:r>
            <a:endParaRPr b="0" i="0" sz="1400" u="none" cap="none" strike="noStrike">
              <a:solidFill>
                <a:srgbClr val="000000"/>
              </a:solidFill>
              <a:latin typeface="Arial"/>
              <a:ea typeface="Arial"/>
              <a:cs typeface="Arial"/>
              <a:sym typeface="Arial"/>
            </a:endParaRPr>
          </a:p>
        </p:txBody>
      </p:sp>
      <p:sp>
        <p:nvSpPr>
          <p:cNvPr id="246" name="Google Shape;246;p47"/>
          <p:cNvSpPr txBox="1"/>
          <p:nvPr/>
        </p:nvSpPr>
        <p:spPr>
          <a:xfrm>
            <a:off x="1028700" y="5400349"/>
            <a:ext cx="11851500" cy="25857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Frequency is information.</a:t>
            </a:r>
            <a:endParaRPr b="0" i="0" sz="1400" u="none" cap="none" strike="noStrike">
              <a:solidFill>
                <a:srgbClr val="000000"/>
              </a:solidFill>
              <a:latin typeface="Arial"/>
              <a:ea typeface="Arial"/>
              <a:cs typeface="Arial"/>
              <a:sym typeface="Arial"/>
            </a:endParaRPr>
          </a:p>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It isn’t the whole answer.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250" name="Shape 250"/>
        <p:cNvGrpSpPr/>
        <p:nvPr/>
      </p:nvGrpSpPr>
      <p:grpSpPr>
        <a:xfrm>
          <a:off x="0" y="0"/>
          <a:ext cx="0" cy="0"/>
          <a:chOff x="0" y="0"/>
          <a:chExt cx="0" cy="0"/>
        </a:xfrm>
      </p:grpSpPr>
      <p:sp>
        <p:nvSpPr>
          <p:cNvPr id="251" name="Google Shape;251;p51"/>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2" name="Google Shape;252;p51"/>
          <p:cNvSpPr txBox="1"/>
          <p:nvPr/>
        </p:nvSpPr>
        <p:spPr>
          <a:xfrm>
            <a:off x="1028700" y="1159975"/>
            <a:ext cx="56718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Same label?</a:t>
            </a:r>
            <a:endParaRPr b="0" i="0" sz="1400" u="none" cap="none" strike="noStrike">
              <a:solidFill>
                <a:srgbClr val="000000"/>
              </a:solidFill>
              <a:latin typeface="Arial"/>
              <a:ea typeface="Arial"/>
              <a:cs typeface="Arial"/>
              <a:sym typeface="Arial"/>
            </a:endParaRPr>
          </a:p>
        </p:txBody>
      </p:sp>
      <p:sp>
        <p:nvSpPr>
          <p:cNvPr id="253" name="Google Shape;253;p51"/>
          <p:cNvSpPr txBox="1"/>
          <p:nvPr/>
        </p:nvSpPr>
        <p:spPr>
          <a:xfrm>
            <a:off x="1028700" y="3076175"/>
            <a:ext cx="3543300" cy="923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5999"/>
              <a:buFont typeface="Arial"/>
              <a:buNone/>
            </a:pPr>
            <a:r>
              <a:rPr b="0" i="0" lang="en-US" sz="5999" u="none" cap="none" strike="noStrike">
                <a:solidFill>
                  <a:srgbClr val="34373B"/>
                </a:solidFill>
                <a:latin typeface="Arial"/>
                <a:ea typeface="Arial"/>
                <a:cs typeface="Arial"/>
                <a:sym typeface="Arial"/>
              </a:rPr>
              <a:t>Gambling</a:t>
            </a:r>
            <a:endParaRPr b="0" i="0" sz="1400" u="none" cap="none" strike="noStrike">
              <a:solidFill>
                <a:srgbClr val="000000"/>
              </a:solidFill>
              <a:latin typeface="Arial"/>
              <a:ea typeface="Arial"/>
              <a:cs typeface="Arial"/>
              <a:sym typeface="Arial"/>
            </a:endParaRPr>
          </a:p>
        </p:txBody>
      </p:sp>
      <p:sp>
        <p:nvSpPr>
          <p:cNvPr id="254" name="Google Shape;254;p51"/>
          <p:cNvSpPr txBox="1"/>
          <p:nvPr/>
        </p:nvSpPr>
        <p:spPr>
          <a:xfrm>
            <a:off x="5431975" y="3076175"/>
            <a:ext cx="2743500" cy="923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5999"/>
              <a:buFont typeface="Arial"/>
              <a:buNone/>
            </a:pPr>
            <a:r>
              <a:rPr b="0" i="0" lang="en-US" sz="5999" u="none" cap="none" strike="noStrike">
                <a:solidFill>
                  <a:srgbClr val="34373B"/>
                </a:solidFill>
                <a:latin typeface="Arial"/>
                <a:ea typeface="Arial"/>
                <a:cs typeface="Arial"/>
                <a:sym typeface="Arial"/>
              </a:rPr>
              <a:t>Gaming</a:t>
            </a:r>
            <a:endParaRPr b="0" i="0" sz="1400" u="none" cap="none" strike="noStrike">
              <a:solidFill>
                <a:srgbClr val="000000"/>
              </a:solidFill>
              <a:latin typeface="Arial"/>
              <a:ea typeface="Arial"/>
              <a:cs typeface="Arial"/>
              <a:sym typeface="Arial"/>
            </a:endParaRPr>
          </a:p>
        </p:txBody>
      </p:sp>
      <p:sp>
        <p:nvSpPr>
          <p:cNvPr id="255" name="Google Shape;255;p51"/>
          <p:cNvSpPr txBox="1"/>
          <p:nvPr/>
        </p:nvSpPr>
        <p:spPr>
          <a:xfrm>
            <a:off x="9213800" y="3076175"/>
            <a:ext cx="3364200" cy="923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5999"/>
              <a:buFont typeface="Arial"/>
              <a:buNone/>
            </a:pPr>
            <a:r>
              <a:rPr b="0" i="0" lang="en-US" sz="5999" u="none" cap="none" strike="noStrike">
                <a:solidFill>
                  <a:srgbClr val="34373B"/>
                </a:solidFill>
                <a:latin typeface="Arial"/>
                <a:ea typeface="Arial"/>
                <a:cs typeface="Arial"/>
                <a:sym typeface="Arial"/>
              </a:rPr>
              <a:t>Shopping</a:t>
            </a:r>
            <a:endParaRPr b="0" i="0" sz="1400" u="none" cap="none" strike="noStrike">
              <a:solidFill>
                <a:srgbClr val="000000"/>
              </a:solidFill>
              <a:latin typeface="Arial"/>
              <a:ea typeface="Arial"/>
              <a:cs typeface="Arial"/>
              <a:sym typeface="Arial"/>
            </a:endParaRPr>
          </a:p>
        </p:txBody>
      </p:sp>
      <p:sp>
        <p:nvSpPr>
          <p:cNvPr id="256" name="Google Shape;256;p51"/>
          <p:cNvSpPr txBox="1"/>
          <p:nvPr/>
        </p:nvSpPr>
        <p:spPr>
          <a:xfrm>
            <a:off x="13530598" y="3076175"/>
            <a:ext cx="1416600" cy="923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5999"/>
              <a:buFont typeface="Arial"/>
              <a:buNone/>
            </a:pPr>
            <a:r>
              <a:rPr b="0" i="0" lang="en-US" sz="5999" u="none" cap="none" strike="noStrike">
                <a:solidFill>
                  <a:srgbClr val="34373B"/>
                </a:solidFill>
                <a:latin typeface="Arial"/>
                <a:ea typeface="Arial"/>
                <a:cs typeface="Arial"/>
                <a:sym typeface="Arial"/>
              </a:rPr>
              <a:t>Sex</a:t>
            </a:r>
            <a:endParaRPr b="0" i="0" sz="1400" u="none" cap="none" strike="noStrike">
              <a:solidFill>
                <a:srgbClr val="000000"/>
              </a:solidFill>
              <a:latin typeface="Arial"/>
              <a:ea typeface="Arial"/>
              <a:cs typeface="Arial"/>
              <a:sym typeface="Arial"/>
            </a:endParaRPr>
          </a:p>
        </p:txBody>
      </p:sp>
      <p:sp>
        <p:nvSpPr>
          <p:cNvPr id="257" name="Google Shape;257;p51"/>
          <p:cNvSpPr txBox="1"/>
          <p:nvPr/>
        </p:nvSpPr>
        <p:spPr>
          <a:xfrm>
            <a:off x="1028700" y="4576750"/>
            <a:ext cx="3047700" cy="923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5999"/>
              <a:buFont typeface="Arial"/>
              <a:buNone/>
            </a:pPr>
            <a:r>
              <a:rPr b="0" i="0" lang="en-US" sz="5999" u="none" cap="none" strike="noStrike">
                <a:solidFill>
                  <a:srgbClr val="34373B"/>
                </a:solidFill>
                <a:latin typeface="Arial"/>
                <a:ea typeface="Arial"/>
                <a:cs typeface="Arial"/>
                <a:sym typeface="Arial"/>
              </a:rPr>
              <a:t>Exercise</a:t>
            </a:r>
            <a:endParaRPr b="0" i="0" sz="1400" u="none" cap="none" strike="noStrike">
              <a:solidFill>
                <a:srgbClr val="000000"/>
              </a:solidFill>
              <a:latin typeface="Arial"/>
              <a:ea typeface="Arial"/>
              <a:cs typeface="Arial"/>
              <a:sym typeface="Arial"/>
            </a:endParaRPr>
          </a:p>
        </p:txBody>
      </p:sp>
      <p:sp>
        <p:nvSpPr>
          <p:cNvPr id="258" name="Google Shape;258;p51"/>
          <p:cNvSpPr txBox="1"/>
          <p:nvPr/>
        </p:nvSpPr>
        <p:spPr>
          <a:xfrm>
            <a:off x="5431975" y="4576750"/>
            <a:ext cx="2372400" cy="923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5999"/>
              <a:buFont typeface="Arial"/>
              <a:buNone/>
            </a:pPr>
            <a:r>
              <a:rPr b="0" i="0" lang="en-US" sz="5999" u="none" cap="none" strike="noStrike">
                <a:solidFill>
                  <a:srgbClr val="34373B"/>
                </a:solidFill>
                <a:latin typeface="Arial"/>
                <a:ea typeface="Arial"/>
                <a:cs typeface="Arial"/>
                <a:sym typeface="Arial"/>
              </a:rPr>
              <a:t>Eating</a:t>
            </a:r>
            <a:endParaRPr b="0" i="0" sz="1400" u="none" cap="none" strike="noStrike">
              <a:solidFill>
                <a:srgbClr val="000000"/>
              </a:solidFill>
              <a:latin typeface="Arial"/>
              <a:ea typeface="Arial"/>
              <a:cs typeface="Arial"/>
              <a:sym typeface="Arial"/>
            </a:endParaRPr>
          </a:p>
        </p:txBody>
      </p:sp>
      <p:sp>
        <p:nvSpPr>
          <p:cNvPr id="259" name="Google Shape;259;p51"/>
          <p:cNvSpPr txBox="1"/>
          <p:nvPr/>
        </p:nvSpPr>
        <p:spPr>
          <a:xfrm>
            <a:off x="12578099" y="4576750"/>
            <a:ext cx="4660500" cy="923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5999"/>
              <a:buFont typeface="Arial"/>
              <a:buNone/>
            </a:pPr>
            <a:r>
              <a:rPr b="0" i="0" lang="en-US" sz="5999" u="none" cap="none" strike="noStrike">
                <a:solidFill>
                  <a:srgbClr val="34373B"/>
                </a:solidFill>
                <a:latin typeface="Arial"/>
                <a:ea typeface="Arial"/>
                <a:cs typeface="Arial"/>
                <a:sym typeface="Arial"/>
              </a:rPr>
              <a:t>Social Media</a:t>
            </a:r>
            <a:endParaRPr b="0" i="0" sz="1400" u="none" cap="none" strike="noStrike">
              <a:solidFill>
                <a:srgbClr val="000000"/>
              </a:solidFill>
              <a:latin typeface="Arial"/>
              <a:ea typeface="Arial"/>
              <a:cs typeface="Arial"/>
              <a:sym typeface="Arial"/>
            </a:endParaRPr>
          </a:p>
        </p:txBody>
      </p:sp>
      <p:sp>
        <p:nvSpPr>
          <p:cNvPr id="260" name="Google Shape;260;p51"/>
          <p:cNvSpPr txBox="1"/>
          <p:nvPr/>
        </p:nvSpPr>
        <p:spPr>
          <a:xfrm>
            <a:off x="9213800" y="4576750"/>
            <a:ext cx="1951500" cy="923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5999"/>
              <a:buFont typeface="Arial"/>
              <a:buNone/>
            </a:pPr>
            <a:r>
              <a:rPr b="0" i="0" lang="en-US" sz="5999" u="none" cap="none" strike="noStrike">
                <a:solidFill>
                  <a:srgbClr val="34373B"/>
                </a:solidFill>
                <a:latin typeface="Arial"/>
                <a:ea typeface="Arial"/>
                <a:cs typeface="Arial"/>
                <a:sym typeface="Arial"/>
              </a:rPr>
              <a:t>Work</a:t>
            </a:r>
            <a:endParaRPr b="0" i="0" sz="1400" u="none" cap="none" strike="noStrike">
              <a:solidFill>
                <a:srgbClr val="000000"/>
              </a:solidFill>
              <a:latin typeface="Arial"/>
              <a:ea typeface="Arial"/>
              <a:cs typeface="Arial"/>
              <a:sym typeface="Arial"/>
            </a:endParaRPr>
          </a:p>
        </p:txBody>
      </p:sp>
      <p:sp>
        <p:nvSpPr>
          <p:cNvPr id="261" name="Google Shape;261;p51"/>
          <p:cNvSpPr txBox="1"/>
          <p:nvPr/>
        </p:nvSpPr>
        <p:spPr>
          <a:xfrm>
            <a:off x="1028700" y="6567500"/>
            <a:ext cx="165885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6999" u="none" cap="none" strike="noStrike">
                <a:solidFill>
                  <a:srgbClr val="34373B"/>
                </a:solidFill>
                <a:latin typeface="Arial"/>
                <a:ea typeface="Arial"/>
                <a:cs typeface="Arial"/>
                <a:sym typeface="Arial"/>
              </a:rPr>
              <a:t>Are all of these clinically “addictions?”</a:t>
            </a:r>
            <a:endParaRPr b="0" i="0" sz="1400" u="none" cap="none" strike="noStrike">
              <a:solidFill>
                <a:srgbClr val="000000"/>
              </a:solidFill>
              <a:latin typeface="Arial"/>
              <a:ea typeface="Arial"/>
              <a:cs typeface="Arial"/>
              <a:sym typeface="Arial"/>
            </a:endParaRPr>
          </a:p>
        </p:txBody>
      </p:sp>
      <p:sp>
        <p:nvSpPr>
          <p:cNvPr id="262" name="Google Shape;262;p51"/>
          <p:cNvSpPr txBox="1"/>
          <p:nvPr/>
        </p:nvSpPr>
        <p:spPr>
          <a:xfrm>
            <a:off x="1028700" y="8064498"/>
            <a:ext cx="162306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1" lang="en-US" sz="6999" u="none" cap="none" strike="noStrike">
                <a:solidFill>
                  <a:srgbClr val="725B87"/>
                </a:solidFill>
                <a:latin typeface="Arial"/>
                <a:ea typeface="Arial"/>
                <a:cs typeface="Arial"/>
                <a:sym typeface="Arial"/>
              </a:rPr>
              <a:t>Not necessarily.</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266" name="Shape 266"/>
        <p:cNvGrpSpPr/>
        <p:nvPr/>
      </p:nvGrpSpPr>
      <p:grpSpPr>
        <a:xfrm>
          <a:off x="0" y="0"/>
          <a:ext cx="0" cy="0"/>
          <a:chOff x="0" y="0"/>
          <a:chExt cx="0" cy="0"/>
        </a:xfrm>
      </p:grpSpPr>
      <p:sp>
        <p:nvSpPr>
          <p:cNvPr id="267" name="Google Shape;267;p54"/>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54"/>
          <p:cNvSpPr txBox="1"/>
          <p:nvPr/>
        </p:nvSpPr>
        <p:spPr>
          <a:xfrm>
            <a:off x="702600" y="1782325"/>
            <a:ext cx="17136000" cy="12738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8276"/>
              <a:buFont typeface="Arial"/>
              <a:buNone/>
            </a:pPr>
            <a:r>
              <a:rPr b="1" i="0" lang="en-US" sz="8276" u="none" cap="none" strike="noStrike">
                <a:solidFill>
                  <a:srgbClr val="34373B"/>
                </a:solidFill>
                <a:latin typeface="Arial"/>
                <a:ea typeface="Arial"/>
                <a:cs typeface="Arial"/>
                <a:sym typeface="Arial"/>
              </a:rPr>
              <a:t>Does the label have to come first?</a:t>
            </a:r>
            <a:endParaRPr b="0" i="0" sz="1400" u="none" cap="none" strike="noStrike">
              <a:solidFill>
                <a:srgbClr val="000000"/>
              </a:solidFill>
              <a:latin typeface="Arial"/>
              <a:ea typeface="Arial"/>
              <a:cs typeface="Arial"/>
              <a:sym typeface="Arial"/>
            </a:endParaRPr>
          </a:p>
        </p:txBody>
      </p:sp>
      <p:sp>
        <p:nvSpPr>
          <p:cNvPr id="269" name="Google Shape;269;p54"/>
          <p:cNvSpPr txBox="1"/>
          <p:nvPr/>
        </p:nvSpPr>
        <p:spPr>
          <a:xfrm>
            <a:off x="902100" y="3428988"/>
            <a:ext cx="16483800" cy="1846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999"/>
              <a:buFont typeface="Arial"/>
              <a:buNone/>
            </a:pPr>
            <a:r>
              <a:rPr b="0" i="0" lang="en-US" sz="5999" u="none" cap="none" strike="noStrike">
                <a:solidFill>
                  <a:srgbClr val="34373B"/>
                </a:solidFill>
                <a:latin typeface="Arial"/>
                <a:ea typeface="Arial"/>
                <a:cs typeface="Arial"/>
                <a:sym typeface="Arial"/>
              </a:rPr>
              <a:t>If something is hurting your recovery, do you need an official diagnosis before you address it?</a:t>
            </a:r>
            <a:endParaRPr b="0" i="0" sz="1400" u="none" cap="none" strike="noStrike">
              <a:solidFill>
                <a:srgbClr val="000000"/>
              </a:solidFill>
              <a:latin typeface="Arial"/>
              <a:ea typeface="Arial"/>
              <a:cs typeface="Arial"/>
              <a:sym typeface="Arial"/>
            </a:endParaRPr>
          </a:p>
        </p:txBody>
      </p:sp>
      <p:sp>
        <p:nvSpPr>
          <p:cNvPr id="270" name="Google Shape;270;p54"/>
          <p:cNvSpPr txBox="1"/>
          <p:nvPr/>
        </p:nvSpPr>
        <p:spPr>
          <a:xfrm>
            <a:off x="902100" y="6754501"/>
            <a:ext cx="16230600" cy="184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1" lang="en-US" sz="6000" u="none" cap="none" strike="noStrike">
                <a:solidFill>
                  <a:srgbClr val="725B87"/>
                </a:solidFill>
                <a:latin typeface="Arial"/>
                <a:ea typeface="Arial"/>
                <a:cs typeface="Arial"/>
                <a:sym typeface="Arial"/>
              </a:rPr>
              <a:t>A problem is allowed to be a problem</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6000"/>
              <a:buFont typeface="Arial"/>
              <a:buNone/>
            </a:pPr>
            <a:r>
              <a:rPr b="1" i="1" lang="en-US" sz="6000" u="none" cap="none" strike="noStrike">
                <a:solidFill>
                  <a:srgbClr val="725B87"/>
                </a:solidFill>
                <a:latin typeface="Arial"/>
                <a:ea typeface="Arial"/>
                <a:cs typeface="Arial"/>
                <a:sym typeface="Arial"/>
              </a:rPr>
              <a:t>before it becomes a diagnosis.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2"/>
        </a:solidFill>
      </p:bgPr>
    </p:bg>
    <p:spTree>
      <p:nvGrpSpPr>
        <p:cNvPr id="274" name="Shape 274"/>
        <p:cNvGrpSpPr/>
        <p:nvPr/>
      </p:nvGrpSpPr>
      <p:grpSpPr>
        <a:xfrm>
          <a:off x="0" y="0"/>
          <a:ext cx="0" cy="0"/>
          <a:chOff x="0" y="0"/>
          <a:chExt cx="0" cy="0"/>
        </a:xfrm>
      </p:grpSpPr>
      <p:sp>
        <p:nvSpPr>
          <p:cNvPr id="275" name="Google Shape;275;p59"/>
          <p:cNvSpPr/>
          <p:nvPr/>
        </p:nvSpPr>
        <p:spPr>
          <a:xfrm>
            <a:off x="-3330987" y="-3536418"/>
            <a:ext cx="8719375" cy="9130235"/>
          </a:xfrm>
          <a:custGeom>
            <a:rect b="b" l="l" r="r" t="t"/>
            <a:pathLst>
              <a:path extrusionOk="0" h="9130235" w="8719375">
                <a:moveTo>
                  <a:pt x="0" y="0"/>
                </a:moveTo>
                <a:lnTo>
                  <a:pt x="8719374" y="0"/>
                </a:lnTo>
                <a:lnTo>
                  <a:pt x="8719374"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59"/>
          <p:cNvSpPr txBox="1"/>
          <p:nvPr/>
        </p:nvSpPr>
        <p:spPr>
          <a:xfrm>
            <a:off x="9491975" y="472550"/>
            <a:ext cx="7759500" cy="16230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45"/>
              <a:buFont typeface="Arial"/>
              <a:buNone/>
            </a:pPr>
            <a:r>
              <a:rPr b="1" i="0" lang="en-US" sz="10545" u="none" cap="none" strike="noStrike">
                <a:solidFill>
                  <a:srgbClr val="EDFFDC"/>
                </a:solidFill>
                <a:latin typeface="Arial"/>
                <a:ea typeface="Arial"/>
                <a:cs typeface="Arial"/>
                <a:sym typeface="Arial"/>
              </a:rPr>
              <a:t>The Four Fs</a:t>
            </a:r>
            <a:endParaRPr b="0" i="0" sz="1400" u="none" cap="none" strike="noStrike">
              <a:solidFill>
                <a:srgbClr val="000000"/>
              </a:solidFill>
              <a:latin typeface="Arial"/>
              <a:ea typeface="Arial"/>
              <a:cs typeface="Arial"/>
              <a:sym typeface="Arial"/>
            </a:endParaRPr>
          </a:p>
        </p:txBody>
      </p:sp>
      <p:sp>
        <p:nvSpPr>
          <p:cNvPr id="277" name="Google Shape;277;p59"/>
          <p:cNvSpPr txBox="1"/>
          <p:nvPr/>
        </p:nvSpPr>
        <p:spPr>
          <a:xfrm>
            <a:off x="13383675" y="2310125"/>
            <a:ext cx="3875700" cy="10776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7000"/>
              <a:buFont typeface="Arial"/>
              <a:buNone/>
            </a:pPr>
            <a:r>
              <a:rPr b="1" i="0" lang="en-US" sz="7000" u="none" cap="none" strike="noStrike">
                <a:solidFill>
                  <a:srgbClr val="EDFFDC"/>
                </a:solidFill>
                <a:latin typeface="Arial"/>
                <a:ea typeface="Arial"/>
                <a:cs typeface="Arial"/>
                <a:sym typeface="Arial"/>
              </a:rPr>
              <a:t>Function</a:t>
            </a:r>
            <a:endParaRPr b="0" i="0" sz="1400" u="none" cap="none" strike="noStrike">
              <a:solidFill>
                <a:srgbClr val="000000"/>
              </a:solidFill>
              <a:latin typeface="Arial"/>
              <a:ea typeface="Arial"/>
              <a:cs typeface="Arial"/>
              <a:sym typeface="Arial"/>
            </a:endParaRPr>
          </a:p>
        </p:txBody>
      </p:sp>
      <p:sp>
        <p:nvSpPr>
          <p:cNvPr id="278" name="Google Shape;278;p59"/>
          <p:cNvSpPr txBox="1"/>
          <p:nvPr/>
        </p:nvSpPr>
        <p:spPr>
          <a:xfrm>
            <a:off x="9893450" y="3087925"/>
            <a:ext cx="73581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What is it doing for me?</a:t>
            </a:r>
            <a:endParaRPr b="0" i="0" sz="1400" u="none" cap="none" strike="noStrike">
              <a:solidFill>
                <a:srgbClr val="000000"/>
              </a:solidFill>
              <a:latin typeface="Arial"/>
              <a:ea typeface="Arial"/>
              <a:cs typeface="Arial"/>
              <a:sym typeface="Arial"/>
            </a:endParaRPr>
          </a:p>
        </p:txBody>
      </p:sp>
      <p:sp>
        <p:nvSpPr>
          <p:cNvPr id="279" name="Google Shape;279;p59"/>
          <p:cNvSpPr txBox="1"/>
          <p:nvPr/>
        </p:nvSpPr>
        <p:spPr>
          <a:xfrm>
            <a:off x="13226150" y="4011225"/>
            <a:ext cx="4025400" cy="10776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7000"/>
              <a:buFont typeface="Arial"/>
              <a:buNone/>
            </a:pPr>
            <a:r>
              <a:rPr b="1" i="0" lang="en-US" sz="7000" u="none" cap="none" strike="noStrike">
                <a:solidFill>
                  <a:srgbClr val="EDFFDC"/>
                </a:solidFill>
                <a:latin typeface="Arial"/>
                <a:ea typeface="Arial"/>
                <a:cs typeface="Arial"/>
                <a:sym typeface="Arial"/>
              </a:rPr>
              <a:t>Freedom</a:t>
            </a:r>
            <a:endParaRPr b="0" i="0" sz="1400" u="none" cap="none" strike="noStrike">
              <a:solidFill>
                <a:srgbClr val="000000"/>
              </a:solidFill>
              <a:latin typeface="Arial"/>
              <a:ea typeface="Arial"/>
              <a:cs typeface="Arial"/>
              <a:sym typeface="Arial"/>
            </a:endParaRPr>
          </a:p>
        </p:txBody>
      </p:sp>
      <p:sp>
        <p:nvSpPr>
          <p:cNvPr id="280" name="Google Shape;280;p59"/>
          <p:cNvSpPr txBox="1"/>
          <p:nvPr/>
        </p:nvSpPr>
        <p:spPr>
          <a:xfrm>
            <a:off x="7059200" y="4934375"/>
            <a:ext cx="102003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How much choice do I still have?</a:t>
            </a:r>
            <a:endParaRPr b="0" i="0" sz="1400" u="none" cap="none" strike="noStrike">
              <a:solidFill>
                <a:srgbClr val="000000"/>
              </a:solidFill>
              <a:latin typeface="Arial"/>
              <a:ea typeface="Arial"/>
              <a:cs typeface="Arial"/>
              <a:sym typeface="Arial"/>
            </a:endParaRPr>
          </a:p>
        </p:txBody>
      </p:sp>
      <p:sp>
        <p:nvSpPr>
          <p:cNvPr id="281" name="Google Shape;281;p59"/>
          <p:cNvSpPr txBox="1"/>
          <p:nvPr/>
        </p:nvSpPr>
        <p:spPr>
          <a:xfrm>
            <a:off x="14411275" y="5857675"/>
            <a:ext cx="2840100" cy="10776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7000"/>
              <a:buFont typeface="Arial"/>
              <a:buNone/>
            </a:pPr>
            <a:r>
              <a:rPr b="1" i="0" lang="en-US" sz="7000" u="none" cap="none" strike="noStrike">
                <a:solidFill>
                  <a:srgbClr val="EDFFDC"/>
                </a:solidFill>
                <a:latin typeface="Arial"/>
                <a:ea typeface="Arial"/>
                <a:cs typeface="Arial"/>
                <a:sym typeface="Arial"/>
              </a:rPr>
              <a:t>Focus</a:t>
            </a:r>
            <a:endParaRPr b="0" i="0" sz="1400" u="none" cap="none" strike="noStrike">
              <a:solidFill>
                <a:srgbClr val="000000"/>
              </a:solidFill>
              <a:latin typeface="Arial"/>
              <a:ea typeface="Arial"/>
              <a:cs typeface="Arial"/>
              <a:sym typeface="Arial"/>
            </a:endParaRPr>
          </a:p>
        </p:txBody>
      </p:sp>
      <p:sp>
        <p:nvSpPr>
          <p:cNvPr id="282" name="Google Shape;282;p59"/>
          <p:cNvSpPr txBox="1"/>
          <p:nvPr/>
        </p:nvSpPr>
        <p:spPr>
          <a:xfrm>
            <a:off x="3508475" y="6780825"/>
            <a:ext cx="137430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How much of my life is organizing around it?</a:t>
            </a:r>
            <a:endParaRPr b="0" i="0" sz="1400" u="none" cap="none" strike="noStrike">
              <a:solidFill>
                <a:srgbClr val="000000"/>
              </a:solidFill>
              <a:latin typeface="Arial"/>
              <a:ea typeface="Arial"/>
              <a:cs typeface="Arial"/>
              <a:sym typeface="Arial"/>
            </a:endParaRPr>
          </a:p>
        </p:txBody>
      </p:sp>
      <p:sp>
        <p:nvSpPr>
          <p:cNvPr id="283" name="Google Shape;283;p59"/>
          <p:cNvSpPr txBox="1"/>
          <p:nvPr/>
        </p:nvSpPr>
        <p:spPr>
          <a:xfrm>
            <a:off x="13961026" y="7655850"/>
            <a:ext cx="3290700" cy="10776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7000"/>
              <a:buFont typeface="Arial"/>
              <a:buNone/>
            </a:pPr>
            <a:r>
              <a:rPr b="1" i="0" lang="en-US" sz="7000" u="none" cap="none" strike="noStrike">
                <a:solidFill>
                  <a:srgbClr val="EDFFDC"/>
                </a:solidFill>
                <a:latin typeface="Arial"/>
                <a:ea typeface="Arial"/>
                <a:cs typeface="Arial"/>
                <a:sym typeface="Arial"/>
              </a:rPr>
              <a:t>Fallout</a:t>
            </a:r>
            <a:endParaRPr b="0" i="0" sz="1400" u="none" cap="none" strike="noStrike">
              <a:solidFill>
                <a:srgbClr val="000000"/>
              </a:solidFill>
              <a:latin typeface="Arial"/>
              <a:ea typeface="Arial"/>
              <a:cs typeface="Arial"/>
              <a:sym typeface="Arial"/>
            </a:endParaRPr>
          </a:p>
        </p:txBody>
      </p:sp>
      <p:sp>
        <p:nvSpPr>
          <p:cNvPr id="284" name="Google Shape;284;p59"/>
          <p:cNvSpPr txBox="1"/>
          <p:nvPr/>
        </p:nvSpPr>
        <p:spPr>
          <a:xfrm>
            <a:off x="10252100" y="8472975"/>
            <a:ext cx="70074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What is it costing me?</a:t>
            </a:r>
            <a:endParaRPr b="0" i="0" sz="1400" u="none" cap="none" strike="noStrike">
              <a:solidFill>
                <a:srgbClr val="000000"/>
              </a:solidFill>
              <a:latin typeface="Arial"/>
              <a:ea typeface="Arial"/>
              <a:cs typeface="Arial"/>
              <a:sym typeface="Arial"/>
            </a:endParaRPr>
          </a:p>
        </p:txBody>
      </p:sp>
      <p:sp>
        <p:nvSpPr>
          <p:cNvPr id="285" name="Google Shape;285;p59"/>
          <p:cNvSpPr txBox="1"/>
          <p:nvPr/>
        </p:nvSpPr>
        <p:spPr>
          <a:xfrm>
            <a:off x="1087525" y="1338838"/>
            <a:ext cx="64137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EDFFDC"/>
                </a:solidFill>
                <a:latin typeface="Arial"/>
                <a:ea typeface="Arial"/>
                <a:cs typeface="Arial"/>
                <a:sym typeface="Arial"/>
              </a:rPr>
              <a:t>Reflection tool – not a diagnostic test.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2"/>
        </a:solidFill>
      </p:bgPr>
    </p:bg>
    <p:spTree>
      <p:nvGrpSpPr>
        <p:cNvPr id="289" name="Shape 289"/>
        <p:cNvGrpSpPr/>
        <p:nvPr/>
      </p:nvGrpSpPr>
      <p:grpSpPr>
        <a:xfrm>
          <a:off x="0" y="0"/>
          <a:ext cx="0" cy="0"/>
          <a:chOff x="0" y="0"/>
          <a:chExt cx="0" cy="0"/>
        </a:xfrm>
      </p:grpSpPr>
      <p:sp>
        <p:nvSpPr>
          <p:cNvPr id="290" name="Google Shape;290;p62"/>
          <p:cNvSpPr/>
          <p:nvPr/>
        </p:nvSpPr>
        <p:spPr>
          <a:xfrm>
            <a:off x="-3330987" y="-3536418"/>
            <a:ext cx="8719375" cy="9130235"/>
          </a:xfrm>
          <a:custGeom>
            <a:rect b="b" l="l" r="r" t="t"/>
            <a:pathLst>
              <a:path extrusionOk="0" h="9130235" w="8719375">
                <a:moveTo>
                  <a:pt x="0" y="0"/>
                </a:moveTo>
                <a:lnTo>
                  <a:pt x="8719374" y="0"/>
                </a:lnTo>
                <a:lnTo>
                  <a:pt x="8719374"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1" name="Google Shape;291;p62"/>
          <p:cNvSpPr txBox="1"/>
          <p:nvPr/>
        </p:nvSpPr>
        <p:spPr>
          <a:xfrm>
            <a:off x="10133025" y="431735"/>
            <a:ext cx="7126275" cy="1797601"/>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45"/>
              <a:buFont typeface="Arial"/>
              <a:buNone/>
            </a:pPr>
            <a:r>
              <a:rPr b="1" i="0" lang="en-US" sz="10545" u="none" cap="none" strike="noStrike">
                <a:solidFill>
                  <a:srgbClr val="EDFFDC"/>
                </a:solidFill>
                <a:latin typeface="Arial"/>
                <a:ea typeface="Arial"/>
                <a:cs typeface="Arial"/>
                <a:sym typeface="Arial"/>
              </a:rPr>
              <a:t>Function</a:t>
            </a:r>
            <a:endParaRPr b="0" i="0" sz="1400" u="none" cap="none" strike="noStrike">
              <a:solidFill>
                <a:srgbClr val="000000"/>
              </a:solidFill>
              <a:latin typeface="Arial"/>
              <a:ea typeface="Arial"/>
              <a:cs typeface="Arial"/>
              <a:sym typeface="Arial"/>
            </a:endParaRPr>
          </a:p>
        </p:txBody>
      </p:sp>
      <p:sp>
        <p:nvSpPr>
          <p:cNvPr id="292" name="Google Shape;292;p62"/>
          <p:cNvSpPr txBox="1"/>
          <p:nvPr/>
        </p:nvSpPr>
        <p:spPr>
          <a:xfrm>
            <a:off x="1031675" y="1099663"/>
            <a:ext cx="64137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EDFFDC"/>
                </a:solidFill>
                <a:latin typeface="Arial"/>
                <a:ea typeface="Arial"/>
                <a:cs typeface="Arial"/>
                <a:sym typeface="Arial"/>
              </a:rPr>
              <a:t>Reflection tool – not a diagnostic test.</a:t>
            </a:r>
            <a:endParaRPr b="0" i="0" sz="1400" u="none" cap="none" strike="noStrike">
              <a:solidFill>
                <a:srgbClr val="000000"/>
              </a:solidFill>
              <a:latin typeface="Arial"/>
              <a:ea typeface="Arial"/>
              <a:cs typeface="Arial"/>
              <a:sym typeface="Arial"/>
            </a:endParaRPr>
          </a:p>
        </p:txBody>
      </p:sp>
      <p:sp>
        <p:nvSpPr>
          <p:cNvPr id="293" name="Google Shape;293;p62"/>
          <p:cNvSpPr txBox="1"/>
          <p:nvPr/>
        </p:nvSpPr>
        <p:spPr>
          <a:xfrm>
            <a:off x="9727175" y="1899850"/>
            <a:ext cx="7532100" cy="846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What is it doing for me?</a:t>
            </a:r>
            <a:endParaRPr b="0" i="0" sz="1400" u="none" cap="none" strike="noStrike">
              <a:solidFill>
                <a:srgbClr val="000000"/>
              </a:solidFill>
              <a:latin typeface="Arial"/>
              <a:ea typeface="Arial"/>
              <a:cs typeface="Arial"/>
              <a:sym typeface="Arial"/>
            </a:endParaRPr>
          </a:p>
        </p:txBody>
      </p:sp>
      <p:sp>
        <p:nvSpPr>
          <p:cNvPr id="294" name="Google Shape;294;p62"/>
          <p:cNvSpPr txBox="1"/>
          <p:nvPr/>
        </p:nvSpPr>
        <p:spPr>
          <a:xfrm>
            <a:off x="4058825" y="7298800"/>
            <a:ext cx="13200300" cy="1077300"/>
          </a:xfrm>
          <a:prstGeom prst="rect">
            <a:avLst/>
          </a:prstGeom>
          <a:noFill/>
          <a:ln>
            <a:noFill/>
          </a:ln>
        </p:spPr>
        <p:txBody>
          <a:bodyPr anchorCtr="0" anchor="t" bIns="0" lIns="0" spcFirstLastPara="1" rIns="0" wrap="square" tIns="0">
            <a:spAutoFit/>
          </a:bodyPr>
          <a:lstStyle/>
          <a:p>
            <a:pPr indent="0" lvl="0" marL="0" marR="0" rtl="0" algn="r">
              <a:lnSpc>
                <a:spcPct val="140005"/>
              </a:lnSpc>
              <a:spcBef>
                <a:spcPts val="0"/>
              </a:spcBef>
              <a:spcAft>
                <a:spcPts val="0"/>
              </a:spcAft>
              <a:buClr>
                <a:srgbClr val="000000"/>
              </a:buClr>
              <a:buSzPts val="6999"/>
              <a:buFont typeface="Arial"/>
              <a:buNone/>
            </a:pPr>
            <a:r>
              <a:rPr b="1" i="0" lang="en-US" sz="6999" u="none" cap="none" strike="noStrike">
                <a:solidFill>
                  <a:srgbClr val="D2C7FF"/>
                </a:solidFill>
                <a:latin typeface="Arial"/>
                <a:ea typeface="Arial"/>
                <a:cs typeface="Arial"/>
                <a:sym typeface="Arial"/>
              </a:rPr>
              <a:t>What need am I trying to meet?</a:t>
            </a:r>
            <a:endParaRPr b="0" i="0" sz="1400" u="none" cap="none" strike="noStrike">
              <a:solidFill>
                <a:srgbClr val="000000"/>
              </a:solidFill>
              <a:latin typeface="Arial"/>
              <a:ea typeface="Arial"/>
              <a:cs typeface="Arial"/>
              <a:sym typeface="Arial"/>
            </a:endParaRPr>
          </a:p>
        </p:txBody>
      </p:sp>
      <p:sp>
        <p:nvSpPr>
          <p:cNvPr id="295" name="Google Shape;295;p62"/>
          <p:cNvSpPr txBox="1"/>
          <p:nvPr/>
        </p:nvSpPr>
        <p:spPr>
          <a:xfrm>
            <a:off x="9149825" y="3445275"/>
            <a:ext cx="18321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Relief</a:t>
            </a:r>
            <a:endParaRPr b="0" i="0" sz="1400" u="none" cap="none" strike="noStrike">
              <a:solidFill>
                <a:srgbClr val="000000"/>
              </a:solidFill>
              <a:latin typeface="Arial"/>
              <a:ea typeface="Arial"/>
              <a:cs typeface="Arial"/>
              <a:sym typeface="Arial"/>
            </a:endParaRPr>
          </a:p>
        </p:txBody>
      </p:sp>
      <p:sp>
        <p:nvSpPr>
          <p:cNvPr id="296" name="Google Shape;296;p62"/>
          <p:cNvSpPr txBox="1"/>
          <p:nvPr/>
        </p:nvSpPr>
        <p:spPr>
          <a:xfrm>
            <a:off x="11837987" y="3445275"/>
            <a:ext cx="23802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Escape</a:t>
            </a:r>
            <a:endParaRPr b="0" i="0" sz="1400" u="none" cap="none" strike="noStrike">
              <a:solidFill>
                <a:srgbClr val="000000"/>
              </a:solidFill>
              <a:latin typeface="Arial"/>
              <a:ea typeface="Arial"/>
              <a:cs typeface="Arial"/>
              <a:sym typeface="Arial"/>
            </a:endParaRPr>
          </a:p>
        </p:txBody>
      </p:sp>
      <p:sp>
        <p:nvSpPr>
          <p:cNvPr id="297" name="Google Shape;297;p62"/>
          <p:cNvSpPr txBox="1"/>
          <p:nvPr/>
        </p:nvSpPr>
        <p:spPr>
          <a:xfrm>
            <a:off x="14988275" y="3445275"/>
            <a:ext cx="22710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Energy</a:t>
            </a:r>
            <a:endParaRPr b="0" i="0" sz="1400" u="none" cap="none" strike="noStrike">
              <a:solidFill>
                <a:srgbClr val="000000"/>
              </a:solidFill>
              <a:latin typeface="Arial"/>
              <a:ea typeface="Arial"/>
              <a:cs typeface="Arial"/>
              <a:sym typeface="Arial"/>
            </a:endParaRPr>
          </a:p>
        </p:txBody>
      </p:sp>
      <p:sp>
        <p:nvSpPr>
          <p:cNvPr id="298" name="Google Shape;298;p62"/>
          <p:cNvSpPr txBox="1"/>
          <p:nvPr/>
        </p:nvSpPr>
        <p:spPr>
          <a:xfrm>
            <a:off x="15111909" y="4573615"/>
            <a:ext cx="22710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p:txBody>
      </p:sp>
      <p:sp>
        <p:nvSpPr>
          <p:cNvPr id="299" name="Google Shape;299;p62"/>
          <p:cNvSpPr txBox="1"/>
          <p:nvPr/>
        </p:nvSpPr>
        <p:spPr>
          <a:xfrm>
            <a:off x="11798575" y="4573625"/>
            <a:ext cx="24198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Reward</a:t>
            </a:r>
            <a:endParaRPr b="0" i="0" sz="1400" u="none" cap="none" strike="noStrike">
              <a:solidFill>
                <a:srgbClr val="000000"/>
              </a:solidFill>
              <a:latin typeface="Arial"/>
              <a:ea typeface="Arial"/>
              <a:cs typeface="Arial"/>
              <a:sym typeface="Arial"/>
            </a:endParaRPr>
          </a:p>
        </p:txBody>
      </p:sp>
      <p:sp>
        <p:nvSpPr>
          <p:cNvPr id="300" name="Google Shape;300;p62"/>
          <p:cNvSpPr txBox="1"/>
          <p:nvPr/>
        </p:nvSpPr>
        <p:spPr>
          <a:xfrm>
            <a:off x="7445374" y="4573615"/>
            <a:ext cx="35367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Connection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2"/>
        </a:solidFill>
      </p:bgPr>
    </p:bg>
    <p:spTree>
      <p:nvGrpSpPr>
        <p:cNvPr id="304" name="Shape 304"/>
        <p:cNvGrpSpPr/>
        <p:nvPr/>
      </p:nvGrpSpPr>
      <p:grpSpPr>
        <a:xfrm>
          <a:off x="0" y="0"/>
          <a:ext cx="0" cy="0"/>
          <a:chOff x="0" y="0"/>
          <a:chExt cx="0" cy="0"/>
        </a:xfrm>
      </p:grpSpPr>
      <p:sp>
        <p:nvSpPr>
          <p:cNvPr id="305" name="Google Shape;305;p65"/>
          <p:cNvSpPr/>
          <p:nvPr/>
        </p:nvSpPr>
        <p:spPr>
          <a:xfrm>
            <a:off x="-3330987" y="-3536418"/>
            <a:ext cx="8719375" cy="9130235"/>
          </a:xfrm>
          <a:custGeom>
            <a:rect b="b" l="l" r="r" t="t"/>
            <a:pathLst>
              <a:path extrusionOk="0" h="9130235" w="8719375">
                <a:moveTo>
                  <a:pt x="0" y="0"/>
                </a:moveTo>
                <a:lnTo>
                  <a:pt x="8719374" y="0"/>
                </a:lnTo>
                <a:lnTo>
                  <a:pt x="8719374"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65"/>
          <p:cNvSpPr txBox="1"/>
          <p:nvPr/>
        </p:nvSpPr>
        <p:spPr>
          <a:xfrm>
            <a:off x="10133025" y="431735"/>
            <a:ext cx="7126275" cy="1797601"/>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45"/>
              <a:buFont typeface="Arial"/>
              <a:buNone/>
            </a:pPr>
            <a:r>
              <a:rPr b="1" i="0" lang="en-US" sz="10545" u="none" cap="none" strike="noStrike">
                <a:solidFill>
                  <a:srgbClr val="EDFFDC"/>
                </a:solidFill>
                <a:latin typeface="Arial"/>
                <a:ea typeface="Arial"/>
                <a:cs typeface="Arial"/>
                <a:sym typeface="Arial"/>
              </a:rPr>
              <a:t>Freedom</a:t>
            </a:r>
            <a:endParaRPr b="0" i="0" sz="1400" u="none" cap="none" strike="noStrike">
              <a:solidFill>
                <a:srgbClr val="000000"/>
              </a:solidFill>
              <a:latin typeface="Arial"/>
              <a:ea typeface="Arial"/>
              <a:cs typeface="Arial"/>
              <a:sym typeface="Arial"/>
            </a:endParaRPr>
          </a:p>
        </p:txBody>
      </p:sp>
      <p:sp>
        <p:nvSpPr>
          <p:cNvPr id="307" name="Google Shape;307;p65"/>
          <p:cNvSpPr txBox="1"/>
          <p:nvPr/>
        </p:nvSpPr>
        <p:spPr>
          <a:xfrm>
            <a:off x="1119300" y="1099663"/>
            <a:ext cx="64137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EDFFDC"/>
                </a:solidFill>
                <a:latin typeface="Arial"/>
                <a:ea typeface="Arial"/>
                <a:cs typeface="Arial"/>
                <a:sym typeface="Arial"/>
              </a:rPr>
              <a:t>Reflection tool – not a diagnostic test.</a:t>
            </a:r>
            <a:endParaRPr b="0" i="0" sz="1400" u="none" cap="none" strike="noStrike">
              <a:solidFill>
                <a:srgbClr val="000000"/>
              </a:solidFill>
              <a:latin typeface="Arial"/>
              <a:ea typeface="Arial"/>
              <a:cs typeface="Arial"/>
              <a:sym typeface="Arial"/>
            </a:endParaRPr>
          </a:p>
        </p:txBody>
      </p:sp>
      <p:sp>
        <p:nvSpPr>
          <p:cNvPr id="308" name="Google Shape;308;p65"/>
          <p:cNvSpPr txBox="1"/>
          <p:nvPr/>
        </p:nvSpPr>
        <p:spPr>
          <a:xfrm>
            <a:off x="6973500" y="1928400"/>
            <a:ext cx="10285800" cy="846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How much choice do I still have?</a:t>
            </a:r>
            <a:endParaRPr b="0" i="0" sz="1400" u="none" cap="none" strike="noStrike">
              <a:solidFill>
                <a:srgbClr val="000000"/>
              </a:solidFill>
              <a:latin typeface="Arial"/>
              <a:ea typeface="Arial"/>
              <a:cs typeface="Arial"/>
              <a:sym typeface="Arial"/>
            </a:endParaRPr>
          </a:p>
        </p:txBody>
      </p:sp>
      <p:sp>
        <p:nvSpPr>
          <p:cNvPr id="309" name="Google Shape;309;p65"/>
          <p:cNvSpPr txBox="1"/>
          <p:nvPr/>
        </p:nvSpPr>
        <p:spPr>
          <a:xfrm>
            <a:off x="942900" y="7244100"/>
            <a:ext cx="16402200" cy="2154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999"/>
              <a:buFont typeface="Arial"/>
              <a:buNone/>
            </a:pPr>
            <a:r>
              <a:rPr b="1" i="0" lang="en-US" sz="6999" u="none" cap="none" strike="noStrike">
                <a:solidFill>
                  <a:srgbClr val="D2C7FF"/>
                </a:solidFill>
                <a:latin typeface="Arial"/>
                <a:ea typeface="Arial"/>
                <a:cs typeface="Arial"/>
                <a:sym typeface="Arial"/>
              </a:rPr>
              <a:t>Am I choosing it – or does it feel like it is choosing for me?</a:t>
            </a:r>
            <a:endParaRPr b="0" i="0" sz="1400" u="none" cap="none" strike="noStrike">
              <a:solidFill>
                <a:srgbClr val="000000"/>
              </a:solidFill>
              <a:latin typeface="Arial"/>
              <a:ea typeface="Arial"/>
              <a:cs typeface="Arial"/>
              <a:sym typeface="Arial"/>
            </a:endParaRPr>
          </a:p>
        </p:txBody>
      </p:sp>
      <p:sp>
        <p:nvSpPr>
          <p:cNvPr id="310" name="Google Shape;310;p65"/>
          <p:cNvSpPr txBox="1"/>
          <p:nvPr/>
        </p:nvSpPr>
        <p:spPr>
          <a:xfrm>
            <a:off x="13597800" y="3488888"/>
            <a:ext cx="3747300" cy="846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Can I wait?</a:t>
            </a:r>
            <a:endParaRPr b="0" i="0" sz="1400" u="none" cap="none" strike="noStrike">
              <a:solidFill>
                <a:srgbClr val="000000"/>
              </a:solidFill>
              <a:latin typeface="Arial"/>
              <a:ea typeface="Arial"/>
              <a:cs typeface="Arial"/>
              <a:sym typeface="Arial"/>
            </a:endParaRPr>
          </a:p>
        </p:txBody>
      </p:sp>
      <p:sp>
        <p:nvSpPr>
          <p:cNvPr id="311" name="Google Shape;311;p65"/>
          <p:cNvSpPr txBox="1"/>
          <p:nvPr/>
        </p:nvSpPr>
        <p:spPr>
          <a:xfrm>
            <a:off x="9942600" y="4203088"/>
            <a:ext cx="7316700" cy="846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Can I change the plan?</a:t>
            </a:r>
            <a:endParaRPr b="0" i="0" sz="1400" u="none" cap="none" strike="noStrike">
              <a:solidFill>
                <a:srgbClr val="000000"/>
              </a:solidFill>
              <a:latin typeface="Arial"/>
              <a:ea typeface="Arial"/>
              <a:cs typeface="Arial"/>
              <a:sym typeface="Arial"/>
            </a:endParaRPr>
          </a:p>
        </p:txBody>
      </p:sp>
      <p:sp>
        <p:nvSpPr>
          <p:cNvPr id="312" name="Google Shape;312;p65"/>
          <p:cNvSpPr txBox="1"/>
          <p:nvPr/>
        </p:nvSpPr>
        <p:spPr>
          <a:xfrm>
            <a:off x="7729200" y="5049388"/>
            <a:ext cx="9615900" cy="846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Can I stop when I intended to?</a:t>
            </a:r>
            <a:endParaRPr b="0" i="0" sz="1400" u="none" cap="none" strike="noStrike">
              <a:solidFill>
                <a:srgbClr val="000000"/>
              </a:solidFill>
              <a:latin typeface="Arial"/>
              <a:ea typeface="Arial"/>
              <a:cs typeface="Arial"/>
              <a:sym typeface="Arial"/>
            </a:endParaRPr>
          </a:p>
        </p:txBody>
      </p:sp>
      <p:sp>
        <p:nvSpPr>
          <p:cNvPr id="313" name="Google Shape;313;p65"/>
          <p:cNvSpPr txBox="1"/>
          <p:nvPr/>
        </p:nvSpPr>
        <p:spPr>
          <a:xfrm>
            <a:off x="1602900" y="5895688"/>
            <a:ext cx="15742200" cy="846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Do I keep making rules – and then breaking them?</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2"/>
        </a:solidFill>
      </p:bgPr>
    </p:bg>
    <p:spTree>
      <p:nvGrpSpPr>
        <p:cNvPr id="317" name="Shape 317"/>
        <p:cNvGrpSpPr/>
        <p:nvPr/>
      </p:nvGrpSpPr>
      <p:grpSpPr>
        <a:xfrm>
          <a:off x="0" y="0"/>
          <a:ext cx="0" cy="0"/>
          <a:chOff x="0" y="0"/>
          <a:chExt cx="0" cy="0"/>
        </a:xfrm>
      </p:grpSpPr>
      <p:sp>
        <p:nvSpPr>
          <p:cNvPr id="318" name="Google Shape;318;p68"/>
          <p:cNvSpPr/>
          <p:nvPr/>
        </p:nvSpPr>
        <p:spPr>
          <a:xfrm>
            <a:off x="-3330987" y="-3536418"/>
            <a:ext cx="8719375" cy="9130235"/>
          </a:xfrm>
          <a:custGeom>
            <a:rect b="b" l="l" r="r" t="t"/>
            <a:pathLst>
              <a:path extrusionOk="0" h="9130235" w="8719375">
                <a:moveTo>
                  <a:pt x="0" y="0"/>
                </a:moveTo>
                <a:lnTo>
                  <a:pt x="8719374" y="0"/>
                </a:lnTo>
                <a:lnTo>
                  <a:pt x="8719374"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68"/>
          <p:cNvSpPr txBox="1"/>
          <p:nvPr/>
        </p:nvSpPr>
        <p:spPr>
          <a:xfrm>
            <a:off x="10133025" y="431735"/>
            <a:ext cx="7126275" cy="1797601"/>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45"/>
              <a:buFont typeface="Arial"/>
              <a:buNone/>
            </a:pPr>
            <a:r>
              <a:rPr b="1" i="0" lang="en-US" sz="10545" u="none" cap="none" strike="noStrike">
                <a:solidFill>
                  <a:srgbClr val="EDFFDC"/>
                </a:solidFill>
                <a:latin typeface="Arial"/>
                <a:ea typeface="Arial"/>
                <a:cs typeface="Arial"/>
                <a:sym typeface="Arial"/>
              </a:rPr>
              <a:t>Focus</a:t>
            </a:r>
            <a:endParaRPr b="0" i="0" sz="1400" u="none" cap="none" strike="noStrike">
              <a:solidFill>
                <a:srgbClr val="000000"/>
              </a:solidFill>
              <a:latin typeface="Arial"/>
              <a:ea typeface="Arial"/>
              <a:cs typeface="Arial"/>
              <a:sym typeface="Arial"/>
            </a:endParaRPr>
          </a:p>
        </p:txBody>
      </p:sp>
      <p:sp>
        <p:nvSpPr>
          <p:cNvPr id="320" name="Google Shape;320;p68"/>
          <p:cNvSpPr txBox="1"/>
          <p:nvPr/>
        </p:nvSpPr>
        <p:spPr>
          <a:xfrm>
            <a:off x="1072025" y="1099663"/>
            <a:ext cx="64137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EDFFDC"/>
                </a:solidFill>
                <a:latin typeface="Arial"/>
                <a:ea typeface="Arial"/>
                <a:cs typeface="Arial"/>
                <a:sym typeface="Arial"/>
              </a:rPr>
              <a:t>Reflection tool – not a diagnostic test.</a:t>
            </a:r>
            <a:endParaRPr b="0" i="0" sz="1400" u="none" cap="none" strike="noStrike">
              <a:solidFill>
                <a:srgbClr val="000000"/>
              </a:solidFill>
              <a:latin typeface="Arial"/>
              <a:ea typeface="Arial"/>
              <a:cs typeface="Arial"/>
              <a:sym typeface="Arial"/>
            </a:endParaRPr>
          </a:p>
        </p:txBody>
      </p:sp>
      <p:sp>
        <p:nvSpPr>
          <p:cNvPr id="321" name="Google Shape;321;p68"/>
          <p:cNvSpPr txBox="1"/>
          <p:nvPr/>
        </p:nvSpPr>
        <p:spPr>
          <a:xfrm>
            <a:off x="7132875" y="1899850"/>
            <a:ext cx="102381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How much space is it taking up?</a:t>
            </a:r>
            <a:endParaRPr b="0" i="0" sz="1400" u="none" cap="none" strike="noStrike">
              <a:solidFill>
                <a:srgbClr val="000000"/>
              </a:solidFill>
              <a:latin typeface="Arial"/>
              <a:ea typeface="Arial"/>
              <a:cs typeface="Arial"/>
              <a:sym typeface="Arial"/>
            </a:endParaRPr>
          </a:p>
        </p:txBody>
      </p:sp>
      <p:sp>
        <p:nvSpPr>
          <p:cNvPr id="322" name="Google Shape;322;p68"/>
          <p:cNvSpPr txBox="1"/>
          <p:nvPr/>
        </p:nvSpPr>
        <p:spPr>
          <a:xfrm>
            <a:off x="4137550" y="7351325"/>
            <a:ext cx="13121700" cy="1077300"/>
          </a:xfrm>
          <a:prstGeom prst="rect">
            <a:avLst/>
          </a:prstGeom>
          <a:noFill/>
          <a:ln>
            <a:noFill/>
          </a:ln>
        </p:spPr>
        <p:txBody>
          <a:bodyPr anchorCtr="0" anchor="t" bIns="0" lIns="0" spcFirstLastPara="1" rIns="0" wrap="square" tIns="0">
            <a:spAutoFit/>
          </a:bodyPr>
          <a:lstStyle/>
          <a:p>
            <a:pPr indent="0" lvl="0" marL="0" marR="0" rtl="0" algn="r">
              <a:lnSpc>
                <a:spcPct val="140005"/>
              </a:lnSpc>
              <a:spcBef>
                <a:spcPts val="0"/>
              </a:spcBef>
              <a:spcAft>
                <a:spcPts val="0"/>
              </a:spcAft>
              <a:buClr>
                <a:srgbClr val="000000"/>
              </a:buClr>
              <a:buSzPts val="6999"/>
              <a:buFont typeface="Arial"/>
              <a:buNone/>
            </a:pPr>
            <a:r>
              <a:rPr b="1" i="0" lang="en-US" sz="6999" u="none" cap="none" strike="noStrike">
                <a:solidFill>
                  <a:srgbClr val="D2C7FF"/>
                </a:solidFill>
                <a:latin typeface="Arial"/>
                <a:ea typeface="Arial"/>
                <a:cs typeface="Arial"/>
                <a:sym typeface="Arial"/>
              </a:rPr>
              <a:t>What is getting pushed aside?</a:t>
            </a:r>
            <a:endParaRPr b="0" i="0" sz="1400" u="none" cap="none" strike="noStrike">
              <a:solidFill>
                <a:srgbClr val="000000"/>
              </a:solidFill>
              <a:latin typeface="Arial"/>
              <a:ea typeface="Arial"/>
              <a:cs typeface="Arial"/>
              <a:sym typeface="Arial"/>
            </a:endParaRPr>
          </a:p>
        </p:txBody>
      </p:sp>
      <p:sp>
        <p:nvSpPr>
          <p:cNvPr id="323" name="Google Shape;323;p68"/>
          <p:cNvSpPr txBox="1"/>
          <p:nvPr/>
        </p:nvSpPr>
        <p:spPr>
          <a:xfrm>
            <a:off x="10133025" y="5213475"/>
            <a:ext cx="30441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Thoughts</a:t>
            </a:r>
            <a:endParaRPr b="0" i="0" sz="1400" u="none" cap="none" strike="noStrike">
              <a:solidFill>
                <a:srgbClr val="000000"/>
              </a:solidFill>
              <a:latin typeface="Arial"/>
              <a:ea typeface="Arial"/>
              <a:cs typeface="Arial"/>
              <a:sym typeface="Arial"/>
            </a:endParaRPr>
          </a:p>
        </p:txBody>
      </p:sp>
      <p:sp>
        <p:nvSpPr>
          <p:cNvPr id="324" name="Google Shape;324;p68"/>
          <p:cNvSpPr txBox="1"/>
          <p:nvPr/>
        </p:nvSpPr>
        <p:spPr>
          <a:xfrm>
            <a:off x="11420624" y="4367175"/>
            <a:ext cx="16626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Time</a:t>
            </a:r>
            <a:endParaRPr b="0" i="0" sz="1400" u="none" cap="none" strike="noStrike">
              <a:solidFill>
                <a:srgbClr val="000000"/>
              </a:solidFill>
              <a:latin typeface="Arial"/>
              <a:ea typeface="Arial"/>
              <a:cs typeface="Arial"/>
              <a:sym typeface="Arial"/>
            </a:endParaRPr>
          </a:p>
        </p:txBody>
      </p:sp>
      <p:sp>
        <p:nvSpPr>
          <p:cNvPr id="325" name="Google Shape;325;p68"/>
          <p:cNvSpPr txBox="1"/>
          <p:nvPr/>
        </p:nvSpPr>
        <p:spPr>
          <a:xfrm>
            <a:off x="14511675" y="5594463"/>
            <a:ext cx="28593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Planning</a:t>
            </a:r>
            <a:endParaRPr b="0" i="0" sz="1400" u="none" cap="none" strike="noStrike">
              <a:solidFill>
                <a:srgbClr val="000000"/>
              </a:solidFill>
              <a:latin typeface="Arial"/>
              <a:ea typeface="Arial"/>
              <a:cs typeface="Arial"/>
              <a:sym typeface="Arial"/>
            </a:endParaRPr>
          </a:p>
        </p:txBody>
      </p:sp>
      <p:sp>
        <p:nvSpPr>
          <p:cNvPr id="326" name="Google Shape;326;p68"/>
          <p:cNvSpPr txBox="1"/>
          <p:nvPr/>
        </p:nvSpPr>
        <p:spPr>
          <a:xfrm>
            <a:off x="15107095" y="4720349"/>
            <a:ext cx="21522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Money</a:t>
            </a:r>
            <a:endParaRPr b="0" i="0" sz="1400" u="none" cap="none" strike="noStrike">
              <a:solidFill>
                <a:srgbClr val="000000"/>
              </a:solidFill>
              <a:latin typeface="Arial"/>
              <a:ea typeface="Arial"/>
              <a:cs typeface="Arial"/>
              <a:sym typeface="Arial"/>
            </a:endParaRPr>
          </a:p>
        </p:txBody>
      </p:sp>
      <p:sp>
        <p:nvSpPr>
          <p:cNvPr id="327" name="Google Shape;327;p68"/>
          <p:cNvSpPr txBox="1"/>
          <p:nvPr/>
        </p:nvSpPr>
        <p:spPr>
          <a:xfrm>
            <a:off x="14215200" y="3837600"/>
            <a:ext cx="30441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Priorities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2"/>
        </a:solidFill>
      </p:bgPr>
    </p:bg>
    <p:spTree>
      <p:nvGrpSpPr>
        <p:cNvPr id="331" name="Shape 331"/>
        <p:cNvGrpSpPr/>
        <p:nvPr/>
      </p:nvGrpSpPr>
      <p:grpSpPr>
        <a:xfrm>
          <a:off x="0" y="0"/>
          <a:ext cx="0" cy="0"/>
          <a:chOff x="0" y="0"/>
          <a:chExt cx="0" cy="0"/>
        </a:xfrm>
      </p:grpSpPr>
      <p:sp>
        <p:nvSpPr>
          <p:cNvPr id="332" name="Google Shape;332;p71"/>
          <p:cNvSpPr/>
          <p:nvPr/>
        </p:nvSpPr>
        <p:spPr>
          <a:xfrm>
            <a:off x="-3330987" y="-3536418"/>
            <a:ext cx="8719375" cy="9130235"/>
          </a:xfrm>
          <a:custGeom>
            <a:rect b="b" l="l" r="r" t="t"/>
            <a:pathLst>
              <a:path extrusionOk="0" h="9130235" w="8719375">
                <a:moveTo>
                  <a:pt x="0" y="0"/>
                </a:moveTo>
                <a:lnTo>
                  <a:pt x="8719374" y="0"/>
                </a:lnTo>
                <a:lnTo>
                  <a:pt x="8719374"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71"/>
          <p:cNvSpPr txBox="1"/>
          <p:nvPr/>
        </p:nvSpPr>
        <p:spPr>
          <a:xfrm>
            <a:off x="10133025" y="431735"/>
            <a:ext cx="7126275" cy="1797601"/>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0545"/>
              <a:buFont typeface="Arial"/>
              <a:buNone/>
            </a:pPr>
            <a:r>
              <a:rPr b="1" i="0" lang="en-US" sz="10545" u="none" cap="none" strike="noStrike">
                <a:solidFill>
                  <a:srgbClr val="EDFFDC"/>
                </a:solidFill>
                <a:latin typeface="Arial"/>
                <a:ea typeface="Arial"/>
                <a:cs typeface="Arial"/>
                <a:sym typeface="Arial"/>
              </a:rPr>
              <a:t>Fallout</a:t>
            </a:r>
            <a:endParaRPr b="0" i="0" sz="1400" u="none" cap="none" strike="noStrike">
              <a:solidFill>
                <a:srgbClr val="000000"/>
              </a:solidFill>
              <a:latin typeface="Arial"/>
              <a:ea typeface="Arial"/>
              <a:cs typeface="Arial"/>
              <a:sym typeface="Arial"/>
            </a:endParaRPr>
          </a:p>
        </p:txBody>
      </p:sp>
      <p:sp>
        <p:nvSpPr>
          <p:cNvPr id="334" name="Google Shape;334;p71"/>
          <p:cNvSpPr txBox="1"/>
          <p:nvPr/>
        </p:nvSpPr>
        <p:spPr>
          <a:xfrm>
            <a:off x="1031675" y="1099663"/>
            <a:ext cx="64137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EDFFDC"/>
                </a:solidFill>
                <a:latin typeface="Arial"/>
                <a:ea typeface="Arial"/>
                <a:cs typeface="Arial"/>
                <a:sym typeface="Arial"/>
              </a:rPr>
              <a:t>Reflection tool – not a diagnostic test.</a:t>
            </a:r>
            <a:endParaRPr b="0" i="0" sz="1400" u="none" cap="none" strike="noStrike">
              <a:solidFill>
                <a:srgbClr val="000000"/>
              </a:solidFill>
              <a:latin typeface="Arial"/>
              <a:ea typeface="Arial"/>
              <a:cs typeface="Arial"/>
              <a:sym typeface="Arial"/>
            </a:endParaRPr>
          </a:p>
        </p:txBody>
      </p:sp>
      <p:sp>
        <p:nvSpPr>
          <p:cNvPr id="335" name="Google Shape;335;p71"/>
          <p:cNvSpPr txBox="1"/>
          <p:nvPr/>
        </p:nvSpPr>
        <p:spPr>
          <a:xfrm>
            <a:off x="7445374" y="1899839"/>
            <a:ext cx="9925546" cy="936626"/>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What is it costing me?</a:t>
            </a:r>
            <a:endParaRPr b="0" i="0" sz="1400" u="none" cap="none" strike="noStrike">
              <a:solidFill>
                <a:srgbClr val="000000"/>
              </a:solidFill>
              <a:latin typeface="Arial"/>
              <a:ea typeface="Arial"/>
              <a:cs typeface="Arial"/>
              <a:sym typeface="Arial"/>
            </a:endParaRPr>
          </a:p>
        </p:txBody>
      </p:sp>
      <p:sp>
        <p:nvSpPr>
          <p:cNvPr id="336" name="Google Shape;336;p71"/>
          <p:cNvSpPr txBox="1"/>
          <p:nvPr/>
        </p:nvSpPr>
        <p:spPr>
          <a:xfrm>
            <a:off x="1140476" y="7245925"/>
            <a:ext cx="16230600" cy="21546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6999"/>
              <a:buFont typeface="Arial"/>
              <a:buNone/>
            </a:pPr>
            <a:r>
              <a:rPr b="1" i="0" lang="en-US" sz="6999" u="none" cap="none" strike="noStrike">
                <a:solidFill>
                  <a:srgbClr val="D2C7FF"/>
                </a:solidFill>
                <a:latin typeface="Arial"/>
                <a:ea typeface="Arial"/>
                <a:cs typeface="Arial"/>
                <a:sym typeface="Arial"/>
              </a:rPr>
              <a:t>Am I continuing even though I can see the cost?</a:t>
            </a:r>
            <a:endParaRPr b="0" i="0" sz="1400" u="none" cap="none" strike="noStrike">
              <a:solidFill>
                <a:srgbClr val="000000"/>
              </a:solidFill>
              <a:latin typeface="Arial"/>
              <a:ea typeface="Arial"/>
              <a:cs typeface="Arial"/>
              <a:sym typeface="Arial"/>
            </a:endParaRPr>
          </a:p>
        </p:txBody>
      </p:sp>
      <p:sp>
        <p:nvSpPr>
          <p:cNvPr id="337" name="Google Shape;337;p71"/>
          <p:cNvSpPr txBox="1"/>
          <p:nvPr/>
        </p:nvSpPr>
        <p:spPr>
          <a:xfrm>
            <a:off x="13138675" y="3837600"/>
            <a:ext cx="42324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Relationships</a:t>
            </a:r>
            <a:endParaRPr b="0" i="0" sz="1400" u="none" cap="none" strike="noStrike">
              <a:solidFill>
                <a:srgbClr val="000000"/>
              </a:solidFill>
              <a:latin typeface="Arial"/>
              <a:ea typeface="Arial"/>
              <a:cs typeface="Arial"/>
              <a:sym typeface="Arial"/>
            </a:endParaRPr>
          </a:p>
        </p:txBody>
      </p:sp>
      <p:sp>
        <p:nvSpPr>
          <p:cNvPr id="338" name="Google Shape;338;p71"/>
          <p:cNvSpPr txBox="1"/>
          <p:nvPr/>
        </p:nvSpPr>
        <p:spPr>
          <a:xfrm>
            <a:off x="7368550" y="3837600"/>
            <a:ext cx="21006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Money</a:t>
            </a:r>
            <a:endParaRPr b="0" i="0" sz="1400" u="none" cap="none" strike="noStrike">
              <a:solidFill>
                <a:srgbClr val="000000"/>
              </a:solidFill>
              <a:latin typeface="Arial"/>
              <a:ea typeface="Arial"/>
              <a:cs typeface="Arial"/>
              <a:sym typeface="Arial"/>
            </a:endParaRPr>
          </a:p>
        </p:txBody>
      </p:sp>
      <p:sp>
        <p:nvSpPr>
          <p:cNvPr id="339" name="Google Shape;339;p71"/>
          <p:cNvSpPr txBox="1"/>
          <p:nvPr/>
        </p:nvSpPr>
        <p:spPr>
          <a:xfrm>
            <a:off x="10307439" y="3837611"/>
            <a:ext cx="21006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Health</a:t>
            </a:r>
            <a:endParaRPr b="0" i="0" sz="1400" u="none" cap="none" strike="noStrike">
              <a:solidFill>
                <a:srgbClr val="000000"/>
              </a:solidFill>
              <a:latin typeface="Arial"/>
              <a:ea typeface="Arial"/>
              <a:cs typeface="Arial"/>
              <a:sym typeface="Arial"/>
            </a:endParaRPr>
          </a:p>
        </p:txBody>
      </p:sp>
      <p:sp>
        <p:nvSpPr>
          <p:cNvPr id="340" name="Google Shape;340;p71"/>
          <p:cNvSpPr txBox="1"/>
          <p:nvPr/>
        </p:nvSpPr>
        <p:spPr>
          <a:xfrm>
            <a:off x="4898919" y="3837611"/>
            <a:ext cx="17268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Work</a:t>
            </a:r>
            <a:endParaRPr b="0" i="0" sz="1400" u="none" cap="none" strike="noStrike">
              <a:solidFill>
                <a:srgbClr val="000000"/>
              </a:solidFill>
              <a:latin typeface="Arial"/>
              <a:ea typeface="Arial"/>
              <a:cs typeface="Arial"/>
              <a:sym typeface="Arial"/>
            </a:endParaRPr>
          </a:p>
        </p:txBody>
      </p:sp>
      <p:sp>
        <p:nvSpPr>
          <p:cNvPr id="341" name="Google Shape;341;p71"/>
          <p:cNvSpPr txBox="1"/>
          <p:nvPr/>
        </p:nvSpPr>
        <p:spPr>
          <a:xfrm>
            <a:off x="12408150" y="5073125"/>
            <a:ext cx="49629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Responsibilities</a:t>
            </a:r>
            <a:endParaRPr b="0" i="0" sz="1400" u="none" cap="none" strike="noStrike">
              <a:solidFill>
                <a:srgbClr val="000000"/>
              </a:solidFill>
              <a:latin typeface="Arial"/>
              <a:ea typeface="Arial"/>
              <a:cs typeface="Arial"/>
              <a:sym typeface="Arial"/>
            </a:endParaRPr>
          </a:p>
        </p:txBody>
      </p:sp>
      <p:sp>
        <p:nvSpPr>
          <p:cNvPr id="342" name="Google Shape;342;p71"/>
          <p:cNvSpPr txBox="1"/>
          <p:nvPr/>
        </p:nvSpPr>
        <p:spPr>
          <a:xfrm>
            <a:off x="5738325" y="5073125"/>
            <a:ext cx="23199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Values</a:t>
            </a:r>
            <a:endParaRPr b="0" i="0" sz="1400" u="none" cap="none" strike="noStrike">
              <a:solidFill>
                <a:srgbClr val="000000"/>
              </a:solidFill>
              <a:latin typeface="Arial"/>
              <a:ea typeface="Arial"/>
              <a:cs typeface="Arial"/>
              <a:sym typeface="Arial"/>
            </a:endParaRPr>
          </a:p>
        </p:txBody>
      </p:sp>
      <p:sp>
        <p:nvSpPr>
          <p:cNvPr id="343" name="Google Shape;343;p71"/>
          <p:cNvSpPr txBox="1"/>
          <p:nvPr/>
        </p:nvSpPr>
        <p:spPr>
          <a:xfrm>
            <a:off x="8624975" y="5073125"/>
            <a:ext cx="3093600" cy="846300"/>
          </a:xfrm>
          <a:prstGeom prst="rect">
            <a:avLst/>
          </a:prstGeom>
          <a:noFill/>
          <a:ln>
            <a:noFill/>
          </a:ln>
        </p:spPr>
        <p:txBody>
          <a:bodyPr anchorCtr="0" anchor="t" bIns="0" lIns="0" spcFirstLastPara="1" rIns="0" wrap="square" tIns="0">
            <a:spAutoFit/>
          </a:bodyPr>
          <a:lstStyle/>
          <a:p>
            <a:pPr indent="0" lvl="0" marL="0" marR="0" rtl="0" algn="r">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Recovery</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347" name="Shape 347"/>
        <p:cNvGrpSpPr/>
        <p:nvPr/>
      </p:nvGrpSpPr>
      <p:grpSpPr>
        <a:xfrm>
          <a:off x="0" y="0"/>
          <a:ext cx="0" cy="0"/>
          <a:chOff x="0" y="0"/>
          <a:chExt cx="0" cy="0"/>
        </a:xfrm>
      </p:grpSpPr>
      <p:sp>
        <p:nvSpPr>
          <p:cNvPr id="348" name="Google Shape;348;p79"/>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79"/>
          <p:cNvSpPr txBox="1"/>
          <p:nvPr/>
        </p:nvSpPr>
        <p:spPr>
          <a:xfrm>
            <a:off x="1028700" y="1065299"/>
            <a:ext cx="16230600" cy="1308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500" u="none" cap="none" strike="noStrike">
                <a:solidFill>
                  <a:srgbClr val="34373B"/>
                </a:solidFill>
                <a:latin typeface="Arial"/>
                <a:ea typeface="Arial"/>
                <a:cs typeface="Arial"/>
                <a:sym typeface="Arial"/>
              </a:rPr>
              <a:t>Meet Tim</a:t>
            </a:r>
            <a:endParaRPr b="0" i="0" sz="8500" u="none" cap="none" strike="noStrike">
              <a:solidFill>
                <a:srgbClr val="000000"/>
              </a:solidFill>
              <a:latin typeface="Arial"/>
              <a:ea typeface="Arial"/>
              <a:cs typeface="Arial"/>
              <a:sym typeface="Arial"/>
            </a:endParaRPr>
          </a:p>
        </p:txBody>
      </p:sp>
      <p:sp>
        <p:nvSpPr>
          <p:cNvPr id="350" name="Google Shape;350;p79"/>
          <p:cNvSpPr txBox="1"/>
          <p:nvPr/>
        </p:nvSpPr>
        <p:spPr>
          <a:xfrm>
            <a:off x="1028700" y="2706600"/>
            <a:ext cx="142269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
              </a:spcBef>
              <a:spcAft>
                <a:spcPts val="0"/>
              </a:spcAft>
              <a:buClr>
                <a:srgbClr val="000000"/>
              </a:buClr>
              <a:buSzPts val="5499"/>
              <a:buFont typeface="Arial"/>
              <a:buNone/>
            </a:pPr>
            <a:r>
              <a:rPr b="0" i="0" lang="en-US" sz="5500" u="none" cap="none" strike="noStrike">
                <a:solidFill>
                  <a:srgbClr val="34373B"/>
                </a:solidFill>
                <a:latin typeface="Arial"/>
                <a:ea typeface="Arial"/>
                <a:cs typeface="Arial"/>
                <a:sym typeface="Arial"/>
              </a:rPr>
              <a:t>Tim has been sober for a little over 30 days.</a:t>
            </a:r>
            <a:endParaRPr b="0" i="0" sz="5500" u="none" cap="none" strike="noStrike">
              <a:solidFill>
                <a:srgbClr val="000000"/>
              </a:solidFill>
              <a:latin typeface="Arial"/>
              <a:ea typeface="Arial"/>
              <a:cs typeface="Arial"/>
              <a:sym typeface="Arial"/>
            </a:endParaRPr>
          </a:p>
        </p:txBody>
      </p:sp>
      <p:sp>
        <p:nvSpPr>
          <p:cNvPr id="351" name="Google Shape;351;p79"/>
          <p:cNvSpPr txBox="1"/>
          <p:nvPr/>
        </p:nvSpPr>
        <p:spPr>
          <a:xfrm>
            <a:off x="1028700" y="3643225"/>
            <a:ext cx="151716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
              </a:spcBef>
              <a:spcAft>
                <a:spcPts val="0"/>
              </a:spcAft>
              <a:buClr>
                <a:srgbClr val="000000"/>
              </a:buClr>
              <a:buSzPts val="5499"/>
              <a:buFont typeface="Arial"/>
              <a:buNone/>
            </a:pPr>
            <a:r>
              <a:rPr b="0" i="0" lang="en-US" sz="5500" u="none" cap="none" strike="noStrike">
                <a:solidFill>
                  <a:srgbClr val="34373B"/>
                </a:solidFill>
                <a:latin typeface="Arial"/>
                <a:ea typeface="Arial"/>
                <a:cs typeface="Arial"/>
                <a:sym typeface="Arial"/>
              </a:rPr>
              <a:t>He’s doing well in IOP and attending meetings.</a:t>
            </a:r>
            <a:endParaRPr b="0" i="0" sz="5500" u="none" cap="none" strike="noStrike">
              <a:solidFill>
                <a:srgbClr val="000000"/>
              </a:solidFill>
              <a:latin typeface="Arial"/>
              <a:ea typeface="Arial"/>
              <a:cs typeface="Arial"/>
              <a:sym typeface="Arial"/>
            </a:endParaRPr>
          </a:p>
        </p:txBody>
      </p:sp>
      <p:sp>
        <p:nvSpPr>
          <p:cNvPr id="352" name="Google Shape;352;p79"/>
          <p:cNvSpPr txBox="1"/>
          <p:nvPr/>
        </p:nvSpPr>
        <p:spPr>
          <a:xfrm>
            <a:off x="1028700" y="4579863"/>
            <a:ext cx="166935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
              </a:spcBef>
              <a:spcAft>
                <a:spcPts val="0"/>
              </a:spcAft>
              <a:buClr>
                <a:srgbClr val="000000"/>
              </a:buClr>
              <a:buSzPts val="5499"/>
              <a:buFont typeface="Arial"/>
              <a:buNone/>
            </a:pPr>
            <a:r>
              <a:rPr b="0" i="0" lang="en-US" sz="5500" u="none" cap="none" strike="noStrike">
                <a:solidFill>
                  <a:srgbClr val="34373B"/>
                </a:solidFill>
                <a:latin typeface="Arial"/>
                <a:ea typeface="Arial"/>
                <a:cs typeface="Arial"/>
                <a:sym typeface="Arial"/>
              </a:rPr>
              <a:t>He starts a relationship with someone from his group.</a:t>
            </a:r>
            <a:endParaRPr b="0" i="0" sz="5500" u="none" cap="none" strike="noStrike">
              <a:solidFill>
                <a:srgbClr val="000000"/>
              </a:solidFill>
              <a:latin typeface="Arial"/>
              <a:ea typeface="Arial"/>
              <a:cs typeface="Arial"/>
              <a:sym typeface="Arial"/>
            </a:endParaRPr>
          </a:p>
        </p:txBody>
      </p:sp>
      <p:sp>
        <p:nvSpPr>
          <p:cNvPr id="353" name="Google Shape;353;p79"/>
          <p:cNvSpPr txBox="1"/>
          <p:nvPr/>
        </p:nvSpPr>
        <p:spPr>
          <a:xfrm>
            <a:off x="1028700" y="5516513"/>
            <a:ext cx="115500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
              </a:spcBef>
              <a:spcAft>
                <a:spcPts val="0"/>
              </a:spcAft>
              <a:buClr>
                <a:srgbClr val="000000"/>
              </a:buClr>
              <a:buSzPts val="5499"/>
              <a:buFont typeface="Arial"/>
              <a:buNone/>
            </a:pPr>
            <a:r>
              <a:rPr b="0" i="0" lang="en-US" sz="5500" u="none" cap="none" strike="noStrike">
                <a:solidFill>
                  <a:srgbClr val="34373B"/>
                </a:solidFill>
                <a:latin typeface="Arial"/>
                <a:ea typeface="Arial"/>
                <a:cs typeface="Arial"/>
                <a:sym typeface="Arial"/>
              </a:rPr>
              <a:t>Meetings start becoming hookups.</a:t>
            </a:r>
            <a:endParaRPr b="0" i="0" sz="5500" u="none" cap="none" strike="noStrike">
              <a:solidFill>
                <a:srgbClr val="000000"/>
              </a:solidFill>
              <a:latin typeface="Arial"/>
              <a:ea typeface="Arial"/>
              <a:cs typeface="Arial"/>
              <a:sym typeface="Arial"/>
            </a:endParaRPr>
          </a:p>
        </p:txBody>
      </p:sp>
      <p:sp>
        <p:nvSpPr>
          <p:cNvPr id="354" name="Google Shape;354;p79"/>
          <p:cNvSpPr txBox="1"/>
          <p:nvPr/>
        </p:nvSpPr>
        <p:spPr>
          <a:xfrm>
            <a:off x="1028700" y="6453163"/>
            <a:ext cx="134922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
              </a:spcBef>
              <a:spcAft>
                <a:spcPts val="0"/>
              </a:spcAft>
              <a:buClr>
                <a:srgbClr val="000000"/>
              </a:buClr>
              <a:buSzPts val="5499"/>
              <a:buFont typeface="Arial"/>
              <a:buNone/>
            </a:pPr>
            <a:r>
              <a:rPr b="0" i="0" lang="en-US" sz="5500" u="none" cap="none" strike="noStrike">
                <a:solidFill>
                  <a:srgbClr val="34373B"/>
                </a:solidFill>
                <a:latin typeface="Arial"/>
                <a:ea typeface="Arial"/>
                <a:cs typeface="Arial"/>
                <a:sym typeface="Arial"/>
              </a:rPr>
              <a:t>He begins keeping the relationship secret.</a:t>
            </a:r>
            <a:endParaRPr b="0" i="0" sz="5500" u="none" cap="none" strike="noStrike">
              <a:solidFill>
                <a:srgbClr val="000000"/>
              </a:solidFill>
              <a:latin typeface="Arial"/>
              <a:ea typeface="Arial"/>
              <a:cs typeface="Arial"/>
              <a:sym typeface="Arial"/>
            </a:endParaRPr>
          </a:p>
        </p:txBody>
      </p:sp>
      <p:sp>
        <p:nvSpPr>
          <p:cNvPr id="355" name="Google Shape;355;p79"/>
          <p:cNvSpPr txBox="1"/>
          <p:nvPr/>
        </p:nvSpPr>
        <p:spPr>
          <a:xfrm>
            <a:off x="1028700" y="7389825"/>
            <a:ext cx="112353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
              </a:spcBef>
              <a:spcAft>
                <a:spcPts val="0"/>
              </a:spcAft>
              <a:buClr>
                <a:srgbClr val="000000"/>
              </a:buClr>
              <a:buSzPts val="5499"/>
              <a:buFont typeface="Arial"/>
              <a:buNone/>
            </a:pPr>
            <a:r>
              <a:rPr b="0" i="0" lang="en-US" sz="5500" u="none" cap="none" strike="noStrike">
                <a:solidFill>
                  <a:srgbClr val="34373B"/>
                </a:solidFill>
                <a:latin typeface="Arial"/>
                <a:ea typeface="Arial"/>
                <a:cs typeface="Arial"/>
                <a:sym typeface="Arial"/>
              </a:rPr>
              <a:t>He thinks, “At least I’m still clean.”</a:t>
            </a:r>
            <a:endParaRPr b="0" i="0" sz="5500" u="none" cap="none" strike="noStrike">
              <a:solidFill>
                <a:srgbClr val="000000"/>
              </a:solidFill>
              <a:latin typeface="Arial"/>
              <a:ea typeface="Arial"/>
              <a:cs typeface="Arial"/>
              <a:sym typeface="Arial"/>
            </a:endParaRPr>
          </a:p>
        </p:txBody>
      </p:sp>
      <p:sp>
        <p:nvSpPr>
          <p:cNvPr id="356" name="Google Shape;356;p79"/>
          <p:cNvSpPr txBox="1"/>
          <p:nvPr/>
        </p:nvSpPr>
        <p:spPr>
          <a:xfrm>
            <a:off x="1028700" y="8326475"/>
            <a:ext cx="93195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50"/>
              </a:spcBef>
              <a:spcAft>
                <a:spcPts val="0"/>
              </a:spcAft>
              <a:buClr>
                <a:srgbClr val="000000"/>
              </a:buClr>
              <a:buSzPts val="5499"/>
              <a:buFont typeface="Arial"/>
              <a:buNone/>
            </a:pPr>
            <a:r>
              <a:rPr b="0" i="0" lang="en-US" sz="5500" u="none" cap="none" strike="noStrike">
                <a:solidFill>
                  <a:srgbClr val="34373B"/>
                </a:solidFill>
                <a:latin typeface="Arial"/>
                <a:ea typeface="Arial"/>
                <a:cs typeface="Arial"/>
                <a:sym typeface="Arial"/>
              </a:rPr>
              <a:t>Then he starts missing IOP.</a:t>
            </a:r>
            <a:endParaRPr b="0" i="0" sz="55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360" name="Shape 360"/>
        <p:cNvGrpSpPr/>
        <p:nvPr/>
      </p:nvGrpSpPr>
      <p:grpSpPr>
        <a:xfrm>
          <a:off x="0" y="0"/>
          <a:ext cx="0" cy="0"/>
          <a:chOff x="0" y="0"/>
          <a:chExt cx="0" cy="0"/>
        </a:xfrm>
      </p:grpSpPr>
      <p:sp>
        <p:nvSpPr>
          <p:cNvPr id="361" name="Google Shape;361;p81"/>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81"/>
          <p:cNvSpPr txBox="1"/>
          <p:nvPr/>
        </p:nvSpPr>
        <p:spPr>
          <a:xfrm>
            <a:off x="1028700" y="1065299"/>
            <a:ext cx="16230600" cy="1409018"/>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34373B"/>
                </a:solidFill>
                <a:latin typeface="Arial"/>
                <a:ea typeface="Arial"/>
                <a:cs typeface="Arial"/>
                <a:sym typeface="Arial"/>
              </a:rPr>
              <a:t>Tim</a:t>
            </a:r>
            <a:endParaRPr b="0" i="0" sz="1400" u="none" cap="none" strike="noStrike">
              <a:solidFill>
                <a:srgbClr val="000000"/>
              </a:solidFill>
              <a:latin typeface="Arial"/>
              <a:ea typeface="Arial"/>
              <a:cs typeface="Arial"/>
              <a:sym typeface="Arial"/>
            </a:endParaRPr>
          </a:p>
        </p:txBody>
      </p:sp>
      <p:sp>
        <p:nvSpPr>
          <p:cNvPr id="363" name="Google Shape;363;p81"/>
          <p:cNvSpPr txBox="1"/>
          <p:nvPr/>
        </p:nvSpPr>
        <p:spPr>
          <a:xfrm>
            <a:off x="1028700" y="3128050"/>
            <a:ext cx="13005900" cy="14553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Clr>
                <a:srgbClr val="000000"/>
              </a:buClr>
              <a:buSzPts val="9454"/>
              <a:buFont typeface="Arial"/>
              <a:buNone/>
            </a:pPr>
            <a:r>
              <a:rPr b="1" i="0" lang="en-US" sz="9454" u="none" cap="none" strike="noStrike">
                <a:solidFill>
                  <a:srgbClr val="34373B"/>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sp>
        <p:nvSpPr>
          <p:cNvPr id="364" name="Google Shape;364;p81"/>
          <p:cNvSpPr txBox="1"/>
          <p:nvPr/>
        </p:nvSpPr>
        <p:spPr>
          <a:xfrm>
            <a:off x="2475526" y="8185700"/>
            <a:ext cx="113013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500"/>
              <a:buFont typeface="Arial"/>
              <a:buNone/>
            </a:pPr>
            <a:r>
              <a:rPr b="1" i="0" lang="en-US" sz="4500" u="none" cap="none" strike="noStrike">
                <a:solidFill>
                  <a:srgbClr val="69418B"/>
                </a:solidFill>
                <a:latin typeface="Arial"/>
                <a:ea typeface="Arial"/>
                <a:cs typeface="Arial"/>
                <a:sym typeface="Arial"/>
              </a:rPr>
              <a:t>Function - Freedom - Focus - Fallout</a:t>
            </a:r>
            <a:endParaRPr b="0" i="0" sz="1400" u="none" cap="none" strike="noStrike">
              <a:solidFill>
                <a:srgbClr val="000000"/>
              </a:solidFill>
              <a:latin typeface="Arial"/>
              <a:ea typeface="Arial"/>
              <a:cs typeface="Arial"/>
              <a:sym typeface="Arial"/>
            </a:endParaRPr>
          </a:p>
        </p:txBody>
      </p:sp>
      <p:sp>
        <p:nvSpPr>
          <p:cNvPr id="365" name="Google Shape;365;p81"/>
          <p:cNvSpPr txBox="1"/>
          <p:nvPr/>
        </p:nvSpPr>
        <p:spPr>
          <a:xfrm>
            <a:off x="1028700" y="5458800"/>
            <a:ext cx="14279400" cy="9627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6254"/>
              <a:buFont typeface="Arial"/>
              <a:buNone/>
            </a:pPr>
            <a:r>
              <a:rPr b="1" i="0" lang="en-US" sz="6254" u="none" cap="none" strike="noStrike">
                <a:solidFill>
                  <a:srgbClr val="34373B"/>
                </a:solidFill>
                <a:latin typeface="Arial"/>
                <a:ea typeface="Arial"/>
                <a:cs typeface="Arial"/>
                <a:sym typeface="Arial"/>
              </a:rPr>
              <a:t>What else would you need to know?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4B70"/>
        </a:solidFill>
      </p:bgPr>
    </p:bg>
    <p:spTree>
      <p:nvGrpSpPr>
        <p:cNvPr id="369" name="Shape 369"/>
        <p:cNvGrpSpPr/>
        <p:nvPr/>
      </p:nvGrpSpPr>
      <p:grpSpPr>
        <a:xfrm>
          <a:off x="0" y="0"/>
          <a:ext cx="0" cy="0"/>
          <a:chOff x="0" y="0"/>
          <a:chExt cx="0" cy="0"/>
        </a:xfrm>
      </p:grpSpPr>
      <p:sp>
        <p:nvSpPr>
          <p:cNvPr id="370" name="Google Shape;370;p87"/>
          <p:cNvSpPr/>
          <p:nvPr/>
        </p:nvSpPr>
        <p:spPr>
          <a:xfrm>
            <a:off x="14417379" y="-2706803"/>
            <a:ext cx="6793596" cy="7113713"/>
          </a:xfrm>
          <a:custGeom>
            <a:rect b="b" l="l" r="r" t="t"/>
            <a:pathLst>
              <a:path extrusionOk="0" h="7113713" w="6793596">
                <a:moveTo>
                  <a:pt x="0" y="0"/>
                </a:moveTo>
                <a:lnTo>
                  <a:pt x="6793595" y="0"/>
                </a:lnTo>
                <a:lnTo>
                  <a:pt x="6793595" y="7113713"/>
                </a:lnTo>
                <a:lnTo>
                  <a:pt x="0" y="7113713"/>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87"/>
          <p:cNvSpPr txBox="1"/>
          <p:nvPr/>
        </p:nvSpPr>
        <p:spPr>
          <a:xfrm>
            <a:off x="1028700" y="422361"/>
            <a:ext cx="16230600" cy="1409018"/>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EDFFDC"/>
                </a:solidFill>
                <a:latin typeface="Arial"/>
                <a:ea typeface="Arial"/>
                <a:cs typeface="Arial"/>
                <a:sym typeface="Arial"/>
              </a:rPr>
              <a:t>Meet Lana</a:t>
            </a:r>
            <a:endParaRPr b="0" i="0" sz="1400" u="none" cap="none" strike="noStrike">
              <a:solidFill>
                <a:srgbClr val="000000"/>
              </a:solidFill>
              <a:latin typeface="Arial"/>
              <a:ea typeface="Arial"/>
              <a:cs typeface="Arial"/>
              <a:sym typeface="Arial"/>
            </a:endParaRPr>
          </a:p>
        </p:txBody>
      </p:sp>
      <p:sp>
        <p:nvSpPr>
          <p:cNvPr id="372" name="Google Shape;372;p87"/>
          <p:cNvSpPr txBox="1"/>
          <p:nvPr/>
        </p:nvSpPr>
        <p:spPr>
          <a:xfrm>
            <a:off x="1028700" y="1915700"/>
            <a:ext cx="138858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Sober for 90 days and is finishing treatment.</a:t>
            </a:r>
            <a:endParaRPr b="0" i="0" sz="1400" u="none" cap="none" strike="noStrike">
              <a:solidFill>
                <a:srgbClr val="000000"/>
              </a:solidFill>
              <a:latin typeface="Arial"/>
              <a:ea typeface="Arial"/>
              <a:cs typeface="Arial"/>
              <a:sym typeface="Arial"/>
            </a:endParaRPr>
          </a:p>
        </p:txBody>
      </p:sp>
      <p:sp>
        <p:nvSpPr>
          <p:cNvPr id="373" name="Google Shape;373;p87"/>
          <p:cNvSpPr txBox="1"/>
          <p:nvPr/>
        </p:nvSpPr>
        <p:spPr>
          <a:xfrm>
            <a:off x="1028700" y="2780180"/>
            <a:ext cx="16230600" cy="169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She has a good job and more disposable income now that she isn’t using.</a:t>
            </a:r>
            <a:endParaRPr b="0" i="0" sz="1400" u="none" cap="none" strike="noStrike">
              <a:solidFill>
                <a:srgbClr val="000000"/>
              </a:solidFill>
              <a:latin typeface="Arial"/>
              <a:ea typeface="Arial"/>
              <a:cs typeface="Arial"/>
              <a:sym typeface="Arial"/>
            </a:endParaRPr>
          </a:p>
        </p:txBody>
      </p:sp>
      <p:sp>
        <p:nvSpPr>
          <p:cNvPr id="374" name="Google Shape;374;p87"/>
          <p:cNvSpPr txBox="1"/>
          <p:nvPr/>
        </p:nvSpPr>
        <p:spPr>
          <a:xfrm>
            <a:off x="1028700" y="4491238"/>
            <a:ext cx="141480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Shopping becomes an emotional escape.</a:t>
            </a:r>
            <a:endParaRPr b="0" i="0" sz="1400" u="none" cap="none" strike="noStrike">
              <a:solidFill>
                <a:srgbClr val="000000"/>
              </a:solidFill>
              <a:latin typeface="Arial"/>
              <a:ea typeface="Arial"/>
              <a:cs typeface="Arial"/>
              <a:sym typeface="Arial"/>
            </a:endParaRPr>
          </a:p>
        </p:txBody>
      </p:sp>
      <p:sp>
        <p:nvSpPr>
          <p:cNvPr id="375" name="Google Shape;375;p87"/>
          <p:cNvSpPr txBox="1"/>
          <p:nvPr/>
        </p:nvSpPr>
        <p:spPr>
          <a:xfrm>
            <a:off x="1028700" y="5421875"/>
            <a:ext cx="138858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Her credit-card balances start climbing.</a:t>
            </a:r>
            <a:endParaRPr b="0" i="0" sz="1400" u="none" cap="none" strike="noStrike">
              <a:solidFill>
                <a:srgbClr val="000000"/>
              </a:solidFill>
              <a:latin typeface="Arial"/>
              <a:ea typeface="Arial"/>
              <a:cs typeface="Arial"/>
              <a:sym typeface="Arial"/>
            </a:endParaRPr>
          </a:p>
        </p:txBody>
      </p:sp>
      <p:sp>
        <p:nvSpPr>
          <p:cNvPr id="376" name="Google Shape;376;p87"/>
          <p:cNvSpPr txBox="1"/>
          <p:nvPr/>
        </p:nvSpPr>
        <p:spPr>
          <a:xfrm>
            <a:off x="1028700" y="6268168"/>
            <a:ext cx="16230600" cy="169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Her paycheck disappears almost as quickly as when she was in active addiction.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4B70"/>
        </a:solidFill>
      </p:bgPr>
    </p:bg>
    <p:spTree>
      <p:nvGrpSpPr>
        <p:cNvPr id="380" name="Shape 380"/>
        <p:cNvGrpSpPr/>
        <p:nvPr/>
      </p:nvGrpSpPr>
      <p:grpSpPr>
        <a:xfrm>
          <a:off x="0" y="0"/>
          <a:ext cx="0" cy="0"/>
          <a:chOff x="0" y="0"/>
          <a:chExt cx="0" cy="0"/>
        </a:xfrm>
      </p:grpSpPr>
      <p:sp>
        <p:nvSpPr>
          <p:cNvPr id="381" name="Google Shape;381;p89"/>
          <p:cNvSpPr/>
          <p:nvPr/>
        </p:nvSpPr>
        <p:spPr>
          <a:xfrm>
            <a:off x="14417379" y="-2706803"/>
            <a:ext cx="6793596" cy="7113713"/>
          </a:xfrm>
          <a:custGeom>
            <a:rect b="b" l="l" r="r" t="t"/>
            <a:pathLst>
              <a:path extrusionOk="0" h="7113713" w="6793596">
                <a:moveTo>
                  <a:pt x="0" y="0"/>
                </a:moveTo>
                <a:lnTo>
                  <a:pt x="6793595" y="0"/>
                </a:lnTo>
                <a:lnTo>
                  <a:pt x="6793595" y="7113713"/>
                </a:lnTo>
                <a:lnTo>
                  <a:pt x="0" y="7113713"/>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89"/>
          <p:cNvSpPr txBox="1"/>
          <p:nvPr/>
        </p:nvSpPr>
        <p:spPr>
          <a:xfrm>
            <a:off x="1028700" y="1065299"/>
            <a:ext cx="16230600" cy="2875868"/>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EDFFDC"/>
                </a:solidFill>
                <a:latin typeface="Arial"/>
                <a:ea typeface="Arial"/>
                <a:cs typeface="Arial"/>
                <a:sym typeface="Arial"/>
              </a:rPr>
              <a:t>Lana</a:t>
            </a:r>
            <a:endParaRPr b="0" i="0" sz="1400" u="none" cap="none" strike="noStrike">
              <a:solidFill>
                <a:srgbClr val="000000"/>
              </a:solidFill>
              <a:latin typeface="Arial"/>
              <a:ea typeface="Arial"/>
              <a:cs typeface="Arial"/>
              <a:sym typeface="Arial"/>
            </a:endParaRPr>
          </a:p>
          <a:p>
            <a:pPr indent="0" lvl="0" marL="0" marR="0" rtl="0" algn="l">
              <a:lnSpc>
                <a:spcPct val="140007"/>
              </a:lnSpc>
              <a:spcBef>
                <a:spcPts val="0"/>
              </a:spcBef>
              <a:spcAft>
                <a:spcPts val="0"/>
              </a:spcAft>
              <a:buClr>
                <a:srgbClr val="000000"/>
              </a:buClr>
              <a:buSzPts val="8276"/>
              <a:buFont typeface="Arial"/>
              <a:buNone/>
            </a:pPr>
            <a:r>
              <a:t/>
            </a:r>
            <a:endParaRPr b="1" i="0" sz="8276" u="none" cap="none" strike="noStrike">
              <a:solidFill>
                <a:srgbClr val="EDFFDC"/>
              </a:solidFill>
              <a:latin typeface="Arial"/>
              <a:ea typeface="Arial"/>
              <a:cs typeface="Arial"/>
              <a:sym typeface="Arial"/>
            </a:endParaRPr>
          </a:p>
        </p:txBody>
      </p:sp>
      <p:sp>
        <p:nvSpPr>
          <p:cNvPr id="383" name="Google Shape;383;p89"/>
          <p:cNvSpPr txBox="1"/>
          <p:nvPr/>
        </p:nvSpPr>
        <p:spPr>
          <a:xfrm>
            <a:off x="1028700" y="3128050"/>
            <a:ext cx="12494700" cy="14553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Clr>
                <a:srgbClr val="000000"/>
              </a:buClr>
              <a:buSzPts val="9454"/>
              <a:buFont typeface="Arial"/>
              <a:buNone/>
            </a:pPr>
            <a:r>
              <a:rPr b="1" i="0" lang="en-US" sz="9454" u="none" cap="none" strike="noStrike">
                <a:solidFill>
                  <a:srgbClr val="EDFFDC"/>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sp>
        <p:nvSpPr>
          <p:cNvPr id="384" name="Google Shape;384;p89"/>
          <p:cNvSpPr txBox="1"/>
          <p:nvPr/>
        </p:nvSpPr>
        <p:spPr>
          <a:xfrm>
            <a:off x="4511275" y="8185700"/>
            <a:ext cx="99060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500"/>
              <a:buFont typeface="Arial"/>
              <a:buNone/>
            </a:pPr>
            <a:r>
              <a:rPr b="1" i="0" lang="en-US" sz="4500" u="none" cap="none" strike="noStrike">
                <a:solidFill>
                  <a:srgbClr val="D2C7FF"/>
                </a:solidFill>
                <a:latin typeface="Arial"/>
                <a:ea typeface="Arial"/>
                <a:cs typeface="Arial"/>
                <a:sym typeface="Arial"/>
              </a:rPr>
              <a:t>Function - Freedom - Focus - Fallout</a:t>
            </a:r>
            <a:endParaRPr b="0" i="0" sz="1400" u="none" cap="none" strike="noStrike">
              <a:solidFill>
                <a:srgbClr val="000000"/>
              </a:solidFill>
              <a:latin typeface="Arial"/>
              <a:ea typeface="Arial"/>
              <a:cs typeface="Arial"/>
              <a:sym typeface="Arial"/>
            </a:endParaRPr>
          </a:p>
        </p:txBody>
      </p:sp>
      <p:sp>
        <p:nvSpPr>
          <p:cNvPr id="385" name="Google Shape;385;p89"/>
          <p:cNvSpPr txBox="1"/>
          <p:nvPr/>
        </p:nvSpPr>
        <p:spPr>
          <a:xfrm>
            <a:off x="1028700" y="5458800"/>
            <a:ext cx="13754400" cy="9627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6254"/>
              <a:buFont typeface="Arial"/>
              <a:buNone/>
            </a:pPr>
            <a:r>
              <a:rPr b="1" i="0" lang="en-US" sz="6254" u="none" cap="none" strike="noStrike">
                <a:solidFill>
                  <a:srgbClr val="EDFFDC"/>
                </a:solidFill>
                <a:latin typeface="Arial"/>
                <a:ea typeface="Arial"/>
                <a:cs typeface="Arial"/>
                <a:sym typeface="Arial"/>
              </a:rPr>
              <a:t>What else would you need to know?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389" name="Shape 389"/>
        <p:cNvGrpSpPr/>
        <p:nvPr/>
      </p:nvGrpSpPr>
      <p:grpSpPr>
        <a:xfrm>
          <a:off x="0" y="0"/>
          <a:ext cx="0" cy="0"/>
          <a:chOff x="0" y="0"/>
          <a:chExt cx="0" cy="0"/>
        </a:xfrm>
      </p:grpSpPr>
      <p:sp>
        <p:nvSpPr>
          <p:cNvPr id="390" name="Google Shape;390;p97"/>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97"/>
          <p:cNvSpPr txBox="1"/>
          <p:nvPr/>
        </p:nvSpPr>
        <p:spPr>
          <a:xfrm>
            <a:off x="1028700" y="595071"/>
            <a:ext cx="16230600" cy="1409018"/>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34373B"/>
                </a:solidFill>
                <a:latin typeface="Arial"/>
                <a:ea typeface="Arial"/>
                <a:cs typeface="Arial"/>
                <a:sym typeface="Arial"/>
              </a:rPr>
              <a:t>Meet Buck</a:t>
            </a:r>
            <a:endParaRPr b="0" i="0" sz="1400" u="none" cap="none" strike="noStrike">
              <a:solidFill>
                <a:srgbClr val="000000"/>
              </a:solidFill>
              <a:latin typeface="Arial"/>
              <a:ea typeface="Arial"/>
              <a:cs typeface="Arial"/>
              <a:sym typeface="Arial"/>
            </a:endParaRPr>
          </a:p>
        </p:txBody>
      </p:sp>
      <p:sp>
        <p:nvSpPr>
          <p:cNvPr id="392" name="Google Shape;392;p97"/>
          <p:cNvSpPr txBox="1"/>
          <p:nvPr/>
        </p:nvSpPr>
        <p:spPr>
          <a:xfrm>
            <a:off x="1028700" y="2126038"/>
            <a:ext cx="15014100" cy="8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399" u="none" cap="none" strike="noStrike">
                <a:solidFill>
                  <a:srgbClr val="34373B"/>
                </a:solidFill>
                <a:latin typeface="Arial"/>
                <a:ea typeface="Arial"/>
                <a:cs typeface="Arial"/>
                <a:sym typeface="Arial"/>
              </a:rPr>
              <a:t>Buck has been sober for more than two years.</a:t>
            </a:r>
            <a:endParaRPr b="0" i="0" sz="1300" u="none" cap="none" strike="noStrike">
              <a:solidFill>
                <a:srgbClr val="000000"/>
              </a:solidFill>
              <a:latin typeface="Arial"/>
              <a:ea typeface="Arial"/>
              <a:cs typeface="Arial"/>
              <a:sym typeface="Arial"/>
            </a:endParaRPr>
          </a:p>
        </p:txBody>
      </p:sp>
      <p:sp>
        <p:nvSpPr>
          <p:cNvPr id="393" name="Google Shape;393;p97"/>
          <p:cNvSpPr txBox="1"/>
          <p:nvPr/>
        </p:nvSpPr>
        <p:spPr>
          <a:xfrm>
            <a:off x="1028700" y="3078975"/>
            <a:ext cx="16230600" cy="124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399" u="none" cap="none" strike="noStrike">
                <a:solidFill>
                  <a:srgbClr val="34373B"/>
                </a:solidFill>
                <a:latin typeface="Arial"/>
                <a:ea typeface="Arial"/>
                <a:cs typeface="Arial"/>
                <a:sym typeface="Arial"/>
              </a:rPr>
              <a:t>He completed treatment and remains active in recovery.</a:t>
            </a:r>
            <a:endParaRPr b="0" i="0" sz="1300" u="none" cap="none" strike="noStrike">
              <a:solidFill>
                <a:srgbClr val="000000"/>
              </a:solidFill>
              <a:latin typeface="Arial"/>
              <a:ea typeface="Arial"/>
              <a:cs typeface="Arial"/>
              <a:sym typeface="Arial"/>
            </a:endParaRPr>
          </a:p>
        </p:txBody>
      </p:sp>
      <p:sp>
        <p:nvSpPr>
          <p:cNvPr id="394" name="Google Shape;394;p97"/>
          <p:cNvSpPr txBox="1"/>
          <p:nvPr/>
        </p:nvSpPr>
        <p:spPr>
          <a:xfrm>
            <a:off x="1028700" y="4267225"/>
            <a:ext cx="9267000" cy="8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399" u="none" cap="none" strike="noStrike">
                <a:solidFill>
                  <a:srgbClr val="34373B"/>
                </a:solidFill>
                <a:latin typeface="Arial"/>
                <a:ea typeface="Arial"/>
                <a:cs typeface="Arial"/>
                <a:sym typeface="Arial"/>
              </a:rPr>
              <a:t>He sponsors other people.</a:t>
            </a:r>
            <a:endParaRPr b="0" i="0" sz="1300" u="none" cap="none" strike="noStrike">
              <a:solidFill>
                <a:srgbClr val="000000"/>
              </a:solidFill>
              <a:latin typeface="Arial"/>
              <a:ea typeface="Arial"/>
              <a:cs typeface="Arial"/>
              <a:sym typeface="Arial"/>
            </a:endParaRPr>
          </a:p>
        </p:txBody>
      </p:sp>
      <p:sp>
        <p:nvSpPr>
          <p:cNvPr id="395" name="Google Shape;395;p97"/>
          <p:cNvSpPr txBox="1"/>
          <p:nvPr/>
        </p:nvSpPr>
        <p:spPr>
          <a:xfrm>
            <a:off x="1028700" y="5119975"/>
            <a:ext cx="14804100" cy="8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399" u="none" cap="none" strike="noStrike">
                <a:solidFill>
                  <a:srgbClr val="34373B"/>
                </a:solidFill>
                <a:latin typeface="Arial"/>
                <a:ea typeface="Arial"/>
                <a:cs typeface="Arial"/>
                <a:sym typeface="Arial"/>
              </a:rPr>
              <a:t>He starts spending his weekends at the casino.</a:t>
            </a:r>
            <a:endParaRPr b="0" i="0" sz="1300" u="none" cap="none" strike="noStrike">
              <a:solidFill>
                <a:srgbClr val="000000"/>
              </a:solidFill>
              <a:latin typeface="Arial"/>
              <a:ea typeface="Arial"/>
              <a:cs typeface="Arial"/>
              <a:sym typeface="Arial"/>
            </a:endParaRPr>
          </a:p>
        </p:txBody>
      </p:sp>
      <p:sp>
        <p:nvSpPr>
          <p:cNvPr id="396" name="Google Shape;396;p97"/>
          <p:cNvSpPr txBox="1"/>
          <p:nvPr/>
        </p:nvSpPr>
        <p:spPr>
          <a:xfrm>
            <a:off x="1028700" y="6114838"/>
            <a:ext cx="16436400" cy="124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399" u="none" cap="none" strike="noStrike">
                <a:solidFill>
                  <a:srgbClr val="34373B"/>
                </a:solidFill>
                <a:latin typeface="Arial"/>
                <a:ea typeface="Arial"/>
                <a:cs typeface="Arial"/>
                <a:sym typeface="Arial"/>
              </a:rPr>
              <a:t>He becomes unavailable when his sponsees need him.</a:t>
            </a:r>
            <a:endParaRPr b="0" i="0" sz="1300" u="none" cap="none" strike="noStrike">
              <a:solidFill>
                <a:srgbClr val="000000"/>
              </a:solidFill>
              <a:latin typeface="Arial"/>
              <a:ea typeface="Arial"/>
              <a:cs typeface="Arial"/>
              <a:sym typeface="Arial"/>
            </a:endParaRPr>
          </a:p>
        </p:txBody>
      </p:sp>
      <p:sp>
        <p:nvSpPr>
          <p:cNvPr id="397" name="Google Shape;397;p97"/>
          <p:cNvSpPr txBox="1"/>
          <p:nvPr/>
        </p:nvSpPr>
        <p:spPr>
          <a:xfrm>
            <a:off x="1028700" y="7361338"/>
            <a:ext cx="12477900" cy="8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399" u="none" cap="none" strike="noStrike">
                <a:solidFill>
                  <a:srgbClr val="34373B"/>
                </a:solidFill>
                <a:latin typeface="Arial"/>
                <a:ea typeface="Arial"/>
                <a:cs typeface="Arial"/>
                <a:sym typeface="Arial"/>
              </a:rPr>
              <a:t>He secretly spends half of his savings.</a:t>
            </a:r>
            <a:endParaRPr b="0" i="0" sz="1300" u="none" cap="none" strike="noStrike">
              <a:solidFill>
                <a:srgbClr val="000000"/>
              </a:solidFill>
              <a:latin typeface="Arial"/>
              <a:ea typeface="Arial"/>
              <a:cs typeface="Arial"/>
              <a:sym typeface="Arial"/>
            </a:endParaRPr>
          </a:p>
        </p:txBody>
      </p:sp>
      <p:sp>
        <p:nvSpPr>
          <p:cNvPr id="398" name="Google Shape;398;p97"/>
          <p:cNvSpPr txBox="1"/>
          <p:nvPr/>
        </p:nvSpPr>
        <p:spPr>
          <a:xfrm>
            <a:off x="1028700" y="8319104"/>
            <a:ext cx="17259300" cy="124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399" u="none" cap="none" strike="noStrike">
                <a:solidFill>
                  <a:srgbClr val="34373B"/>
                </a:solidFill>
                <a:latin typeface="Arial"/>
                <a:ea typeface="Arial"/>
                <a:cs typeface="Arial"/>
                <a:sym typeface="Arial"/>
              </a:rPr>
              <a:t>He thinks, “One more good weekend and I’ll win it all back.”</a:t>
            </a:r>
            <a:endParaRPr b="0" i="0" sz="13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402" name="Shape 402"/>
        <p:cNvGrpSpPr/>
        <p:nvPr/>
      </p:nvGrpSpPr>
      <p:grpSpPr>
        <a:xfrm>
          <a:off x="0" y="0"/>
          <a:ext cx="0" cy="0"/>
          <a:chOff x="0" y="0"/>
          <a:chExt cx="0" cy="0"/>
        </a:xfrm>
      </p:grpSpPr>
      <p:sp>
        <p:nvSpPr>
          <p:cNvPr id="403" name="Google Shape;403;p99"/>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99"/>
          <p:cNvSpPr txBox="1"/>
          <p:nvPr/>
        </p:nvSpPr>
        <p:spPr>
          <a:xfrm>
            <a:off x="1028700" y="1065299"/>
            <a:ext cx="16230600" cy="1409018"/>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34373B"/>
                </a:solidFill>
                <a:latin typeface="Arial"/>
                <a:ea typeface="Arial"/>
                <a:cs typeface="Arial"/>
                <a:sym typeface="Arial"/>
              </a:rPr>
              <a:t>Buck</a:t>
            </a:r>
            <a:endParaRPr b="0" i="0" sz="1400" u="none" cap="none" strike="noStrike">
              <a:solidFill>
                <a:srgbClr val="000000"/>
              </a:solidFill>
              <a:latin typeface="Arial"/>
              <a:ea typeface="Arial"/>
              <a:cs typeface="Arial"/>
              <a:sym typeface="Arial"/>
            </a:endParaRPr>
          </a:p>
        </p:txBody>
      </p:sp>
      <p:sp>
        <p:nvSpPr>
          <p:cNvPr id="405" name="Google Shape;405;p99"/>
          <p:cNvSpPr txBox="1"/>
          <p:nvPr/>
        </p:nvSpPr>
        <p:spPr>
          <a:xfrm>
            <a:off x="1028700" y="3128050"/>
            <a:ext cx="11917500" cy="14553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Clr>
                <a:srgbClr val="000000"/>
              </a:buClr>
              <a:buSzPts val="9454"/>
              <a:buFont typeface="Arial"/>
              <a:buNone/>
            </a:pPr>
            <a:r>
              <a:rPr b="1" i="0" lang="en-US" sz="9454" u="none" cap="none" strike="noStrike">
                <a:solidFill>
                  <a:srgbClr val="34373B"/>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sp>
        <p:nvSpPr>
          <p:cNvPr id="406" name="Google Shape;406;p99"/>
          <p:cNvSpPr txBox="1"/>
          <p:nvPr/>
        </p:nvSpPr>
        <p:spPr>
          <a:xfrm>
            <a:off x="3394000" y="8185700"/>
            <a:ext cx="103827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500"/>
              <a:buFont typeface="Arial"/>
              <a:buNone/>
            </a:pPr>
            <a:r>
              <a:rPr b="1" i="0" lang="en-US" sz="4500" u="none" cap="none" strike="noStrike">
                <a:solidFill>
                  <a:srgbClr val="69418B"/>
                </a:solidFill>
                <a:latin typeface="Arial"/>
                <a:ea typeface="Arial"/>
                <a:cs typeface="Arial"/>
                <a:sym typeface="Arial"/>
              </a:rPr>
              <a:t>Function - Freedom - Focus - Fallout</a:t>
            </a:r>
            <a:endParaRPr b="0" i="0" sz="1400" u="none" cap="none" strike="noStrike">
              <a:solidFill>
                <a:srgbClr val="000000"/>
              </a:solidFill>
              <a:latin typeface="Arial"/>
              <a:ea typeface="Arial"/>
              <a:cs typeface="Arial"/>
              <a:sym typeface="Arial"/>
            </a:endParaRPr>
          </a:p>
        </p:txBody>
      </p:sp>
      <p:sp>
        <p:nvSpPr>
          <p:cNvPr id="407" name="Google Shape;407;p99"/>
          <p:cNvSpPr txBox="1"/>
          <p:nvPr/>
        </p:nvSpPr>
        <p:spPr>
          <a:xfrm>
            <a:off x="1028700" y="5458800"/>
            <a:ext cx="13990800" cy="9627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6254"/>
              <a:buFont typeface="Arial"/>
              <a:buNone/>
            </a:pPr>
            <a:r>
              <a:rPr b="1" i="0" lang="en-US" sz="6254" u="none" cap="none" strike="noStrike">
                <a:solidFill>
                  <a:srgbClr val="34373B"/>
                </a:solidFill>
                <a:latin typeface="Arial"/>
                <a:ea typeface="Arial"/>
                <a:cs typeface="Arial"/>
                <a:sym typeface="Arial"/>
              </a:rPr>
              <a:t>What else would you need to know?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4B70"/>
        </a:solidFill>
      </p:bgPr>
    </p:bg>
    <p:spTree>
      <p:nvGrpSpPr>
        <p:cNvPr id="411" name="Shape 411"/>
        <p:cNvGrpSpPr/>
        <p:nvPr/>
      </p:nvGrpSpPr>
      <p:grpSpPr>
        <a:xfrm>
          <a:off x="0" y="0"/>
          <a:ext cx="0" cy="0"/>
          <a:chOff x="0" y="0"/>
          <a:chExt cx="0" cy="0"/>
        </a:xfrm>
      </p:grpSpPr>
      <p:sp>
        <p:nvSpPr>
          <p:cNvPr id="412" name="Google Shape;412;p106"/>
          <p:cNvSpPr/>
          <p:nvPr/>
        </p:nvSpPr>
        <p:spPr>
          <a:xfrm>
            <a:off x="14417379" y="-2706803"/>
            <a:ext cx="6793596" cy="7113713"/>
          </a:xfrm>
          <a:custGeom>
            <a:rect b="b" l="l" r="r" t="t"/>
            <a:pathLst>
              <a:path extrusionOk="0" h="7113713" w="6793596">
                <a:moveTo>
                  <a:pt x="0" y="0"/>
                </a:moveTo>
                <a:lnTo>
                  <a:pt x="6793595" y="0"/>
                </a:lnTo>
                <a:lnTo>
                  <a:pt x="6793595" y="7113713"/>
                </a:lnTo>
                <a:lnTo>
                  <a:pt x="0" y="7113713"/>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106"/>
          <p:cNvSpPr txBox="1"/>
          <p:nvPr/>
        </p:nvSpPr>
        <p:spPr>
          <a:xfrm>
            <a:off x="1028700" y="422361"/>
            <a:ext cx="16230600" cy="1409018"/>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EDFFDC"/>
                </a:solidFill>
                <a:latin typeface="Arial"/>
                <a:ea typeface="Arial"/>
                <a:cs typeface="Arial"/>
                <a:sym typeface="Arial"/>
              </a:rPr>
              <a:t>Meet Leslie</a:t>
            </a:r>
            <a:endParaRPr b="0" i="0" sz="1400" u="none" cap="none" strike="noStrike">
              <a:solidFill>
                <a:srgbClr val="000000"/>
              </a:solidFill>
              <a:latin typeface="Arial"/>
              <a:ea typeface="Arial"/>
              <a:cs typeface="Arial"/>
              <a:sym typeface="Arial"/>
            </a:endParaRPr>
          </a:p>
        </p:txBody>
      </p:sp>
      <p:sp>
        <p:nvSpPr>
          <p:cNvPr id="414" name="Google Shape;414;p106"/>
          <p:cNvSpPr txBox="1"/>
          <p:nvPr/>
        </p:nvSpPr>
        <p:spPr>
          <a:xfrm>
            <a:off x="1028700" y="2077700"/>
            <a:ext cx="165363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Leslie is new to recovery and has been feeling lonely.</a:t>
            </a:r>
            <a:endParaRPr b="0" i="0" sz="1400" u="none" cap="none" strike="noStrike">
              <a:solidFill>
                <a:srgbClr val="000000"/>
              </a:solidFill>
              <a:latin typeface="Arial"/>
              <a:ea typeface="Arial"/>
              <a:cs typeface="Arial"/>
              <a:sym typeface="Arial"/>
            </a:endParaRPr>
          </a:p>
        </p:txBody>
      </p:sp>
      <p:sp>
        <p:nvSpPr>
          <p:cNvPr id="415" name="Google Shape;415;p106"/>
          <p:cNvSpPr txBox="1"/>
          <p:nvPr/>
        </p:nvSpPr>
        <p:spPr>
          <a:xfrm>
            <a:off x="1028700" y="2950555"/>
            <a:ext cx="16230600" cy="169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She starts spending more time on social media and connecting with people online.</a:t>
            </a:r>
            <a:endParaRPr b="0" i="0" sz="1400" u="none" cap="none" strike="noStrike">
              <a:solidFill>
                <a:srgbClr val="000000"/>
              </a:solidFill>
              <a:latin typeface="Arial"/>
              <a:ea typeface="Arial"/>
              <a:cs typeface="Arial"/>
              <a:sym typeface="Arial"/>
            </a:endParaRPr>
          </a:p>
        </p:txBody>
      </p:sp>
      <p:sp>
        <p:nvSpPr>
          <p:cNvPr id="416" name="Google Shape;416;p106"/>
          <p:cNvSpPr txBox="1"/>
          <p:nvPr/>
        </p:nvSpPr>
        <p:spPr>
          <a:xfrm>
            <a:off x="1028700" y="4720350"/>
            <a:ext cx="120225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Her time online gradually increases.</a:t>
            </a:r>
            <a:endParaRPr b="0" i="0" sz="1400" u="none" cap="none" strike="noStrike">
              <a:solidFill>
                <a:srgbClr val="000000"/>
              </a:solidFill>
              <a:latin typeface="Arial"/>
              <a:ea typeface="Arial"/>
              <a:cs typeface="Arial"/>
              <a:sym typeface="Arial"/>
            </a:endParaRPr>
          </a:p>
        </p:txBody>
      </p:sp>
      <p:sp>
        <p:nvSpPr>
          <p:cNvPr id="417" name="Google Shape;417;p106"/>
          <p:cNvSpPr txBox="1"/>
          <p:nvPr/>
        </p:nvSpPr>
        <p:spPr>
          <a:xfrm>
            <a:off x="1028700" y="5580075"/>
            <a:ext cx="133887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She becomes less available to family.</a:t>
            </a:r>
            <a:endParaRPr b="0" i="0" sz="1400" u="none" cap="none" strike="noStrike">
              <a:solidFill>
                <a:srgbClr val="000000"/>
              </a:solidFill>
              <a:latin typeface="Arial"/>
              <a:ea typeface="Arial"/>
              <a:cs typeface="Arial"/>
              <a:sym typeface="Arial"/>
            </a:endParaRPr>
          </a:p>
        </p:txBody>
      </p:sp>
      <p:sp>
        <p:nvSpPr>
          <p:cNvPr id="418" name="Google Shape;418;p106"/>
          <p:cNvSpPr txBox="1"/>
          <p:nvPr/>
        </p:nvSpPr>
        <p:spPr>
          <a:xfrm>
            <a:off x="1028700" y="6426368"/>
            <a:ext cx="162306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It begins interfering with her work.</a:t>
            </a:r>
            <a:endParaRPr b="0" i="0" sz="1400" u="none" cap="none" strike="noStrike">
              <a:solidFill>
                <a:srgbClr val="000000"/>
              </a:solidFill>
              <a:latin typeface="Arial"/>
              <a:ea typeface="Arial"/>
              <a:cs typeface="Arial"/>
              <a:sym typeface="Arial"/>
            </a:endParaRPr>
          </a:p>
        </p:txBody>
      </p:sp>
      <p:sp>
        <p:nvSpPr>
          <p:cNvPr id="419" name="Google Shape;419;p106"/>
          <p:cNvSpPr txBox="1"/>
          <p:nvPr/>
        </p:nvSpPr>
        <p:spPr>
          <a:xfrm>
            <a:off x="1028700" y="7362994"/>
            <a:ext cx="16230600" cy="169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When she can’t check her phone, she finds herself thinking about when she can get back online.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4B70"/>
        </a:solidFill>
      </p:bgPr>
    </p:bg>
    <p:spTree>
      <p:nvGrpSpPr>
        <p:cNvPr id="423" name="Shape 423"/>
        <p:cNvGrpSpPr/>
        <p:nvPr/>
      </p:nvGrpSpPr>
      <p:grpSpPr>
        <a:xfrm>
          <a:off x="0" y="0"/>
          <a:ext cx="0" cy="0"/>
          <a:chOff x="0" y="0"/>
          <a:chExt cx="0" cy="0"/>
        </a:xfrm>
      </p:grpSpPr>
      <p:sp>
        <p:nvSpPr>
          <p:cNvPr id="424" name="Google Shape;424;p108"/>
          <p:cNvSpPr/>
          <p:nvPr/>
        </p:nvSpPr>
        <p:spPr>
          <a:xfrm>
            <a:off x="14417379" y="-2706803"/>
            <a:ext cx="6793596" cy="7113713"/>
          </a:xfrm>
          <a:custGeom>
            <a:rect b="b" l="l" r="r" t="t"/>
            <a:pathLst>
              <a:path extrusionOk="0" h="7113713" w="6793596">
                <a:moveTo>
                  <a:pt x="0" y="0"/>
                </a:moveTo>
                <a:lnTo>
                  <a:pt x="6793595" y="0"/>
                </a:lnTo>
                <a:lnTo>
                  <a:pt x="6793595" y="7113713"/>
                </a:lnTo>
                <a:lnTo>
                  <a:pt x="0" y="7113713"/>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108"/>
          <p:cNvSpPr txBox="1"/>
          <p:nvPr/>
        </p:nvSpPr>
        <p:spPr>
          <a:xfrm>
            <a:off x="1028700" y="1065299"/>
            <a:ext cx="16230600" cy="2875868"/>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EDFFDC"/>
                </a:solidFill>
                <a:latin typeface="Arial"/>
                <a:ea typeface="Arial"/>
                <a:cs typeface="Arial"/>
                <a:sym typeface="Arial"/>
              </a:rPr>
              <a:t>Leslie</a:t>
            </a:r>
            <a:endParaRPr b="0" i="0" sz="1400" u="none" cap="none" strike="noStrike">
              <a:solidFill>
                <a:srgbClr val="000000"/>
              </a:solidFill>
              <a:latin typeface="Arial"/>
              <a:ea typeface="Arial"/>
              <a:cs typeface="Arial"/>
              <a:sym typeface="Arial"/>
            </a:endParaRPr>
          </a:p>
          <a:p>
            <a:pPr indent="0" lvl="0" marL="0" marR="0" rtl="0" algn="l">
              <a:lnSpc>
                <a:spcPct val="140007"/>
              </a:lnSpc>
              <a:spcBef>
                <a:spcPts val="0"/>
              </a:spcBef>
              <a:spcAft>
                <a:spcPts val="0"/>
              </a:spcAft>
              <a:buClr>
                <a:srgbClr val="000000"/>
              </a:buClr>
              <a:buSzPts val="8276"/>
              <a:buFont typeface="Arial"/>
              <a:buNone/>
            </a:pPr>
            <a:r>
              <a:t/>
            </a:r>
            <a:endParaRPr b="1" i="0" sz="8276" u="none" cap="none" strike="noStrike">
              <a:solidFill>
                <a:srgbClr val="EDFFDC"/>
              </a:solidFill>
              <a:latin typeface="Arial"/>
              <a:ea typeface="Arial"/>
              <a:cs typeface="Arial"/>
              <a:sym typeface="Arial"/>
            </a:endParaRPr>
          </a:p>
        </p:txBody>
      </p:sp>
      <p:sp>
        <p:nvSpPr>
          <p:cNvPr id="426" name="Google Shape;426;p108"/>
          <p:cNvSpPr txBox="1"/>
          <p:nvPr/>
        </p:nvSpPr>
        <p:spPr>
          <a:xfrm>
            <a:off x="1028700" y="3128050"/>
            <a:ext cx="12101100" cy="14553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Clr>
                <a:srgbClr val="000000"/>
              </a:buClr>
              <a:buSzPts val="9454"/>
              <a:buFont typeface="Arial"/>
              <a:buNone/>
            </a:pPr>
            <a:r>
              <a:rPr b="1" i="0" lang="en-US" sz="9454" u="none" cap="none" strike="noStrike">
                <a:solidFill>
                  <a:srgbClr val="EDFFDC"/>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sp>
        <p:nvSpPr>
          <p:cNvPr id="427" name="Google Shape;427;p108"/>
          <p:cNvSpPr txBox="1"/>
          <p:nvPr/>
        </p:nvSpPr>
        <p:spPr>
          <a:xfrm>
            <a:off x="4511275" y="8185700"/>
            <a:ext cx="104295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500"/>
              <a:buFont typeface="Arial"/>
              <a:buNone/>
            </a:pPr>
            <a:r>
              <a:rPr b="1" i="0" lang="en-US" sz="4500" u="none" cap="none" strike="noStrike">
                <a:solidFill>
                  <a:srgbClr val="D2C7FF"/>
                </a:solidFill>
                <a:latin typeface="Arial"/>
                <a:ea typeface="Arial"/>
                <a:cs typeface="Arial"/>
                <a:sym typeface="Arial"/>
              </a:rPr>
              <a:t>Function - Freedom - Focus - Fallout</a:t>
            </a:r>
            <a:endParaRPr b="0" i="0" sz="1400" u="none" cap="none" strike="noStrike">
              <a:solidFill>
                <a:srgbClr val="000000"/>
              </a:solidFill>
              <a:latin typeface="Arial"/>
              <a:ea typeface="Arial"/>
              <a:cs typeface="Arial"/>
              <a:sym typeface="Arial"/>
            </a:endParaRPr>
          </a:p>
        </p:txBody>
      </p:sp>
      <p:sp>
        <p:nvSpPr>
          <p:cNvPr id="428" name="Google Shape;428;p108"/>
          <p:cNvSpPr txBox="1"/>
          <p:nvPr/>
        </p:nvSpPr>
        <p:spPr>
          <a:xfrm>
            <a:off x="1028700" y="5458800"/>
            <a:ext cx="14069400" cy="9627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6254"/>
              <a:buFont typeface="Arial"/>
              <a:buNone/>
            </a:pPr>
            <a:r>
              <a:rPr b="1" i="0" lang="en-US" sz="6254" u="none" cap="none" strike="noStrike">
                <a:solidFill>
                  <a:srgbClr val="EDFFDC"/>
                </a:solidFill>
                <a:latin typeface="Arial"/>
                <a:ea typeface="Arial"/>
                <a:cs typeface="Arial"/>
                <a:sym typeface="Arial"/>
              </a:rPr>
              <a:t>What else would you need to know?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432" name="Shape 432"/>
        <p:cNvGrpSpPr/>
        <p:nvPr/>
      </p:nvGrpSpPr>
      <p:grpSpPr>
        <a:xfrm>
          <a:off x="0" y="0"/>
          <a:ext cx="0" cy="0"/>
          <a:chOff x="0" y="0"/>
          <a:chExt cx="0" cy="0"/>
        </a:xfrm>
      </p:grpSpPr>
      <p:sp>
        <p:nvSpPr>
          <p:cNvPr id="433" name="Google Shape;433;p116"/>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116"/>
          <p:cNvSpPr txBox="1"/>
          <p:nvPr/>
        </p:nvSpPr>
        <p:spPr>
          <a:xfrm>
            <a:off x="1028700" y="393855"/>
            <a:ext cx="16230600" cy="12738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34373B"/>
                </a:solidFill>
                <a:latin typeface="Arial"/>
                <a:ea typeface="Arial"/>
                <a:cs typeface="Arial"/>
                <a:sym typeface="Arial"/>
              </a:rPr>
              <a:t>Meet Jack</a:t>
            </a:r>
            <a:endParaRPr b="0" i="0" sz="1400" u="none" cap="none" strike="noStrike">
              <a:solidFill>
                <a:srgbClr val="000000"/>
              </a:solidFill>
              <a:latin typeface="Arial"/>
              <a:ea typeface="Arial"/>
              <a:cs typeface="Arial"/>
              <a:sym typeface="Arial"/>
            </a:endParaRPr>
          </a:p>
        </p:txBody>
      </p:sp>
      <p:sp>
        <p:nvSpPr>
          <p:cNvPr id="435" name="Google Shape;435;p116"/>
          <p:cNvSpPr txBox="1"/>
          <p:nvPr/>
        </p:nvSpPr>
        <p:spPr>
          <a:xfrm>
            <a:off x="1028700" y="1667625"/>
            <a:ext cx="16230600" cy="8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Sober for five years after struggling with alcohol.</a:t>
            </a:r>
            <a:endParaRPr b="0" i="0" sz="1400" u="none" cap="none" strike="noStrike">
              <a:solidFill>
                <a:srgbClr val="000000"/>
              </a:solidFill>
              <a:latin typeface="Arial"/>
              <a:ea typeface="Arial"/>
              <a:cs typeface="Arial"/>
              <a:sym typeface="Arial"/>
            </a:endParaRPr>
          </a:p>
        </p:txBody>
      </p:sp>
      <p:sp>
        <p:nvSpPr>
          <p:cNvPr id="436" name="Google Shape;436;p116"/>
          <p:cNvSpPr txBox="1"/>
          <p:nvPr/>
        </p:nvSpPr>
        <p:spPr>
          <a:xfrm>
            <a:off x="1028700" y="2577563"/>
            <a:ext cx="16230600" cy="124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399" u="none" cap="none" strike="noStrike">
                <a:solidFill>
                  <a:srgbClr val="34373B"/>
                </a:solidFill>
                <a:latin typeface="Arial"/>
                <a:ea typeface="Arial"/>
                <a:cs typeface="Arial"/>
                <a:sym typeface="Arial"/>
              </a:rPr>
              <a:t>Injured in an accident and develops significant back pain.</a:t>
            </a:r>
            <a:endParaRPr b="0" i="0" sz="1300" u="none" cap="none" strike="noStrike">
              <a:solidFill>
                <a:srgbClr val="000000"/>
              </a:solidFill>
              <a:latin typeface="Arial"/>
              <a:ea typeface="Arial"/>
              <a:cs typeface="Arial"/>
              <a:sym typeface="Arial"/>
            </a:endParaRPr>
          </a:p>
        </p:txBody>
      </p:sp>
      <p:sp>
        <p:nvSpPr>
          <p:cNvPr id="437" name="Google Shape;437;p116"/>
          <p:cNvSpPr txBox="1"/>
          <p:nvPr/>
        </p:nvSpPr>
        <p:spPr>
          <a:xfrm>
            <a:off x="1076550" y="3887725"/>
            <a:ext cx="12599700" cy="8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His doctor provides pain medication.</a:t>
            </a:r>
            <a:endParaRPr b="0" i="0" sz="1400" u="none" cap="none" strike="noStrike">
              <a:solidFill>
                <a:srgbClr val="000000"/>
              </a:solidFill>
              <a:latin typeface="Arial"/>
              <a:ea typeface="Arial"/>
              <a:cs typeface="Arial"/>
              <a:sym typeface="Arial"/>
            </a:endParaRPr>
          </a:p>
        </p:txBody>
      </p:sp>
      <p:sp>
        <p:nvSpPr>
          <p:cNvPr id="438" name="Google Shape;438;p116"/>
          <p:cNvSpPr txBox="1"/>
          <p:nvPr/>
        </p:nvSpPr>
        <p:spPr>
          <a:xfrm>
            <a:off x="1028700" y="4771225"/>
            <a:ext cx="16532400" cy="12696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He takes it as prescribed without any problems for the first three months.</a:t>
            </a:r>
            <a:endParaRPr b="0" i="0" sz="1400" u="none" cap="none" strike="noStrike">
              <a:solidFill>
                <a:srgbClr val="000000"/>
              </a:solidFill>
              <a:latin typeface="Arial"/>
              <a:ea typeface="Arial"/>
              <a:cs typeface="Arial"/>
              <a:sym typeface="Arial"/>
            </a:endParaRPr>
          </a:p>
        </p:txBody>
      </p:sp>
      <p:sp>
        <p:nvSpPr>
          <p:cNvPr id="439" name="Google Shape;439;p116"/>
          <p:cNvSpPr txBox="1"/>
          <p:nvPr/>
        </p:nvSpPr>
        <p:spPr>
          <a:xfrm>
            <a:off x="1028700" y="6105075"/>
            <a:ext cx="11497800" cy="8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Then he starts running out early.</a:t>
            </a:r>
            <a:endParaRPr b="0" i="0" sz="1400" u="none" cap="none" strike="noStrike">
              <a:solidFill>
                <a:srgbClr val="000000"/>
              </a:solidFill>
              <a:latin typeface="Arial"/>
              <a:ea typeface="Arial"/>
              <a:cs typeface="Arial"/>
              <a:sym typeface="Arial"/>
            </a:endParaRPr>
          </a:p>
        </p:txBody>
      </p:sp>
      <p:sp>
        <p:nvSpPr>
          <p:cNvPr id="440" name="Google Shape;440;p116"/>
          <p:cNvSpPr txBox="1"/>
          <p:nvPr/>
        </p:nvSpPr>
        <p:spPr>
          <a:xfrm>
            <a:off x="1028700" y="6954150"/>
            <a:ext cx="14946300" cy="12696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He starts getting additional opioids and benzodiazepines outside his prescription.</a:t>
            </a:r>
            <a:endParaRPr b="0" i="0" sz="1400" u="none" cap="none" strike="noStrike">
              <a:solidFill>
                <a:srgbClr val="000000"/>
              </a:solidFill>
              <a:latin typeface="Arial"/>
              <a:ea typeface="Arial"/>
              <a:cs typeface="Arial"/>
              <a:sym typeface="Arial"/>
            </a:endParaRPr>
          </a:p>
        </p:txBody>
      </p:sp>
      <p:sp>
        <p:nvSpPr>
          <p:cNvPr id="441" name="Google Shape;441;p116"/>
          <p:cNvSpPr txBox="1"/>
          <p:nvPr/>
        </p:nvSpPr>
        <p:spPr>
          <a:xfrm>
            <a:off x="1028700" y="8322413"/>
            <a:ext cx="14946300" cy="12696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He begins scheming about how to get more and seeing multiple doctors.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445" name="Shape 445"/>
        <p:cNvGrpSpPr/>
        <p:nvPr/>
      </p:nvGrpSpPr>
      <p:grpSpPr>
        <a:xfrm>
          <a:off x="0" y="0"/>
          <a:ext cx="0" cy="0"/>
          <a:chOff x="0" y="0"/>
          <a:chExt cx="0" cy="0"/>
        </a:xfrm>
      </p:grpSpPr>
      <p:sp>
        <p:nvSpPr>
          <p:cNvPr id="446" name="Google Shape;446;p117"/>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117"/>
          <p:cNvSpPr txBox="1"/>
          <p:nvPr/>
        </p:nvSpPr>
        <p:spPr>
          <a:xfrm>
            <a:off x="1028700" y="1065299"/>
            <a:ext cx="16230600" cy="1409018"/>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34373B"/>
                </a:solidFill>
                <a:latin typeface="Arial"/>
                <a:ea typeface="Arial"/>
                <a:cs typeface="Arial"/>
                <a:sym typeface="Arial"/>
              </a:rPr>
              <a:t>Jack</a:t>
            </a:r>
            <a:endParaRPr b="0" i="0" sz="1400" u="none" cap="none" strike="noStrike">
              <a:solidFill>
                <a:srgbClr val="000000"/>
              </a:solidFill>
              <a:latin typeface="Arial"/>
              <a:ea typeface="Arial"/>
              <a:cs typeface="Arial"/>
              <a:sym typeface="Arial"/>
            </a:endParaRPr>
          </a:p>
        </p:txBody>
      </p:sp>
      <p:sp>
        <p:nvSpPr>
          <p:cNvPr id="448" name="Google Shape;448;p117"/>
          <p:cNvSpPr txBox="1"/>
          <p:nvPr/>
        </p:nvSpPr>
        <p:spPr>
          <a:xfrm>
            <a:off x="1028700" y="3302388"/>
            <a:ext cx="15549900" cy="12699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Clr>
                <a:srgbClr val="000000"/>
              </a:buClr>
              <a:buSzPts val="9454"/>
              <a:buFont typeface="Arial"/>
              <a:buNone/>
            </a:pPr>
            <a:r>
              <a:rPr b="1" i="0" lang="en-US" sz="8250" u="none" cap="none" strike="noStrike">
                <a:solidFill>
                  <a:srgbClr val="34373B"/>
                </a:solidFill>
                <a:latin typeface="Arial"/>
                <a:ea typeface="Arial"/>
                <a:cs typeface="Arial"/>
                <a:sym typeface="Arial"/>
              </a:rPr>
              <a:t>Where did the pattern change?</a:t>
            </a:r>
            <a:endParaRPr b="0" i="0" sz="825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452" name="Shape 452"/>
        <p:cNvGrpSpPr/>
        <p:nvPr/>
      </p:nvGrpSpPr>
      <p:grpSpPr>
        <a:xfrm>
          <a:off x="0" y="0"/>
          <a:ext cx="0" cy="0"/>
          <a:chOff x="0" y="0"/>
          <a:chExt cx="0" cy="0"/>
        </a:xfrm>
      </p:grpSpPr>
      <p:sp>
        <p:nvSpPr>
          <p:cNvPr id="453" name="Google Shape;453;p119"/>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119"/>
          <p:cNvSpPr txBox="1"/>
          <p:nvPr/>
        </p:nvSpPr>
        <p:spPr>
          <a:xfrm>
            <a:off x="1028700" y="1065299"/>
            <a:ext cx="16230600" cy="1409018"/>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8276"/>
              <a:buFont typeface="Arial"/>
              <a:buNone/>
            </a:pPr>
            <a:r>
              <a:rPr b="1" i="0" lang="en-US" sz="8276" u="none" cap="none" strike="noStrike">
                <a:solidFill>
                  <a:srgbClr val="34373B"/>
                </a:solidFill>
                <a:latin typeface="Arial"/>
                <a:ea typeface="Arial"/>
                <a:cs typeface="Arial"/>
                <a:sym typeface="Arial"/>
              </a:rPr>
              <a:t>Jack</a:t>
            </a:r>
            <a:endParaRPr b="0" i="0" sz="1400" u="none" cap="none" strike="noStrike">
              <a:solidFill>
                <a:srgbClr val="000000"/>
              </a:solidFill>
              <a:latin typeface="Arial"/>
              <a:ea typeface="Arial"/>
              <a:cs typeface="Arial"/>
              <a:sym typeface="Arial"/>
            </a:endParaRPr>
          </a:p>
        </p:txBody>
      </p:sp>
      <p:sp>
        <p:nvSpPr>
          <p:cNvPr id="455" name="Google Shape;455;p119"/>
          <p:cNvSpPr txBox="1"/>
          <p:nvPr/>
        </p:nvSpPr>
        <p:spPr>
          <a:xfrm>
            <a:off x="1028700" y="3128050"/>
            <a:ext cx="14463000" cy="1455300"/>
          </a:xfrm>
          <a:prstGeom prst="rect">
            <a:avLst/>
          </a:prstGeom>
          <a:noFill/>
          <a:ln>
            <a:noFill/>
          </a:ln>
        </p:spPr>
        <p:txBody>
          <a:bodyPr anchorCtr="0" anchor="t" bIns="0" lIns="0" spcFirstLastPara="1" rIns="0" wrap="square" tIns="0">
            <a:spAutoFit/>
          </a:bodyPr>
          <a:lstStyle/>
          <a:p>
            <a:pPr indent="0" lvl="0" marL="0" marR="0" rtl="0" algn="l">
              <a:lnSpc>
                <a:spcPct val="140004"/>
              </a:lnSpc>
              <a:spcBef>
                <a:spcPts val="0"/>
              </a:spcBef>
              <a:spcAft>
                <a:spcPts val="0"/>
              </a:spcAft>
              <a:buClr>
                <a:srgbClr val="000000"/>
              </a:buClr>
              <a:buSzPts val="9454"/>
              <a:buFont typeface="Arial"/>
              <a:buNone/>
            </a:pPr>
            <a:r>
              <a:rPr b="1" i="0" lang="en-US" sz="9454" u="none" cap="none" strike="noStrike">
                <a:solidFill>
                  <a:srgbClr val="34373B"/>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sp>
        <p:nvSpPr>
          <p:cNvPr id="456" name="Google Shape;456;p119"/>
          <p:cNvSpPr txBox="1"/>
          <p:nvPr/>
        </p:nvSpPr>
        <p:spPr>
          <a:xfrm>
            <a:off x="3787650" y="8185700"/>
            <a:ext cx="99891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4500"/>
              <a:buFont typeface="Arial"/>
              <a:buNone/>
            </a:pPr>
            <a:r>
              <a:rPr b="1" i="0" lang="en-US" sz="4500" u="none" cap="none" strike="noStrike">
                <a:solidFill>
                  <a:srgbClr val="69418B"/>
                </a:solidFill>
                <a:latin typeface="Arial"/>
                <a:ea typeface="Arial"/>
                <a:cs typeface="Arial"/>
                <a:sym typeface="Arial"/>
              </a:rPr>
              <a:t>Function - Freedom - Focus - Fallout</a:t>
            </a:r>
            <a:endParaRPr b="0" i="0" sz="1400" u="none" cap="none" strike="noStrike">
              <a:solidFill>
                <a:srgbClr val="000000"/>
              </a:solidFill>
              <a:latin typeface="Arial"/>
              <a:ea typeface="Arial"/>
              <a:cs typeface="Arial"/>
              <a:sym typeface="Arial"/>
            </a:endParaRPr>
          </a:p>
        </p:txBody>
      </p:sp>
      <p:sp>
        <p:nvSpPr>
          <p:cNvPr id="457" name="Google Shape;457;p119"/>
          <p:cNvSpPr txBox="1"/>
          <p:nvPr/>
        </p:nvSpPr>
        <p:spPr>
          <a:xfrm>
            <a:off x="1028700" y="5458800"/>
            <a:ext cx="14463000" cy="9627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6254"/>
              <a:buFont typeface="Arial"/>
              <a:buNone/>
            </a:pPr>
            <a:r>
              <a:rPr b="1" i="0" lang="en-US" sz="6254" u="none" cap="none" strike="noStrike">
                <a:solidFill>
                  <a:srgbClr val="34373B"/>
                </a:solidFill>
                <a:latin typeface="Arial"/>
                <a:ea typeface="Arial"/>
                <a:cs typeface="Arial"/>
                <a:sym typeface="Arial"/>
              </a:rPr>
              <a:t>What else would you need to know?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461" name="Shape 461"/>
        <p:cNvGrpSpPr/>
        <p:nvPr/>
      </p:nvGrpSpPr>
      <p:grpSpPr>
        <a:xfrm>
          <a:off x="0" y="0"/>
          <a:ext cx="0" cy="0"/>
          <a:chOff x="0" y="0"/>
          <a:chExt cx="0" cy="0"/>
        </a:xfrm>
      </p:grpSpPr>
      <p:sp>
        <p:nvSpPr>
          <p:cNvPr id="462" name="Google Shape;462;p123"/>
          <p:cNvSpPr/>
          <p:nvPr/>
        </p:nvSpPr>
        <p:spPr>
          <a:xfrm>
            <a:off x="13506551" y="5400358"/>
            <a:ext cx="6793596" cy="7113713"/>
          </a:xfrm>
          <a:custGeom>
            <a:rect b="b" l="l" r="r" t="t"/>
            <a:pathLst>
              <a:path extrusionOk="0" h="7113713" w="6793596">
                <a:moveTo>
                  <a:pt x="0" y="0"/>
                </a:moveTo>
                <a:lnTo>
                  <a:pt x="6793595" y="0"/>
                </a:lnTo>
                <a:lnTo>
                  <a:pt x="6793595"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123"/>
          <p:cNvSpPr txBox="1"/>
          <p:nvPr/>
        </p:nvSpPr>
        <p:spPr>
          <a:xfrm>
            <a:off x="863100" y="781000"/>
            <a:ext cx="17424900" cy="132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800"/>
              <a:buFont typeface="Arial"/>
              <a:buNone/>
            </a:pPr>
            <a:r>
              <a:rPr b="1" i="0" lang="en-US" sz="8600" u="none" cap="none" strike="noStrike">
                <a:solidFill>
                  <a:srgbClr val="34373B"/>
                </a:solidFill>
                <a:latin typeface="Arial"/>
                <a:ea typeface="Arial"/>
                <a:cs typeface="Arial"/>
                <a:sym typeface="Arial"/>
              </a:rPr>
              <a:t>What did they have in common?</a:t>
            </a:r>
            <a:endParaRPr b="0" i="0" sz="1200" u="none" cap="none" strike="noStrike">
              <a:solidFill>
                <a:srgbClr val="000000"/>
              </a:solidFill>
              <a:latin typeface="Arial"/>
              <a:ea typeface="Arial"/>
              <a:cs typeface="Arial"/>
              <a:sym typeface="Arial"/>
            </a:endParaRPr>
          </a:p>
        </p:txBody>
      </p:sp>
      <p:sp>
        <p:nvSpPr>
          <p:cNvPr id="464" name="Google Shape;464;p123"/>
          <p:cNvSpPr txBox="1"/>
          <p:nvPr/>
        </p:nvSpPr>
        <p:spPr>
          <a:xfrm>
            <a:off x="1028700" y="2371177"/>
            <a:ext cx="13005900" cy="9627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6254"/>
              <a:buFont typeface="Arial"/>
              <a:buNone/>
            </a:pPr>
            <a:r>
              <a:rPr b="1" i="0" lang="en-US" sz="6254" u="none" cap="none" strike="noStrike">
                <a:solidFill>
                  <a:srgbClr val="725B87"/>
                </a:solidFill>
                <a:latin typeface="Arial"/>
                <a:ea typeface="Arial"/>
                <a:cs typeface="Arial"/>
                <a:sym typeface="Arial"/>
              </a:rPr>
              <a:t>Tim - Lana - Buck - Leslie - Jack</a:t>
            </a:r>
            <a:endParaRPr b="0" i="0" sz="1400" u="none" cap="none" strike="noStrike">
              <a:solidFill>
                <a:srgbClr val="000000"/>
              </a:solidFill>
              <a:latin typeface="Arial"/>
              <a:ea typeface="Arial"/>
              <a:cs typeface="Arial"/>
              <a:sym typeface="Arial"/>
            </a:endParaRPr>
          </a:p>
        </p:txBody>
      </p:sp>
      <p:sp>
        <p:nvSpPr>
          <p:cNvPr id="465" name="Google Shape;465;p123"/>
          <p:cNvSpPr txBox="1"/>
          <p:nvPr/>
        </p:nvSpPr>
        <p:spPr>
          <a:xfrm>
            <a:off x="1028700" y="3600450"/>
            <a:ext cx="44100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Rationalizing</a:t>
            </a:r>
            <a:endParaRPr b="0" i="0" sz="1400" u="none" cap="none" strike="noStrike">
              <a:solidFill>
                <a:srgbClr val="000000"/>
              </a:solidFill>
              <a:latin typeface="Arial"/>
              <a:ea typeface="Arial"/>
              <a:cs typeface="Arial"/>
              <a:sym typeface="Arial"/>
            </a:endParaRPr>
          </a:p>
        </p:txBody>
      </p:sp>
      <p:sp>
        <p:nvSpPr>
          <p:cNvPr id="466" name="Google Shape;466;p123"/>
          <p:cNvSpPr txBox="1"/>
          <p:nvPr/>
        </p:nvSpPr>
        <p:spPr>
          <a:xfrm>
            <a:off x="1028700" y="4622800"/>
            <a:ext cx="48321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Preoccupation</a:t>
            </a:r>
            <a:endParaRPr b="0" i="0" sz="1400" u="none" cap="none" strike="noStrike">
              <a:solidFill>
                <a:srgbClr val="000000"/>
              </a:solidFill>
              <a:latin typeface="Arial"/>
              <a:ea typeface="Arial"/>
              <a:cs typeface="Arial"/>
              <a:sym typeface="Arial"/>
            </a:endParaRPr>
          </a:p>
        </p:txBody>
      </p:sp>
      <p:sp>
        <p:nvSpPr>
          <p:cNvPr id="467" name="Google Shape;467;p123"/>
          <p:cNvSpPr txBox="1"/>
          <p:nvPr/>
        </p:nvSpPr>
        <p:spPr>
          <a:xfrm>
            <a:off x="1028700" y="5645150"/>
            <a:ext cx="28902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Secrecy</a:t>
            </a:r>
            <a:endParaRPr b="0" i="0" sz="1400" u="none" cap="none" strike="noStrike">
              <a:solidFill>
                <a:srgbClr val="000000"/>
              </a:solidFill>
              <a:latin typeface="Arial"/>
              <a:ea typeface="Arial"/>
              <a:cs typeface="Arial"/>
              <a:sym typeface="Arial"/>
            </a:endParaRPr>
          </a:p>
        </p:txBody>
      </p:sp>
      <p:sp>
        <p:nvSpPr>
          <p:cNvPr id="468" name="Google Shape;468;p123"/>
          <p:cNvSpPr txBox="1"/>
          <p:nvPr/>
        </p:nvSpPr>
        <p:spPr>
          <a:xfrm>
            <a:off x="1028702" y="6667488"/>
            <a:ext cx="54147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Loss of control</a:t>
            </a:r>
            <a:endParaRPr b="0" i="0" sz="1400" u="none" cap="none" strike="noStrike">
              <a:solidFill>
                <a:srgbClr val="000000"/>
              </a:solidFill>
              <a:latin typeface="Arial"/>
              <a:ea typeface="Arial"/>
              <a:cs typeface="Arial"/>
              <a:sym typeface="Arial"/>
            </a:endParaRPr>
          </a:p>
        </p:txBody>
      </p:sp>
      <p:sp>
        <p:nvSpPr>
          <p:cNvPr id="469" name="Google Shape;469;p123"/>
          <p:cNvSpPr txBox="1"/>
          <p:nvPr/>
        </p:nvSpPr>
        <p:spPr>
          <a:xfrm>
            <a:off x="7531676" y="3600450"/>
            <a:ext cx="65028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Neglected priorities</a:t>
            </a:r>
            <a:endParaRPr b="0" i="0" sz="1400" u="none" cap="none" strike="noStrike">
              <a:solidFill>
                <a:srgbClr val="000000"/>
              </a:solidFill>
              <a:latin typeface="Arial"/>
              <a:ea typeface="Arial"/>
              <a:cs typeface="Arial"/>
              <a:sym typeface="Arial"/>
            </a:endParaRPr>
          </a:p>
        </p:txBody>
      </p:sp>
      <p:sp>
        <p:nvSpPr>
          <p:cNvPr id="470" name="Google Shape;470;p123"/>
          <p:cNvSpPr txBox="1"/>
          <p:nvPr/>
        </p:nvSpPr>
        <p:spPr>
          <a:xfrm>
            <a:off x="7531668" y="4622801"/>
            <a:ext cx="5912100" cy="169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499"/>
              <a:buFont typeface="Arial"/>
              <a:buNone/>
            </a:pPr>
            <a:r>
              <a:rPr b="0" i="0" lang="en-US" sz="5499" u="none" cap="none" strike="noStrike">
                <a:solidFill>
                  <a:srgbClr val="34373B"/>
                </a:solidFill>
                <a:latin typeface="Arial"/>
                <a:ea typeface="Arial"/>
                <a:cs typeface="Arial"/>
                <a:sym typeface="Arial"/>
              </a:rPr>
              <a:t>Continuing despite consequences</a:t>
            </a:r>
            <a:endParaRPr b="0" i="0" sz="1400" u="none" cap="none" strike="noStrike">
              <a:solidFill>
                <a:srgbClr val="000000"/>
              </a:solidFill>
              <a:latin typeface="Arial"/>
              <a:ea typeface="Arial"/>
              <a:cs typeface="Arial"/>
              <a:sym typeface="Arial"/>
            </a:endParaRPr>
          </a:p>
        </p:txBody>
      </p:sp>
      <p:sp>
        <p:nvSpPr>
          <p:cNvPr id="471" name="Google Shape;471;p123"/>
          <p:cNvSpPr txBox="1"/>
          <p:nvPr/>
        </p:nvSpPr>
        <p:spPr>
          <a:xfrm>
            <a:off x="1028700" y="8360375"/>
            <a:ext cx="13728300" cy="9627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6254"/>
              <a:buFont typeface="Arial"/>
              <a:buNone/>
            </a:pPr>
            <a:r>
              <a:rPr b="1" i="0" lang="en-US" sz="6254" u="none" cap="none" strike="noStrike">
                <a:solidFill>
                  <a:srgbClr val="725B87"/>
                </a:solidFill>
                <a:latin typeface="Arial"/>
                <a:ea typeface="Arial"/>
                <a:cs typeface="Arial"/>
                <a:sym typeface="Arial"/>
              </a:rPr>
              <a:t>Different behavior. Familiar pattern.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2"/>
        </a:solidFill>
      </p:bgPr>
    </p:bg>
    <p:spTree>
      <p:nvGrpSpPr>
        <p:cNvPr id="475" name="Shape 475"/>
        <p:cNvGrpSpPr/>
        <p:nvPr/>
      </p:nvGrpSpPr>
      <p:grpSpPr>
        <a:xfrm>
          <a:off x="0" y="0"/>
          <a:ext cx="0" cy="0"/>
          <a:chOff x="0" y="0"/>
          <a:chExt cx="0" cy="0"/>
        </a:xfrm>
      </p:grpSpPr>
      <p:sp>
        <p:nvSpPr>
          <p:cNvPr id="476" name="Google Shape;476;p126"/>
          <p:cNvSpPr txBox="1"/>
          <p:nvPr/>
        </p:nvSpPr>
        <p:spPr>
          <a:xfrm>
            <a:off x="1028700" y="828675"/>
            <a:ext cx="10631700" cy="1623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0545"/>
              <a:buFont typeface="Arial"/>
              <a:buNone/>
            </a:pPr>
            <a:r>
              <a:rPr b="1" i="0" lang="en-US" sz="10545" u="none" cap="none" strike="noStrike">
                <a:solidFill>
                  <a:srgbClr val="EDFFDC"/>
                </a:solidFill>
                <a:latin typeface="Arial"/>
                <a:ea typeface="Arial"/>
                <a:cs typeface="Arial"/>
                <a:sym typeface="Arial"/>
              </a:rPr>
              <a:t>What about me?</a:t>
            </a:r>
            <a:endParaRPr b="0" i="0" sz="1400" u="none" cap="none" strike="noStrike">
              <a:solidFill>
                <a:srgbClr val="000000"/>
              </a:solidFill>
              <a:latin typeface="Arial"/>
              <a:ea typeface="Arial"/>
              <a:cs typeface="Arial"/>
              <a:sym typeface="Arial"/>
            </a:endParaRPr>
          </a:p>
        </p:txBody>
      </p:sp>
      <p:sp>
        <p:nvSpPr>
          <p:cNvPr id="477" name="Google Shape;477;p126"/>
          <p:cNvSpPr txBox="1"/>
          <p:nvPr/>
        </p:nvSpPr>
        <p:spPr>
          <a:xfrm>
            <a:off x="1028700" y="3644525"/>
            <a:ext cx="3939900" cy="1062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0"/>
              <a:buFont typeface="Arial"/>
              <a:buNone/>
            </a:pPr>
            <a:r>
              <a:rPr b="1" i="0" lang="en-US" sz="6900" u="none" cap="none" strike="noStrike">
                <a:solidFill>
                  <a:srgbClr val="EDFFDC"/>
                </a:solidFill>
                <a:latin typeface="Arial"/>
                <a:ea typeface="Arial"/>
                <a:cs typeface="Arial"/>
                <a:sym typeface="Arial"/>
              </a:rPr>
              <a:t>Function</a:t>
            </a:r>
            <a:endParaRPr b="0" i="0" sz="1300" u="none" cap="none" strike="noStrike">
              <a:solidFill>
                <a:srgbClr val="000000"/>
              </a:solidFill>
              <a:latin typeface="Arial"/>
              <a:ea typeface="Arial"/>
              <a:cs typeface="Arial"/>
              <a:sym typeface="Arial"/>
            </a:endParaRPr>
          </a:p>
        </p:txBody>
      </p:sp>
      <p:sp>
        <p:nvSpPr>
          <p:cNvPr id="478" name="Google Shape;478;p126"/>
          <p:cNvSpPr txBox="1"/>
          <p:nvPr/>
        </p:nvSpPr>
        <p:spPr>
          <a:xfrm>
            <a:off x="5365050" y="3872725"/>
            <a:ext cx="7449900" cy="8310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399" u="none" cap="none" strike="noStrike">
                <a:solidFill>
                  <a:srgbClr val="EDFFDC"/>
                </a:solidFill>
                <a:latin typeface="Arial"/>
                <a:ea typeface="Arial"/>
                <a:cs typeface="Arial"/>
                <a:sym typeface="Arial"/>
              </a:rPr>
              <a:t>What is it doing for me?</a:t>
            </a:r>
            <a:endParaRPr b="0" i="0" sz="1300" u="none" cap="none" strike="noStrike">
              <a:solidFill>
                <a:srgbClr val="000000"/>
              </a:solidFill>
              <a:latin typeface="Arial"/>
              <a:ea typeface="Arial"/>
              <a:cs typeface="Arial"/>
              <a:sym typeface="Arial"/>
            </a:endParaRPr>
          </a:p>
        </p:txBody>
      </p:sp>
      <p:sp>
        <p:nvSpPr>
          <p:cNvPr id="479" name="Google Shape;479;p126"/>
          <p:cNvSpPr txBox="1"/>
          <p:nvPr/>
        </p:nvSpPr>
        <p:spPr>
          <a:xfrm>
            <a:off x="1028700" y="4666475"/>
            <a:ext cx="3939900" cy="1062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0"/>
              <a:buFont typeface="Arial"/>
              <a:buNone/>
            </a:pPr>
            <a:r>
              <a:rPr b="1" i="0" lang="en-US" sz="6900" u="none" cap="none" strike="noStrike">
                <a:solidFill>
                  <a:srgbClr val="EDFFDC"/>
                </a:solidFill>
                <a:latin typeface="Arial"/>
                <a:ea typeface="Arial"/>
                <a:cs typeface="Arial"/>
                <a:sym typeface="Arial"/>
              </a:rPr>
              <a:t>Freedom</a:t>
            </a:r>
            <a:endParaRPr b="0" i="0" sz="1300" u="none" cap="none" strike="noStrike">
              <a:solidFill>
                <a:srgbClr val="000000"/>
              </a:solidFill>
              <a:latin typeface="Arial"/>
              <a:ea typeface="Arial"/>
              <a:cs typeface="Arial"/>
              <a:sym typeface="Arial"/>
            </a:endParaRPr>
          </a:p>
        </p:txBody>
      </p:sp>
      <p:sp>
        <p:nvSpPr>
          <p:cNvPr id="480" name="Google Shape;480;p126"/>
          <p:cNvSpPr txBox="1"/>
          <p:nvPr/>
        </p:nvSpPr>
        <p:spPr>
          <a:xfrm>
            <a:off x="5365050" y="4818875"/>
            <a:ext cx="10179300" cy="8310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399" u="none" cap="none" strike="noStrike">
                <a:solidFill>
                  <a:srgbClr val="EDFFDC"/>
                </a:solidFill>
                <a:latin typeface="Arial"/>
                <a:ea typeface="Arial"/>
                <a:cs typeface="Arial"/>
                <a:sym typeface="Arial"/>
              </a:rPr>
              <a:t>How much choice do I still have?</a:t>
            </a:r>
            <a:endParaRPr b="0" i="0" sz="1300" u="none" cap="none" strike="noStrike">
              <a:solidFill>
                <a:srgbClr val="000000"/>
              </a:solidFill>
              <a:latin typeface="Arial"/>
              <a:ea typeface="Arial"/>
              <a:cs typeface="Arial"/>
              <a:sym typeface="Arial"/>
            </a:endParaRPr>
          </a:p>
        </p:txBody>
      </p:sp>
      <p:sp>
        <p:nvSpPr>
          <p:cNvPr id="481" name="Google Shape;481;p126"/>
          <p:cNvSpPr txBox="1"/>
          <p:nvPr/>
        </p:nvSpPr>
        <p:spPr>
          <a:xfrm>
            <a:off x="1028700" y="5726925"/>
            <a:ext cx="2654100" cy="1062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0"/>
              <a:buFont typeface="Arial"/>
              <a:buNone/>
            </a:pPr>
            <a:r>
              <a:rPr b="1" i="0" lang="en-US" sz="6900" u="none" cap="none" strike="noStrike">
                <a:solidFill>
                  <a:srgbClr val="EDFFDC"/>
                </a:solidFill>
                <a:latin typeface="Arial"/>
                <a:ea typeface="Arial"/>
                <a:cs typeface="Arial"/>
                <a:sym typeface="Arial"/>
              </a:rPr>
              <a:t>Focus</a:t>
            </a:r>
            <a:endParaRPr b="0" i="0" sz="1300" u="none" cap="none" strike="noStrike">
              <a:solidFill>
                <a:srgbClr val="000000"/>
              </a:solidFill>
              <a:latin typeface="Arial"/>
              <a:ea typeface="Arial"/>
              <a:cs typeface="Arial"/>
              <a:sym typeface="Arial"/>
            </a:endParaRPr>
          </a:p>
        </p:txBody>
      </p:sp>
      <p:sp>
        <p:nvSpPr>
          <p:cNvPr id="482" name="Google Shape;482;p126"/>
          <p:cNvSpPr txBox="1"/>
          <p:nvPr/>
        </p:nvSpPr>
        <p:spPr>
          <a:xfrm>
            <a:off x="4326775" y="5879325"/>
            <a:ext cx="13754700" cy="8310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399" u="none" cap="none" strike="noStrike">
                <a:solidFill>
                  <a:srgbClr val="EDFFDC"/>
                </a:solidFill>
                <a:latin typeface="Arial"/>
                <a:ea typeface="Arial"/>
                <a:cs typeface="Arial"/>
                <a:sym typeface="Arial"/>
              </a:rPr>
              <a:t>How much of my life is organizing around it?</a:t>
            </a:r>
            <a:endParaRPr b="0" i="0" sz="1300" u="none" cap="none" strike="noStrike">
              <a:solidFill>
                <a:srgbClr val="000000"/>
              </a:solidFill>
              <a:latin typeface="Arial"/>
              <a:ea typeface="Arial"/>
              <a:cs typeface="Arial"/>
              <a:sym typeface="Arial"/>
            </a:endParaRPr>
          </a:p>
        </p:txBody>
      </p:sp>
      <p:sp>
        <p:nvSpPr>
          <p:cNvPr id="483" name="Google Shape;483;p126"/>
          <p:cNvSpPr txBox="1"/>
          <p:nvPr/>
        </p:nvSpPr>
        <p:spPr>
          <a:xfrm>
            <a:off x="1028700" y="6787375"/>
            <a:ext cx="3021300" cy="1062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000"/>
              <a:buFont typeface="Arial"/>
              <a:buNone/>
            </a:pPr>
            <a:r>
              <a:rPr b="1" i="0" lang="en-US" sz="6900" u="none" cap="none" strike="noStrike">
                <a:solidFill>
                  <a:srgbClr val="EDFFDC"/>
                </a:solidFill>
                <a:latin typeface="Arial"/>
                <a:ea typeface="Arial"/>
                <a:cs typeface="Arial"/>
                <a:sym typeface="Arial"/>
              </a:rPr>
              <a:t>Fallout</a:t>
            </a:r>
            <a:endParaRPr b="0" i="0" sz="1300" u="none" cap="none" strike="noStrike">
              <a:solidFill>
                <a:srgbClr val="000000"/>
              </a:solidFill>
              <a:latin typeface="Arial"/>
              <a:ea typeface="Arial"/>
              <a:cs typeface="Arial"/>
              <a:sym typeface="Arial"/>
            </a:endParaRPr>
          </a:p>
        </p:txBody>
      </p:sp>
      <p:sp>
        <p:nvSpPr>
          <p:cNvPr id="484" name="Google Shape;484;p126"/>
          <p:cNvSpPr txBox="1"/>
          <p:nvPr/>
        </p:nvSpPr>
        <p:spPr>
          <a:xfrm>
            <a:off x="4326775" y="6939775"/>
            <a:ext cx="6834900" cy="8310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399" u="none" cap="none" strike="noStrike">
                <a:solidFill>
                  <a:srgbClr val="EDFFDC"/>
                </a:solidFill>
                <a:latin typeface="Arial"/>
                <a:ea typeface="Arial"/>
                <a:cs typeface="Arial"/>
                <a:sym typeface="Arial"/>
              </a:rPr>
              <a:t>What is it costing me?</a:t>
            </a:r>
            <a:endParaRPr b="0" i="0" sz="1300" u="none" cap="none" strike="noStrike">
              <a:solidFill>
                <a:srgbClr val="000000"/>
              </a:solidFill>
              <a:latin typeface="Arial"/>
              <a:ea typeface="Arial"/>
              <a:cs typeface="Arial"/>
              <a:sym typeface="Arial"/>
            </a:endParaRPr>
          </a:p>
        </p:txBody>
      </p:sp>
      <p:sp>
        <p:nvSpPr>
          <p:cNvPr id="485" name="Google Shape;485;p126"/>
          <p:cNvSpPr txBox="1"/>
          <p:nvPr/>
        </p:nvSpPr>
        <p:spPr>
          <a:xfrm>
            <a:off x="1159600" y="2374525"/>
            <a:ext cx="13754700" cy="8463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0" i="0" lang="en-US" sz="5499" u="none" cap="none" strike="noStrike">
                <a:solidFill>
                  <a:srgbClr val="EDFFDC"/>
                </a:solidFill>
                <a:latin typeface="Arial"/>
                <a:ea typeface="Arial"/>
                <a:cs typeface="Arial"/>
                <a:sym typeface="Arial"/>
              </a:rPr>
              <a:t>Is there anything I use to change how I feel?</a:t>
            </a:r>
            <a:endParaRPr b="0" i="0" sz="1400" u="none" cap="none" strike="noStrike">
              <a:solidFill>
                <a:srgbClr val="000000"/>
              </a:solidFill>
              <a:latin typeface="Arial"/>
              <a:ea typeface="Arial"/>
              <a:cs typeface="Arial"/>
              <a:sym typeface="Arial"/>
            </a:endParaRPr>
          </a:p>
        </p:txBody>
      </p:sp>
      <p:sp>
        <p:nvSpPr>
          <p:cNvPr id="486" name="Google Shape;486;p126"/>
          <p:cNvSpPr txBox="1"/>
          <p:nvPr/>
        </p:nvSpPr>
        <p:spPr>
          <a:xfrm>
            <a:off x="1028700" y="8064500"/>
            <a:ext cx="16230600" cy="1031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700"/>
              <a:buFont typeface="Arial"/>
              <a:buNone/>
            </a:pPr>
            <a:r>
              <a:rPr b="1" i="1" lang="en-US" sz="6700" u="none" cap="none" strike="noStrike">
                <a:solidFill>
                  <a:srgbClr val="EDFFDC"/>
                </a:solidFill>
                <a:latin typeface="Arial"/>
                <a:ea typeface="Arial"/>
                <a:cs typeface="Arial"/>
                <a:sym typeface="Arial"/>
              </a:rPr>
              <a:t>Notice the pattern. Don’t rush to label it.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652"/>
        </a:solidFill>
      </p:bgPr>
    </p:bg>
    <p:spTree>
      <p:nvGrpSpPr>
        <p:cNvPr id="490" name="Shape 490"/>
        <p:cNvGrpSpPr/>
        <p:nvPr/>
      </p:nvGrpSpPr>
      <p:grpSpPr>
        <a:xfrm>
          <a:off x="0" y="0"/>
          <a:ext cx="0" cy="0"/>
          <a:chOff x="0" y="0"/>
          <a:chExt cx="0" cy="0"/>
        </a:xfrm>
      </p:grpSpPr>
      <p:sp>
        <p:nvSpPr>
          <p:cNvPr id="491" name="Google Shape;491;p132"/>
          <p:cNvSpPr txBox="1"/>
          <p:nvPr/>
        </p:nvSpPr>
        <p:spPr>
          <a:xfrm>
            <a:off x="1028700" y="560775"/>
            <a:ext cx="13282200" cy="1623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0545"/>
              <a:buFont typeface="Arial"/>
              <a:buNone/>
            </a:pPr>
            <a:r>
              <a:rPr b="1" i="0" lang="en-US" sz="10545" u="none" cap="none" strike="noStrike">
                <a:solidFill>
                  <a:srgbClr val="EDFFDC"/>
                </a:solidFill>
                <a:latin typeface="Arial"/>
                <a:ea typeface="Arial"/>
                <a:cs typeface="Arial"/>
                <a:sym typeface="Arial"/>
              </a:rPr>
              <a:t>Protecting Recovery</a:t>
            </a:r>
            <a:endParaRPr b="0" i="0" sz="1400" u="none" cap="none" strike="noStrike">
              <a:solidFill>
                <a:srgbClr val="000000"/>
              </a:solidFill>
              <a:latin typeface="Arial"/>
              <a:ea typeface="Arial"/>
              <a:cs typeface="Arial"/>
              <a:sym typeface="Arial"/>
            </a:endParaRPr>
          </a:p>
        </p:txBody>
      </p:sp>
      <p:sp>
        <p:nvSpPr>
          <p:cNvPr id="492" name="Google Shape;492;p132"/>
          <p:cNvSpPr txBox="1"/>
          <p:nvPr/>
        </p:nvSpPr>
        <p:spPr>
          <a:xfrm>
            <a:off x="1028700" y="2216975"/>
            <a:ext cx="3729900" cy="79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7000"/>
              <a:buFont typeface="Arial"/>
              <a:buNone/>
            </a:pPr>
            <a:r>
              <a:rPr b="1" i="0" lang="en-US" sz="6900" u="none" cap="none" strike="noStrike">
                <a:solidFill>
                  <a:srgbClr val="EDFFDC"/>
                </a:solidFill>
                <a:latin typeface="Arial"/>
                <a:ea typeface="Arial"/>
                <a:cs typeface="Arial"/>
                <a:sym typeface="Arial"/>
              </a:rPr>
              <a:t>Notice it</a:t>
            </a:r>
            <a:endParaRPr b="0" i="0" sz="1300" u="none" cap="none" strike="noStrike">
              <a:solidFill>
                <a:srgbClr val="000000"/>
              </a:solidFill>
              <a:latin typeface="Arial"/>
              <a:ea typeface="Arial"/>
              <a:cs typeface="Arial"/>
              <a:sym typeface="Arial"/>
            </a:endParaRPr>
          </a:p>
        </p:txBody>
      </p:sp>
      <p:sp>
        <p:nvSpPr>
          <p:cNvPr id="493" name="Google Shape;493;p132"/>
          <p:cNvSpPr txBox="1"/>
          <p:nvPr/>
        </p:nvSpPr>
        <p:spPr>
          <a:xfrm>
            <a:off x="1028700" y="3039000"/>
            <a:ext cx="5724300" cy="6234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399" u="none" cap="none" strike="noStrike">
                <a:solidFill>
                  <a:srgbClr val="EDFFDC"/>
                </a:solidFill>
                <a:latin typeface="Arial"/>
                <a:ea typeface="Arial"/>
                <a:cs typeface="Arial"/>
                <a:sym typeface="Arial"/>
              </a:rPr>
              <a:t>Catch the pattern.</a:t>
            </a:r>
            <a:endParaRPr b="0" i="0" sz="1300" u="none" cap="none" strike="noStrike">
              <a:solidFill>
                <a:srgbClr val="000000"/>
              </a:solidFill>
              <a:latin typeface="Arial"/>
              <a:ea typeface="Arial"/>
              <a:cs typeface="Arial"/>
              <a:sym typeface="Arial"/>
            </a:endParaRPr>
          </a:p>
        </p:txBody>
      </p:sp>
      <p:sp>
        <p:nvSpPr>
          <p:cNvPr id="494" name="Google Shape;494;p132"/>
          <p:cNvSpPr/>
          <p:nvPr/>
        </p:nvSpPr>
        <p:spPr>
          <a:xfrm>
            <a:off x="14524535" y="-2528156"/>
            <a:ext cx="6793596" cy="7113713"/>
          </a:xfrm>
          <a:custGeom>
            <a:rect b="b" l="l" r="r" t="t"/>
            <a:pathLst>
              <a:path extrusionOk="0" h="7113713" w="6793596">
                <a:moveTo>
                  <a:pt x="0" y="0"/>
                </a:moveTo>
                <a:lnTo>
                  <a:pt x="6793596" y="0"/>
                </a:lnTo>
                <a:lnTo>
                  <a:pt x="6793596"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132"/>
          <p:cNvSpPr txBox="1"/>
          <p:nvPr/>
        </p:nvSpPr>
        <p:spPr>
          <a:xfrm>
            <a:off x="1028689" y="4098045"/>
            <a:ext cx="6349500" cy="79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7000"/>
              <a:buFont typeface="Arial"/>
              <a:buNone/>
            </a:pPr>
            <a:r>
              <a:rPr b="1" i="0" lang="en-US" sz="6900" u="none" cap="none" strike="noStrike">
                <a:solidFill>
                  <a:srgbClr val="EDFFDC"/>
                </a:solidFill>
                <a:latin typeface="Arial"/>
                <a:ea typeface="Arial"/>
                <a:cs typeface="Arial"/>
                <a:sym typeface="Arial"/>
              </a:rPr>
              <a:t>Name the need</a:t>
            </a:r>
            <a:endParaRPr b="0" i="0" sz="1300" u="none" cap="none" strike="noStrike">
              <a:solidFill>
                <a:srgbClr val="000000"/>
              </a:solidFill>
              <a:latin typeface="Arial"/>
              <a:ea typeface="Arial"/>
              <a:cs typeface="Arial"/>
              <a:sym typeface="Arial"/>
            </a:endParaRPr>
          </a:p>
        </p:txBody>
      </p:sp>
      <p:sp>
        <p:nvSpPr>
          <p:cNvPr id="496" name="Google Shape;496;p132"/>
          <p:cNvSpPr txBox="1"/>
          <p:nvPr/>
        </p:nvSpPr>
        <p:spPr>
          <a:xfrm>
            <a:off x="1028701" y="4836815"/>
            <a:ext cx="6098100" cy="124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399" u="none" cap="none" strike="noStrike">
                <a:solidFill>
                  <a:srgbClr val="EDFFDC"/>
                </a:solidFill>
                <a:latin typeface="Arial"/>
                <a:ea typeface="Arial"/>
                <a:cs typeface="Arial"/>
                <a:sym typeface="Arial"/>
              </a:rPr>
              <a:t>What am I actually trying to get?</a:t>
            </a:r>
            <a:endParaRPr b="0" i="0" sz="1300" u="none" cap="none" strike="noStrike">
              <a:solidFill>
                <a:srgbClr val="000000"/>
              </a:solidFill>
              <a:latin typeface="Arial"/>
              <a:ea typeface="Arial"/>
              <a:cs typeface="Arial"/>
              <a:sym typeface="Arial"/>
            </a:endParaRPr>
          </a:p>
        </p:txBody>
      </p:sp>
      <p:sp>
        <p:nvSpPr>
          <p:cNvPr id="497" name="Google Shape;497;p132"/>
          <p:cNvSpPr txBox="1"/>
          <p:nvPr/>
        </p:nvSpPr>
        <p:spPr>
          <a:xfrm>
            <a:off x="1028700" y="6596738"/>
            <a:ext cx="5170800" cy="79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7000"/>
              <a:buFont typeface="Arial"/>
              <a:buNone/>
            </a:pPr>
            <a:r>
              <a:rPr b="1" i="0" lang="en-US" sz="6900" u="none" cap="none" strike="noStrike">
                <a:solidFill>
                  <a:srgbClr val="EDFFDC"/>
                </a:solidFill>
                <a:latin typeface="Arial"/>
                <a:ea typeface="Arial"/>
                <a:cs typeface="Arial"/>
                <a:sym typeface="Arial"/>
              </a:rPr>
              <a:t>Talk about it</a:t>
            </a:r>
            <a:endParaRPr b="0" i="0" sz="1300" u="none" cap="none" strike="noStrike">
              <a:solidFill>
                <a:srgbClr val="000000"/>
              </a:solidFill>
              <a:latin typeface="Arial"/>
              <a:ea typeface="Arial"/>
              <a:cs typeface="Arial"/>
              <a:sym typeface="Arial"/>
            </a:endParaRPr>
          </a:p>
        </p:txBody>
      </p:sp>
      <p:sp>
        <p:nvSpPr>
          <p:cNvPr id="498" name="Google Shape;498;p132"/>
          <p:cNvSpPr txBox="1"/>
          <p:nvPr/>
        </p:nvSpPr>
        <p:spPr>
          <a:xfrm>
            <a:off x="1186200" y="7393250"/>
            <a:ext cx="5409300" cy="124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399" u="none" cap="none" strike="noStrike">
                <a:solidFill>
                  <a:srgbClr val="EDFFDC"/>
                </a:solidFill>
                <a:latin typeface="Arial"/>
                <a:ea typeface="Arial"/>
                <a:cs typeface="Arial"/>
                <a:sym typeface="Arial"/>
              </a:rPr>
              <a:t>Don’t let secrecy do the driving.</a:t>
            </a:r>
            <a:endParaRPr b="0" i="0" sz="1300" u="none" cap="none" strike="noStrike">
              <a:solidFill>
                <a:srgbClr val="000000"/>
              </a:solidFill>
              <a:latin typeface="Arial"/>
              <a:ea typeface="Arial"/>
              <a:cs typeface="Arial"/>
              <a:sym typeface="Arial"/>
            </a:endParaRPr>
          </a:p>
        </p:txBody>
      </p:sp>
      <p:sp>
        <p:nvSpPr>
          <p:cNvPr id="499" name="Google Shape;499;p132"/>
          <p:cNvSpPr txBox="1"/>
          <p:nvPr/>
        </p:nvSpPr>
        <p:spPr>
          <a:xfrm>
            <a:off x="8170925" y="2216975"/>
            <a:ext cx="5409300" cy="79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7000"/>
              <a:buFont typeface="Arial"/>
              <a:buNone/>
            </a:pPr>
            <a:r>
              <a:rPr b="1" i="0" lang="en-US" sz="6900" u="none" cap="none" strike="noStrike">
                <a:solidFill>
                  <a:srgbClr val="EDFFDC"/>
                </a:solidFill>
                <a:latin typeface="Arial"/>
                <a:ea typeface="Arial"/>
                <a:cs typeface="Arial"/>
                <a:sym typeface="Arial"/>
              </a:rPr>
              <a:t>Add Options</a:t>
            </a:r>
            <a:endParaRPr b="0" i="0" sz="1300" u="none" cap="none" strike="noStrike">
              <a:solidFill>
                <a:srgbClr val="000000"/>
              </a:solidFill>
              <a:latin typeface="Arial"/>
              <a:ea typeface="Arial"/>
              <a:cs typeface="Arial"/>
              <a:sym typeface="Arial"/>
            </a:endParaRPr>
          </a:p>
        </p:txBody>
      </p:sp>
      <p:sp>
        <p:nvSpPr>
          <p:cNvPr id="500" name="Google Shape;500;p132"/>
          <p:cNvSpPr txBox="1"/>
          <p:nvPr/>
        </p:nvSpPr>
        <p:spPr>
          <a:xfrm>
            <a:off x="8170926" y="3046663"/>
            <a:ext cx="7919400" cy="124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399" u="none" cap="none" strike="noStrike">
                <a:solidFill>
                  <a:srgbClr val="EDFFDC"/>
                </a:solidFill>
                <a:latin typeface="Arial"/>
                <a:ea typeface="Arial"/>
                <a:cs typeface="Arial"/>
                <a:sym typeface="Arial"/>
              </a:rPr>
              <a:t>One coping skill does not need seventeen jobs.</a:t>
            </a:r>
            <a:endParaRPr b="0" i="0" sz="1300" u="none" cap="none" strike="noStrike">
              <a:solidFill>
                <a:srgbClr val="000000"/>
              </a:solidFill>
              <a:latin typeface="Arial"/>
              <a:ea typeface="Arial"/>
              <a:cs typeface="Arial"/>
              <a:sym typeface="Arial"/>
            </a:endParaRPr>
          </a:p>
        </p:txBody>
      </p:sp>
      <p:sp>
        <p:nvSpPr>
          <p:cNvPr id="501" name="Google Shape;501;p132"/>
          <p:cNvSpPr txBox="1"/>
          <p:nvPr/>
        </p:nvSpPr>
        <p:spPr>
          <a:xfrm>
            <a:off x="8170925" y="5012038"/>
            <a:ext cx="5566800" cy="79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7000"/>
              <a:buFont typeface="Arial"/>
              <a:buNone/>
            </a:pPr>
            <a:r>
              <a:rPr b="1" i="0" lang="en-US" sz="6900" u="none" cap="none" strike="noStrike">
                <a:solidFill>
                  <a:srgbClr val="EDFFDC"/>
                </a:solidFill>
                <a:latin typeface="Arial"/>
                <a:ea typeface="Arial"/>
                <a:cs typeface="Arial"/>
                <a:sym typeface="Arial"/>
              </a:rPr>
              <a:t>Use Support</a:t>
            </a:r>
            <a:endParaRPr b="0" i="0" sz="1300" u="none" cap="none" strike="noStrike">
              <a:solidFill>
                <a:srgbClr val="000000"/>
              </a:solidFill>
              <a:latin typeface="Arial"/>
              <a:ea typeface="Arial"/>
              <a:cs typeface="Arial"/>
              <a:sym typeface="Arial"/>
            </a:endParaRPr>
          </a:p>
        </p:txBody>
      </p:sp>
      <p:sp>
        <p:nvSpPr>
          <p:cNvPr id="502" name="Google Shape;502;p132"/>
          <p:cNvSpPr txBox="1"/>
          <p:nvPr/>
        </p:nvSpPr>
        <p:spPr>
          <a:xfrm>
            <a:off x="8170925" y="5808550"/>
            <a:ext cx="8663400" cy="1246500"/>
          </a:xfrm>
          <a:prstGeom prst="rect">
            <a:avLst/>
          </a:prstGeom>
          <a:noFill/>
          <a:ln>
            <a:noFill/>
          </a:ln>
        </p:spPr>
        <p:txBody>
          <a:bodyPr anchorCtr="0" anchor="t" bIns="0" lIns="0" spcFirstLastPara="1" rIns="0" wrap="square" tIns="0">
            <a:spAutoFit/>
          </a:bodyPr>
          <a:lstStyle/>
          <a:p>
            <a:pPr indent="0" lvl="0" marL="0" marR="0" rtl="0" algn="l">
              <a:lnSpc>
                <a:spcPct val="75000"/>
              </a:lnSpc>
              <a:spcBef>
                <a:spcPts val="0"/>
              </a:spcBef>
              <a:spcAft>
                <a:spcPts val="0"/>
              </a:spcAft>
              <a:buClr>
                <a:srgbClr val="000000"/>
              </a:buClr>
              <a:buSzPts val="5499"/>
              <a:buFont typeface="Arial"/>
              <a:buNone/>
            </a:pPr>
            <a:r>
              <a:rPr b="0" i="0" lang="en-US" sz="5399" u="none" cap="none" strike="noStrike">
                <a:solidFill>
                  <a:srgbClr val="EDFFDC"/>
                </a:solidFill>
                <a:latin typeface="Arial"/>
                <a:ea typeface="Arial"/>
                <a:cs typeface="Arial"/>
                <a:sym typeface="Arial"/>
              </a:rPr>
              <a:t>Recovery was never meant to be a solo project.</a:t>
            </a:r>
            <a:endParaRPr b="0" i="0" sz="13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FFDC"/>
        </a:solidFill>
      </p:bgPr>
    </p:bg>
    <p:spTree>
      <p:nvGrpSpPr>
        <p:cNvPr id="506" name="Shape 506"/>
        <p:cNvGrpSpPr/>
        <p:nvPr/>
      </p:nvGrpSpPr>
      <p:grpSpPr>
        <a:xfrm>
          <a:off x="0" y="0"/>
          <a:ext cx="0" cy="0"/>
          <a:chOff x="0" y="0"/>
          <a:chExt cx="0" cy="0"/>
        </a:xfrm>
      </p:grpSpPr>
      <p:sp>
        <p:nvSpPr>
          <p:cNvPr id="507" name="Google Shape;507;p139"/>
          <p:cNvSpPr/>
          <p:nvPr/>
        </p:nvSpPr>
        <p:spPr>
          <a:xfrm>
            <a:off x="12745856" y="578382"/>
            <a:ext cx="8719375" cy="9130235"/>
          </a:xfrm>
          <a:custGeom>
            <a:rect b="b" l="l" r="r" t="t"/>
            <a:pathLst>
              <a:path extrusionOk="0" h="9130235" w="8719375">
                <a:moveTo>
                  <a:pt x="0" y="0"/>
                </a:moveTo>
                <a:lnTo>
                  <a:pt x="8719374" y="0"/>
                </a:lnTo>
                <a:lnTo>
                  <a:pt x="8719374" y="9130236"/>
                </a:lnTo>
                <a:lnTo>
                  <a:pt x="0" y="9130236"/>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139"/>
          <p:cNvSpPr txBox="1"/>
          <p:nvPr/>
        </p:nvSpPr>
        <p:spPr>
          <a:xfrm>
            <a:off x="1028700" y="895350"/>
            <a:ext cx="13725000" cy="11544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1" i="0" lang="en-US" sz="7500" u="none" cap="none" strike="noStrike">
                <a:solidFill>
                  <a:srgbClr val="34373B"/>
                </a:solidFill>
                <a:latin typeface="Arial"/>
                <a:ea typeface="Arial"/>
                <a:cs typeface="Arial"/>
                <a:sym typeface="Arial"/>
              </a:rPr>
              <a:t>My Recovery Dashboard</a:t>
            </a:r>
            <a:endParaRPr b="0" i="0" sz="7500" u="none" cap="none" strike="noStrike">
              <a:solidFill>
                <a:srgbClr val="000000"/>
              </a:solidFill>
              <a:latin typeface="Arial"/>
              <a:ea typeface="Arial"/>
              <a:cs typeface="Arial"/>
              <a:sym typeface="Arial"/>
            </a:endParaRPr>
          </a:p>
        </p:txBody>
      </p:sp>
      <p:sp>
        <p:nvSpPr>
          <p:cNvPr id="509" name="Google Shape;509;p139"/>
          <p:cNvSpPr txBox="1"/>
          <p:nvPr/>
        </p:nvSpPr>
        <p:spPr>
          <a:xfrm>
            <a:off x="4076675" y="2646025"/>
            <a:ext cx="10869300" cy="846600"/>
          </a:xfrm>
          <a:prstGeom prst="rect">
            <a:avLst/>
          </a:prstGeom>
          <a:noFill/>
          <a:ln>
            <a:noFill/>
          </a:ln>
        </p:spPr>
        <p:txBody>
          <a:bodyPr anchorCtr="0" anchor="t" bIns="0" lIns="0" spcFirstLastPara="1" rIns="0" wrap="square" tIns="0">
            <a:spAutoFit/>
          </a:bodyPr>
          <a:lstStyle/>
          <a:p>
            <a:pPr indent="0" lvl="0" marL="0" marR="0" rtl="0" algn="l">
              <a:lnSpc>
                <a:spcPct val="140034"/>
              </a:lnSpc>
              <a:spcBef>
                <a:spcPts val="0"/>
              </a:spcBef>
              <a:spcAft>
                <a:spcPts val="0"/>
              </a:spcAft>
              <a:buClr>
                <a:srgbClr val="000000"/>
              </a:buClr>
              <a:buSzPts val="3502"/>
              <a:buFont typeface="Arial"/>
              <a:buNone/>
            </a:pPr>
            <a:r>
              <a:rPr b="0" i="0" lang="en-US" sz="5500" u="none" cap="none" strike="noStrike">
                <a:solidFill>
                  <a:srgbClr val="725B87"/>
                </a:solidFill>
                <a:latin typeface="Arial"/>
                <a:ea typeface="Arial"/>
                <a:cs typeface="Arial"/>
                <a:sym typeface="Arial"/>
              </a:rPr>
              <a:t>What pattern do I need to watch?</a:t>
            </a:r>
            <a:endParaRPr b="0" i="0" sz="5500" u="none" cap="none" strike="noStrike">
              <a:solidFill>
                <a:srgbClr val="000000"/>
              </a:solidFill>
              <a:latin typeface="Arial"/>
              <a:ea typeface="Arial"/>
              <a:cs typeface="Arial"/>
              <a:sym typeface="Arial"/>
            </a:endParaRPr>
          </a:p>
        </p:txBody>
      </p:sp>
      <p:sp>
        <p:nvSpPr>
          <p:cNvPr id="510" name="Google Shape;510;p139"/>
          <p:cNvSpPr txBox="1"/>
          <p:nvPr/>
        </p:nvSpPr>
        <p:spPr>
          <a:xfrm>
            <a:off x="1028700" y="2554280"/>
            <a:ext cx="2313000" cy="9234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1" i="0" lang="en-US" sz="6000" u="none" cap="none" strike="noStrike">
                <a:solidFill>
                  <a:srgbClr val="725B87"/>
                </a:solidFill>
                <a:latin typeface="Arial"/>
                <a:ea typeface="Arial"/>
                <a:cs typeface="Arial"/>
                <a:sym typeface="Arial"/>
              </a:rPr>
              <a:t>Watch</a:t>
            </a:r>
            <a:endParaRPr b="0" i="0" sz="6000" u="none" cap="none" strike="noStrike">
              <a:solidFill>
                <a:srgbClr val="000000"/>
              </a:solidFill>
              <a:latin typeface="Arial"/>
              <a:ea typeface="Arial"/>
              <a:cs typeface="Arial"/>
              <a:sym typeface="Arial"/>
            </a:endParaRPr>
          </a:p>
        </p:txBody>
      </p:sp>
      <p:sp>
        <p:nvSpPr>
          <p:cNvPr id="511" name="Google Shape;511;p139"/>
          <p:cNvSpPr txBox="1"/>
          <p:nvPr/>
        </p:nvSpPr>
        <p:spPr>
          <a:xfrm>
            <a:off x="1028700" y="3614725"/>
            <a:ext cx="2597400" cy="9234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1" i="0" lang="en-US" sz="6000" u="none" cap="none" strike="noStrike">
                <a:solidFill>
                  <a:srgbClr val="725B87"/>
                </a:solidFill>
                <a:latin typeface="Arial"/>
                <a:ea typeface="Arial"/>
                <a:cs typeface="Arial"/>
                <a:sym typeface="Arial"/>
              </a:rPr>
              <a:t>Notice</a:t>
            </a:r>
            <a:endParaRPr b="0" i="0" sz="6000" u="none" cap="none" strike="noStrike">
              <a:solidFill>
                <a:srgbClr val="000000"/>
              </a:solidFill>
              <a:latin typeface="Arial"/>
              <a:ea typeface="Arial"/>
              <a:cs typeface="Arial"/>
              <a:sym typeface="Arial"/>
            </a:endParaRPr>
          </a:p>
        </p:txBody>
      </p:sp>
      <p:sp>
        <p:nvSpPr>
          <p:cNvPr id="512" name="Google Shape;512;p139"/>
          <p:cNvSpPr txBox="1"/>
          <p:nvPr/>
        </p:nvSpPr>
        <p:spPr>
          <a:xfrm>
            <a:off x="4076675" y="3689975"/>
            <a:ext cx="11604300" cy="169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502"/>
              <a:buFont typeface="Arial"/>
              <a:buNone/>
            </a:pPr>
            <a:r>
              <a:rPr b="0" i="0" lang="en-US" sz="5500" u="none" cap="none" strike="noStrike">
                <a:solidFill>
                  <a:srgbClr val="725B87"/>
                </a:solidFill>
                <a:latin typeface="Arial"/>
                <a:ea typeface="Arial"/>
                <a:cs typeface="Arial"/>
                <a:sym typeface="Arial"/>
              </a:rPr>
              <a:t>What would tell me early that something is changing?</a:t>
            </a:r>
            <a:endParaRPr b="0" i="0" sz="5500" u="none" cap="none" strike="noStrike">
              <a:solidFill>
                <a:srgbClr val="000000"/>
              </a:solidFill>
              <a:latin typeface="Arial"/>
              <a:ea typeface="Arial"/>
              <a:cs typeface="Arial"/>
              <a:sym typeface="Arial"/>
            </a:endParaRPr>
          </a:p>
        </p:txBody>
      </p:sp>
      <p:sp>
        <p:nvSpPr>
          <p:cNvPr id="513" name="Google Shape;513;p139"/>
          <p:cNvSpPr txBox="1"/>
          <p:nvPr/>
        </p:nvSpPr>
        <p:spPr>
          <a:xfrm>
            <a:off x="1028700" y="5542133"/>
            <a:ext cx="2313000" cy="9234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1" i="0" lang="en-US" sz="6000" u="none" cap="none" strike="noStrike">
                <a:solidFill>
                  <a:srgbClr val="725B87"/>
                </a:solidFill>
                <a:latin typeface="Arial"/>
                <a:ea typeface="Arial"/>
                <a:cs typeface="Arial"/>
                <a:sym typeface="Arial"/>
              </a:rPr>
              <a:t>Need</a:t>
            </a:r>
            <a:endParaRPr b="0" i="0" sz="6000" u="none" cap="none" strike="noStrike">
              <a:solidFill>
                <a:srgbClr val="000000"/>
              </a:solidFill>
              <a:latin typeface="Arial"/>
              <a:ea typeface="Arial"/>
              <a:cs typeface="Arial"/>
              <a:sym typeface="Arial"/>
            </a:endParaRPr>
          </a:p>
        </p:txBody>
      </p:sp>
      <p:sp>
        <p:nvSpPr>
          <p:cNvPr id="514" name="Google Shape;514;p139"/>
          <p:cNvSpPr txBox="1"/>
          <p:nvPr/>
        </p:nvSpPr>
        <p:spPr>
          <a:xfrm>
            <a:off x="4076666" y="5580534"/>
            <a:ext cx="11044200" cy="846600"/>
          </a:xfrm>
          <a:prstGeom prst="rect">
            <a:avLst/>
          </a:prstGeom>
          <a:noFill/>
          <a:ln>
            <a:noFill/>
          </a:ln>
        </p:spPr>
        <p:txBody>
          <a:bodyPr anchorCtr="0" anchor="t" bIns="0" lIns="0" spcFirstLastPara="1" rIns="0" wrap="square" tIns="0">
            <a:spAutoFit/>
          </a:bodyPr>
          <a:lstStyle/>
          <a:p>
            <a:pPr indent="0" lvl="0" marL="0" marR="0" rtl="0" algn="l">
              <a:lnSpc>
                <a:spcPct val="140034"/>
              </a:lnSpc>
              <a:spcBef>
                <a:spcPts val="0"/>
              </a:spcBef>
              <a:spcAft>
                <a:spcPts val="0"/>
              </a:spcAft>
              <a:buClr>
                <a:srgbClr val="000000"/>
              </a:buClr>
              <a:buSzPts val="3502"/>
              <a:buFont typeface="Arial"/>
              <a:buNone/>
            </a:pPr>
            <a:r>
              <a:rPr b="0" i="0" lang="en-US" sz="5500" u="none" cap="none" strike="noStrike">
                <a:solidFill>
                  <a:srgbClr val="725B87"/>
                </a:solidFill>
                <a:latin typeface="Arial"/>
                <a:ea typeface="Arial"/>
                <a:cs typeface="Arial"/>
                <a:sym typeface="Arial"/>
              </a:rPr>
              <a:t>What am I actually needing?</a:t>
            </a:r>
            <a:endParaRPr b="0" i="0" sz="5500" u="none" cap="none" strike="noStrike">
              <a:solidFill>
                <a:srgbClr val="000000"/>
              </a:solidFill>
              <a:latin typeface="Arial"/>
              <a:ea typeface="Arial"/>
              <a:cs typeface="Arial"/>
              <a:sym typeface="Arial"/>
            </a:endParaRPr>
          </a:p>
        </p:txBody>
      </p:sp>
      <p:sp>
        <p:nvSpPr>
          <p:cNvPr id="515" name="Google Shape;515;p139"/>
          <p:cNvSpPr txBox="1"/>
          <p:nvPr/>
        </p:nvSpPr>
        <p:spPr>
          <a:xfrm>
            <a:off x="1028700" y="6699334"/>
            <a:ext cx="2313000" cy="9234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1" i="0" lang="en-US" sz="6000" u="none" cap="none" strike="noStrike">
                <a:solidFill>
                  <a:srgbClr val="725B87"/>
                </a:solidFill>
                <a:latin typeface="Arial"/>
                <a:ea typeface="Arial"/>
                <a:cs typeface="Arial"/>
                <a:sym typeface="Arial"/>
              </a:rPr>
              <a:t>Try</a:t>
            </a:r>
            <a:endParaRPr b="0" i="0" sz="6000" u="none" cap="none" strike="noStrike">
              <a:solidFill>
                <a:srgbClr val="000000"/>
              </a:solidFill>
              <a:latin typeface="Arial"/>
              <a:ea typeface="Arial"/>
              <a:cs typeface="Arial"/>
              <a:sym typeface="Arial"/>
            </a:endParaRPr>
          </a:p>
        </p:txBody>
      </p:sp>
      <p:sp>
        <p:nvSpPr>
          <p:cNvPr id="516" name="Google Shape;516;p139"/>
          <p:cNvSpPr txBox="1"/>
          <p:nvPr/>
        </p:nvSpPr>
        <p:spPr>
          <a:xfrm>
            <a:off x="4076666" y="6649999"/>
            <a:ext cx="11044200" cy="846600"/>
          </a:xfrm>
          <a:prstGeom prst="rect">
            <a:avLst/>
          </a:prstGeom>
          <a:noFill/>
          <a:ln>
            <a:noFill/>
          </a:ln>
        </p:spPr>
        <p:txBody>
          <a:bodyPr anchorCtr="0" anchor="t" bIns="0" lIns="0" spcFirstLastPara="1" rIns="0" wrap="square" tIns="0">
            <a:spAutoFit/>
          </a:bodyPr>
          <a:lstStyle/>
          <a:p>
            <a:pPr indent="0" lvl="0" marL="0" marR="0" rtl="0" algn="l">
              <a:lnSpc>
                <a:spcPct val="140034"/>
              </a:lnSpc>
              <a:spcBef>
                <a:spcPts val="0"/>
              </a:spcBef>
              <a:spcAft>
                <a:spcPts val="0"/>
              </a:spcAft>
              <a:buClr>
                <a:srgbClr val="000000"/>
              </a:buClr>
              <a:buSzPts val="3502"/>
              <a:buFont typeface="Arial"/>
              <a:buNone/>
            </a:pPr>
            <a:r>
              <a:rPr b="0" i="0" lang="en-US" sz="5500" u="none" cap="none" strike="noStrike">
                <a:solidFill>
                  <a:srgbClr val="725B87"/>
                </a:solidFill>
                <a:latin typeface="Arial"/>
                <a:ea typeface="Arial"/>
                <a:cs typeface="Arial"/>
                <a:sym typeface="Arial"/>
              </a:rPr>
              <a:t>What else could I try?</a:t>
            </a:r>
            <a:endParaRPr b="0" i="0" sz="5500" u="none" cap="none" strike="noStrike">
              <a:solidFill>
                <a:srgbClr val="000000"/>
              </a:solidFill>
              <a:latin typeface="Arial"/>
              <a:ea typeface="Arial"/>
              <a:cs typeface="Arial"/>
              <a:sym typeface="Arial"/>
            </a:endParaRPr>
          </a:p>
        </p:txBody>
      </p:sp>
      <p:sp>
        <p:nvSpPr>
          <p:cNvPr id="517" name="Google Shape;517;p139"/>
          <p:cNvSpPr txBox="1"/>
          <p:nvPr/>
        </p:nvSpPr>
        <p:spPr>
          <a:xfrm>
            <a:off x="1028700" y="7681086"/>
            <a:ext cx="2313000" cy="923400"/>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Clr>
                <a:srgbClr val="000000"/>
              </a:buClr>
              <a:buSzPts val="5499"/>
              <a:buFont typeface="Arial"/>
              <a:buNone/>
            </a:pPr>
            <a:r>
              <a:rPr b="1" i="0" lang="en-US" sz="6000" u="none" cap="none" strike="noStrike">
                <a:solidFill>
                  <a:srgbClr val="725B87"/>
                </a:solidFill>
                <a:latin typeface="Arial"/>
                <a:ea typeface="Arial"/>
                <a:cs typeface="Arial"/>
                <a:sym typeface="Arial"/>
              </a:rPr>
              <a:t>Talk</a:t>
            </a:r>
            <a:endParaRPr b="0" i="0" sz="6000" u="none" cap="none" strike="noStrike">
              <a:solidFill>
                <a:srgbClr val="000000"/>
              </a:solidFill>
              <a:latin typeface="Arial"/>
              <a:ea typeface="Arial"/>
              <a:cs typeface="Arial"/>
              <a:sym typeface="Arial"/>
            </a:endParaRPr>
          </a:p>
        </p:txBody>
      </p:sp>
      <p:sp>
        <p:nvSpPr>
          <p:cNvPr id="518" name="Google Shape;518;p139"/>
          <p:cNvSpPr txBox="1"/>
          <p:nvPr/>
        </p:nvSpPr>
        <p:spPr>
          <a:xfrm>
            <a:off x="4076675" y="7622725"/>
            <a:ext cx="11604300" cy="846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502"/>
              <a:buFont typeface="Arial"/>
              <a:buNone/>
            </a:pPr>
            <a:r>
              <a:rPr b="0" i="0" lang="en-US" sz="5500" u="none" cap="none" strike="noStrike">
                <a:solidFill>
                  <a:srgbClr val="725B87"/>
                </a:solidFill>
                <a:latin typeface="Arial"/>
                <a:ea typeface="Arial"/>
                <a:cs typeface="Arial"/>
                <a:sym typeface="Arial"/>
              </a:rPr>
              <a:t>Who can I tell </a:t>
            </a:r>
            <a:r>
              <a:rPr b="0" i="1" lang="en-US" sz="5500" u="none" cap="none" strike="noStrike">
                <a:solidFill>
                  <a:srgbClr val="725B87"/>
                </a:solidFill>
                <a:latin typeface="Arial"/>
                <a:ea typeface="Arial"/>
                <a:cs typeface="Arial"/>
                <a:sym typeface="Arial"/>
              </a:rPr>
              <a:t>before</a:t>
            </a:r>
            <a:r>
              <a:rPr b="0" i="0" lang="en-US" sz="5500" u="none" cap="none" strike="noStrike">
                <a:solidFill>
                  <a:srgbClr val="725B87"/>
                </a:solidFill>
                <a:latin typeface="Arial"/>
                <a:ea typeface="Arial"/>
                <a:cs typeface="Arial"/>
                <a:sym typeface="Arial"/>
              </a:rPr>
              <a:t> I start hiding it?</a:t>
            </a:r>
            <a:endParaRPr b="0" i="0" sz="55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84B"/>
        </a:solidFill>
      </p:bgPr>
    </p:bg>
    <p:spTree>
      <p:nvGrpSpPr>
        <p:cNvPr id="522" name="Shape 522"/>
        <p:cNvGrpSpPr/>
        <p:nvPr/>
      </p:nvGrpSpPr>
      <p:grpSpPr>
        <a:xfrm>
          <a:off x="0" y="0"/>
          <a:ext cx="0" cy="0"/>
          <a:chOff x="0" y="0"/>
          <a:chExt cx="0" cy="0"/>
        </a:xfrm>
      </p:grpSpPr>
      <p:sp>
        <p:nvSpPr>
          <p:cNvPr id="523" name="Google Shape;523;p142"/>
          <p:cNvSpPr/>
          <p:nvPr/>
        </p:nvSpPr>
        <p:spPr>
          <a:xfrm>
            <a:off x="13862502" y="1586644"/>
            <a:ext cx="6793596" cy="7113713"/>
          </a:xfrm>
          <a:custGeom>
            <a:rect b="b" l="l" r="r" t="t"/>
            <a:pathLst>
              <a:path extrusionOk="0" h="7113713" w="6793596">
                <a:moveTo>
                  <a:pt x="0" y="0"/>
                </a:moveTo>
                <a:lnTo>
                  <a:pt x="6793596" y="0"/>
                </a:lnTo>
                <a:lnTo>
                  <a:pt x="6793596" y="7113712"/>
                </a:lnTo>
                <a:lnTo>
                  <a:pt x="0" y="7113712"/>
                </a:lnTo>
                <a:lnTo>
                  <a:pt x="0" y="0"/>
                </a:lnTo>
                <a:close/>
              </a:path>
            </a:pathLst>
          </a:custGeom>
          <a:blipFill rotWithShape="1">
            <a:blip r:embed="rId3">
              <a:alphaModFix amt="65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142"/>
          <p:cNvSpPr txBox="1"/>
          <p:nvPr/>
        </p:nvSpPr>
        <p:spPr>
          <a:xfrm>
            <a:off x="1028700" y="4981447"/>
            <a:ext cx="10907100" cy="6618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999"/>
              <a:buFont typeface="Arial"/>
              <a:buNone/>
            </a:pPr>
            <a:r>
              <a:rPr b="0" i="0" lang="en-US" sz="4299" u="none" cap="none" strike="noStrike">
                <a:solidFill>
                  <a:srgbClr val="EDFFDC"/>
                </a:solidFill>
                <a:latin typeface="Arial"/>
                <a:ea typeface="Arial"/>
                <a:cs typeface="Arial"/>
                <a:sym typeface="Arial"/>
              </a:rPr>
              <a:t>Recovery isn’t only about what I stop.</a:t>
            </a:r>
            <a:endParaRPr b="0" i="0" sz="1700" u="none" cap="none" strike="noStrike">
              <a:solidFill>
                <a:srgbClr val="000000"/>
              </a:solidFill>
              <a:latin typeface="Arial"/>
              <a:ea typeface="Arial"/>
              <a:cs typeface="Arial"/>
              <a:sym typeface="Arial"/>
            </a:endParaRPr>
          </a:p>
        </p:txBody>
      </p:sp>
      <p:sp>
        <p:nvSpPr>
          <p:cNvPr id="525" name="Google Shape;525;p142"/>
          <p:cNvSpPr txBox="1"/>
          <p:nvPr/>
        </p:nvSpPr>
        <p:spPr>
          <a:xfrm>
            <a:off x="1028700" y="2351698"/>
            <a:ext cx="16230600" cy="2154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999"/>
              <a:buFont typeface="Arial"/>
              <a:buNone/>
            </a:pPr>
            <a:r>
              <a:rPr b="1" i="0" lang="en-US" sz="6999" u="none" cap="none" strike="noStrike">
                <a:solidFill>
                  <a:srgbClr val="EDFFDC"/>
                </a:solidFill>
                <a:latin typeface="Arial"/>
                <a:ea typeface="Arial"/>
                <a:cs typeface="Arial"/>
                <a:sym typeface="Arial"/>
              </a:rPr>
              <a:t>When the substance changes, does the pattern change?</a:t>
            </a:r>
            <a:endParaRPr b="0" i="0" sz="1400" u="none" cap="none" strike="noStrike">
              <a:solidFill>
                <a:srgbClr val="000000"/>
              </a:solidFill>
              <a:latin typeface="Arial"/>
              <a:ea typeface="Arial"/>
              <a:cs typeface="Arial"/>
              <a:sym typeface="Arial"/>
            </a:endParaRPr>
          </a:p>
        </p:txBody>
      </p:sp>
      <p:sp>
        <p:nvSpPr>
          <p:cNvPr id="526" name="Google Shape;526;p142"/>
          <p:cNvSpPr txBox="1"/>
          <p:nvPr/>
        </p:nvSpPr>
        <p:spPr>
          <a:xfrm>
            <a:off x="1028725" y="5926772"/>
            <a:ext cx="10907100" cy="6543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999"/>
              <a:buFont typeface="Arial"/>
              <a:buNone/>
            </a:pPr>
            <a:r>
              <a:rPr b="0" i="0" lang="en-US" sz="4250" u="none" cap="none" strike="noStrike">
                <a:solidFill>
                  <a:srgbClr val="EDFFDC"/>
                </a:solidFill>
                <a:latin typeface="Arial"/>
                <a:ea typeface="Arial"/>
                <a:cs typeface="Arial"/>
                <a:sym typeface="Arial"/>
              </a:rPr>
              <a:t>It’s also about what I build instead.</a:t>
            </a:r>
            <a:endParaRPr b="0" i="0" sz="425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