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notesSlide+xml" PartName="/ppt/notesSlides/notesSlide34.xml"/>
  <Override ContentType="application/vnd.openxmlformats-officedocument.presentationml.notesSlide+xml" PartName="/ppt/notesSlides/notesSlide35.xml"/>
  <Override ContentType="application/vnd.openxmlformats-officedocument.presentationml.notesSlide+xml" PartName="/ppt/notesSlides/notesSlide36.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42"/>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Lst>
  <p:sldSz cx="18288000" cy="10287000"/>
  <p:notesSz cx="6858000" cy="9144000"/>
  <p:embeddedFontLst>
    <p:embeddedFont>
      <p:font typeface="Economica" charset="1" panose="02000506040000020004"/>
      <p:regular r:id="rId45"/>
    </p:embeddedFont>
    <p:embeddedFont>
      <p:font typeface="Open Sans" charset="1" panose="00000000000000000000"/>
      <p:regular r:id="rId48"/>
    </p:embeddedFont>
    <p:embeddedFont>
      <p:font typeface="Open Sans Bold" charset="1" panose="00000000000000000000"/>
      <p:regular r:id="rId49"/>
    </p:embeddedFont>
    <p:embeddedFont>
      <p:font typeface="Open Sans Bold Italics" charset="1" panose="00000000000000000000"/>
      <p:regular r:id="rId52"/>
    </p:embeddedFont>
    <p:embeddedFont>
      <p:font typeface="Open Sans Italics" charset="1" panose="00000000000000000000"/>
      <p:regular r:id="rId54"/>
    </p:embeddedFont>
    <p:embeddedFont>
      <p:font typeface="Arial" charset="1" panose="020B0604020202020204"/>
      <p:regular r:id="rId75"/>
    </p:embeddedFont>
    <p:embeddedFont>
      <p:font typeface="Vintage Goods" charset="1" panose="00000000000000000000"/>
      <p:regular r:id="rId8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notesMasters/notesMaster1.xml" Type="http://schemas.openxmlformats.org/officeDocument/2006/relationships/notesMaster"/><Relationship Id="rId43" Target="theme/theme2.xml" Type="http://schemas.openxmlformats.org/officeDocument/2006/relationships/theme"/><Relationship Id="rId44" Target="notesSlides/notesSlide1.xml" Type="http://schemas.openxmlformats.org/officeDocument/2006/relationships/notesSlide"/><Relationship Id="rId45" Target="fonts/font45.fntdata" Type="http://schemas.openxmlformats.org/officeDocument/2006/relationships/font"/><Relationship Id="rId46" Target="notesSlides/notesSlide2.xml" Type="http://schemas.openxmlformats.org/officeDocument/2006/relationships/notesSlide"/><Relationship Id="rId47" Target="notesSlides/notesSlide3.xml" Type="http://schemas.openxmlformats.org/officeDocument/2006/relationships/notesSlide"/><Relationship Id="rId48" Target="fonts/font48.fntdata" Type="http://schemas.openxmlformats.org/officeDocument/2006/relationships/font"/><Relationship Id="rId49" Target="fonts/font49.fntdata" Type="http://schemas.openxmlformats.org/officeDocument/2006/relationships/font"/><Relationship Id="rId5" Target="tableStyles.xml" Type="http://schemas.openxmlformats.org/officeDocument/2006/relationships/tableStyles"/><Relationship Id="rId50" Target="notesSlides/notesSlide4.xml" Type="http://schemas.openxmlformats.org/officeDocument/2006/relationships/notesSlide"/><Relationship Id="rId51" Target="notesSlides/notesSlide5.xml" Type="http://schemas.openxmlformats.org/officeDocument/2006/relationships/notesSlide"/><Relationship Id="rId52" Target="fonts/font52.fntdata" Type="http://schemas.openxmlformats.org/officeDocument/2006/relationships/font"/><Relationship Id="rId53" Target="notesSlides/notesSlide6.xml" Type="http://schemas.openxmlformats.org/officeDocument/2006/relationships/notesSlide"/><Relationship Id="rId54" Target="fonts/font54.fntdata" Type="http://schemas.openxmlformats.org/officeDocument/2006/relationships/font"/><Relationship Id="rId55" Target="notesSlides/notesSlide7.xml" Type="http://schemas.openxmlformats.org/officeDocument/2006/relationships/notesSlide"/><Relationship Id="rId56" Target="notesSlides/notesSlide8.xml" Type="http://schemas.openxmlformats.org/officeDocument/2006/relationships/notesSlide"/><Relationship Id="rId57" Target="notesSlides/notesSlide9.xml" Type="http://schemas.openxmlformats.org/officeDocument/2006/relationships/notesSlide"/><Relationship Id="rId58" Target="notesSlides/notesSlide10.xml" Type="http://schemas.openxmlformats.org/officeDocument/2006/relationships/notesSlide"/><Relationship Id="rId59" Target="notesSlides/notesSlide11.xml" Type="http://schemas.openxmlformats.org/officeDocument/2006/relationships/notesSlide"/><Relationship Id="rId6" Target="slides/slide1.xml" Type="http://schemas.openxmlformats.org/officeDocument/2006/relationships/slide"/><Relationship Id="rId60" Target="notesSlides/notesSlide12.xml" Type="http://schemas.openxmlformats.org/officeDocument/2006/relationships/notesSlide"/><Relationship Id="rId61" Target="notesSlides/notesSlide13.xml" Type="http://schemas.openxmlformats.org/officeDocument/2006/relationships/notesSlide"/><Relationship Id="rId62" Target="notesSlides/notesSlide14.xml" Type="http://schemas.openxmlformats.org/officeDocument/2006/relationships/notesSlide"/><Relationship Id="rId63" Target="notesSlides/notesSlide15.xml" Type="http://schemas.openxmlformats.org/officeDocument/2006/relationships/notesSlide"/><Relationship Id="rId64" Target="notesSlides/notesSlide16.xml" Type="http://schemas.openxmlformats.org/officeDocument/2006/relationships/notesSlide"/><Relationship Id="rId65" Target="notesSlides/notesSlide17.xml" Type="http://schemas.openxmlformats.org/officeDocument/2006/relationships/notesSlide"/><Relationship Id="rId66" Target="notesSlides/notesSlide18.xml" Type="http://schemas.openxmlformats.org/officeDocument/2006/relationships/notesSlide"/><Relationship Id="rId67" Target="notesSlides/notesSlide19.xml" Type="http://schemas.openxmlformats.org/officeDocument/2006/relationships/notesSlide"/><Relationship Id="rId68" Target="notesSlides/notesSlide20.xml" Type="http://schemas.openxmlformats.org/officeDocument/2006/relationships/notesSlide"/><Relationship Id="rId69" Target="notesSlides/notesSlide21.xml" Type="http://schemas.openxmlformats.org/officeDocument/2006/relationships/notesSlide"/><Relationship Id="rId7" Target="slides/slide2.xml" Type="http://schemas.openxmlformats.org/officeDocument/2006/relationships/slide"/><Relationship Id="rId70" Target="notesSlides/notesSlide22.xml" Type="http://schemas.openxmlformats.org/officeDocument/2006/relationships/notesSlide"/><Relationship Id="rId71" Target="notesSlides/notesSlide23.xml" Type="http://schemas.openxmlformats.org/officeDocument/2006/relationships/notesSlide"/><Relationship Id="rId72" Target="notesSlides/notesSlide24.xml" Type="http://schemas.openxmlformats.org/officeDocument/2006/relationships/notesSlide"/><Relationship Id="rId73" Target="notesSlides/notesSlide25.xml" Type="http://schemas.openxmlformats.org/officeDocument/2006/relationships/notesSlide"/><Relationship Id="rId74" Target="notesSlides/notesSlide26.xml" Type="http://schemas.openxmlformats.org/officeDocument/2006/relationships/notesSlide"/><Relationship Id="rId75" Target="fonts/font75.fntdata" Type="http://schemas.openxmlformats.org/officeDocument/2006/relationships/font"/><Relationship Id="rId76" Target="notesSlides/notesSlide27.xml" Type="http://schemas.openxmlformats.org/officeDocument/2006/relationships/notesSlide"/><Relationship Id="rId77" Target="notesSlides/notesSlide28.xml" Type="http://schemas.openxmlformats.org/officeDocument/2006/relationships/notesSlide"/><Relationship Id="rId78" Target="notesSlides/notesSlide29.xml" Type="http://schemas.openxmlformats.org/officeDocument/2006/relationships/notesSlide"/><Relationship Id="rId79" Target="notesSlides/notesSlide30.xml" Type="http://schemas.openxmlformats.org/officeDocument/2006/relationships/notesSlide"/><Relationship Id="rId8" Target="slides/slide3.xml" Type="http://schemas.openxmlformats.org/officeDocument/2006/relationships/slide"/><Relationship Id="rId80" Target="notesSlides/notesSlide31.xml" Type="http://schemas.openxmlformats.org/officeDocument/2006/relationships/notesSlide"/><Relationship Id="rId81" Target="notesSlides/notesSlide32.xml" Type="http://schemas.openxmlformats.org/officeDocument/2006/relationships/notesSlide"/><Relationship Id="rId82" Target="notesSlides/notesSlide33.xml" Type="http://schemas.openxmlformats.org/officeDocument/2006/relationships/notesSlide"/><Relationship Id="rId83" Target="notesSlides/notesSlide34.xml" Type="http://schemas.openxmlformats.org/officeDocument/2006/relationships/notesSlide"/><Relationship Id="rId84" Target="notesSlides/notesSlide35.xml" Type="http://schemas.openxmlformats.org/officeDocument/2006/relationships/notesSlide"/><Relationship Id="rId85" Target="notesSlides/notesSlide36.xml" Type="http://schemas.openxmlformats.org/officeDocument/2006/relationships/notesSlide"/><Relationship Id="rId86" Target="fonts/font86.fntdata" Type="http://schemas.openxmlformats.org/officeDocument/2006/relationships/font"/><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3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_rels/notesSlide3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5.xml" Type="http://schemas.openxmlformats.org/officeDocument/2006/relationships/slide"/></Relationships>
</file>

<file path=ppt/notesSlides/_rels/notesSlide3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6.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Purpose: Let them tell you what they already think spiritual/religious harm looks like before you start defining it for them. </a:t>
            </a:r>
          </a:p>
          <a:p>
            <a:r>
              <a:rPr lang="en-US"/>
              <a:t/>
            </a:r>
          </a:p>
          <a:p>
            <a:r>
              <a:rPr lang="en-US"/>
              <a:t>Ask what participants notice or recognize about the books/topics represented.</a:t>
            </a:r>
          </a:p>
          <a:p>
            <a:r>
              <a:rPr lang="en-US"/>
              <a:t/>
            </a:r>
          </a:p>
          <a:p>
            <a:r>
              <a:rPr lang="en-US"/>
              <a:t>Use the images to open discussion about harmful, controlling, or high-control religious/spiritual environments.</a:t>
            </a:r>
          </a:p>
          <a:p>
            <a:r>
              <a:rPr lang="en-US"/>
              <a:t/>
            </a:r>
          </a:p>
          <a:p>
            <a:r>
              <a:rPr lang="en-US"/>
              <a:t>Invite participants to identify patterns or characteristics, rather than deciding whether a particular religion/church/group is “good” or “bad.”</a:t>
            </a:r>
          </a:p>
          <a:p>
            <a:r>
              <a:rPr lang="en-US"/>
              <a:t/>
            </a:r>
          </a:p>
          <a:p>
            <a:r>
              <a:rPr lang="en-US"/>
              <a:t>Clarify as needed that cult and occult are not the same thing.</a:t>
            </a:r>
          </a:p>
          <a:p>
            <a:r>
              <a:rPr lang="en-US"/>
              <a:t>	Cult = a group organized around a set of beliefs or a leader, especially when the group uses high levels of control, coercion, or manipulation over members.</a:t>
            </a:r>
          </a:p>
          <a:p>
            <a:r>
              <a:rPr lang="en-US"/>
              <a:t>Occult = beliefs or practices involving hidden, mystical, supernatural, or esoteric knowledge—things like divination, magic, or astrology can fall under that umbrella.</a:t>
            </a:r>
          </a:p>
          <a:p>
            <a:r>
              <a:rPr lang="en-US"/>
              <a:t>They can overlap, but they absolutely aren't synonyms. A high-control religious group doesn't have to practice anything occult, and somebody engaging in an occult practice doesn't thereby belong to a cult. </a:t>
            </a:r>
          </a:p>
          <a:p>
            <a:r>
              <a:rPr lang="en-US"/>
              <a:t>Broaden the conversation beyond sensational examples: coercion, control, dependency, isolation, punishment for questioning, and misuse of authority can occur in environments that look very ordinary from the outside.</a:t>
            </a:r>
          </a:p>
          <a:p>
            <a:r>
              <a:rPr lang="en-US"/>
              <a:t/>
            </a:r>
          </a:p>
          <a:p>
            <a:r>
              <a:rPr lang="en-US"/>
              <a:t>Normalize vulnerability: people can become involved in harmful systems for understandable human reasons—belonging, meaning, safety, family/community ties, certainty, support—not because they are gullible or unintelligent.</a:t>
            </a:r>
          </a:p>
          <a:p>
            <a:r>
              <a:rPr lang="en-US"/>
              <a:t/>
            </a:r>
          </a:p>
          <a:p>
            <a:r>
              <a:rPr lang="en-US"/>
              <a:t>Avoid turning the discussion into diagnosis of a specific group based on one characteristic.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RELIGION: Shared beliefs, practices, traditions, and/or community related to faith or the sacred.</a:t>
            </a:r>
          </a:p>
          <a:p>
            <a:r>
              <a:rPr lang="en-US"/>
              <a:t>SPIRITUALITY: A person’s experience of meaning, purpose, connection, values, the sacred, or the transcendent.</a:t>
            </a:r>
          </a:p>
          <a:p>
            <a:r>
              <a:rPr lang="en-US"/>
              <a:t>Religion and spirituality often overlap but aren't interchangeable.</a:t>
            </a:r>
          </a:p>
          <a:p>
            <a:r>
              <a:rPr lang="en-US"/>
              <a:t/>
            </a:r>
          </a:p>
          <a:p>
            <a:r>
              <a:rPr lang="en-US"/>
              <a:t>Someone can be religious and spiritual, spiritual but not religious, religious without personally describing themselves as spiritual, or neither.</a:t>
            </a:r>
          </a:p>
          <a:p>
            <a:r>
              <a:rPr lang="en-US"/>
              <a:t/>
            </a:r>
          </a:p>
          <a:p>
            <a:r>
              <a:rPr lang="en-US"/>
              <a:t>For purposes of this group, we're not prescribing what spirituality should mean or requiring belief in anything supernatural.</a:t>
            </a:r>
          </a:p>
          <a:p>
            <a:r>
              <a:rPr lang="en-US"/>
              <a:t/>
            </a:r>
          </a:p>
          <a:p>
            <a:r>
              <a:rPr lang="en-US"/>
              <a:t>When we discuss spiritual trauma, we're interested in the person's own meaning system and experience rather than deciding whether their beliefs are correct.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Spirituality can be an important source of healing, connection, and purpose in recovery, but it is not required for recovery.</a:t>
            </a:r>
          </a:p>
          <a:p>
            <a:r>
              <a:rPr lang="en-US"/>
              <a:t/>
            </a:r>
          </a:p>
          <a:p>
            <a:r>
              <a:rPr lang="en-US"/>
              <a:t>Many people associate recovery programs primarily with the Anonymous/12-Step model, which may include concepts such as a Higher Power, surrender, prayer, or spiritual awakening.</a:t>
            </a:r>
          </a:p>
          <a:p>
            <a:r>
              <a:rPr lang="en-US"/>
              <a:t/>
            </a:r>
          </a:p>
          <a:p>
            <a:r>
              <a:rPr lang="en-US"/>
              <a:t>For someone with spiritual trauma, some of that language may feel uncomfortable, unsafe, or inaccessible. That does not mean 12-Step recovery is inherently harmful or that the person cannot participate; individual responses vary.</a:t>
            </a:r>
          </a:p>
          <a:p>
            <a:r>
              <a:rPr lang="en-US"/>
              <a:t/>
            </a:r>
          </a:p>
          <a:p>
            <a:r>
              <a:rPr lang="en-US"/>
              <a:t>Remind participants that “recovery program” is not synonymous with “Anonymous program.” Other approaches exist, including Recovery Dharma and SMART Recovery.</a:t>
            </a:r>
          </a:p>
          <a:p>
            <a:r>
              <a:rPr lang="en-US"/>
              <a:t/>
            </a:r>
          </a:p>
          <a:p>
            <a:r>
              <a:rPr lang="en-US"/>
              <a:t>The goal is not to steer participants toward or away from a particular pathway, but to reinforce that they have choices in building recovery support that fits their needs and values.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“Big-T” and “little-t” trauma are informal teaching terms, not diagnostic categories. They can be useful for understanding that an experience does not have to be life-threatening to overwhelm a person’s ability to cope. The type or apparent “size” of an event does not determine how significantly someone will be affected, and people may respond very differently to similar experiences.</a:t>
            </a:r>
          </a:p>
          <a:p>
            <a:r>
              <a:rPr lang="en-US"/>
              <a:t>Emphasize that we sometimes minimize our own experiences because they do not seem “bad enough” compared with someone else’s. The purpose of this distinction is not to rank trauma, but to recognize that experiences involving loss, instability, humiliation, coercion, betrayal, or repeated stress can also have a significant impact.</a:t>
            </a:r>
          </a:p>
          <a:p>
            <a:r>
              <a:rPr lang="en-US"/>
              <a:t>Trauma can also be described more specifically as acute, chronic, cumulative, relational, coercive, or betrayal-based. PTSD is a separate clinical diagnosis with specific diagnostic criteria; experiencing trauma does not automatically mean that someone has PTSD.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Trauma can affect stress-response systems as well as thoughts, emotions, relationships, identity, behavior, and physical well-being. These effects vary from person to person and are not necessarily permanent. People can heal, adapt, and develop new patterns of responding.</a:t>
            </a:r>
          </a:p>
          <a:p>
            <a:r>
              <a:rPr lang="en-US"/>
              <a:t>The Body Keeps the Score is used here as familiar shorthand for the idea that traumatic experiences can continue to influence how a person responds even after the immediate danger has ended. It should not be interpreted to mean that trauma is literally stored in the body indefinitely or that a person is permanently biologically changed.</a:t>
            </a:r>
          </a:p>
          <a:p>
            <a:r>
              <a:rPr lang="en-US"/>
              <a:t>Reinforce that trauma responses are adaptations to overwhelming experiences, not evidence that someone is weak or damaged. Transition to the final statement: regardless of how a person responded, abuse is never the victim’s fault.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Abuse describes what is being done/the harmful use of power.</a:t>
            </a:r>
          </a:p>
          <a:p>
            <a:r>
              <a:rPr lang="en-US"/>
              <a:t>Adverse experience describes an experience that may be harmful or deeply disruptive.</a:t>
            </a:r>
          </a:p>
          <a:p>
            <a:r>
              <a:rPr lang="en-US"/>
              <a:t>Trauma describes the lasting response associated with what happened.</a:t>
            </a:r>
          </a:p>
          <a:p>
            <a:r>
              <a:rPr lang="en-US"/>
              <a:t>And critically: adverse experience ≠ automatically trauma ≠ automatically PTSD.</a:t>
            </a:r>
          </a:p>
          <a:p>
            <a:r>
              <a:rPr lang="en-US"/>
              <a:t>The terms “religious abuse” and “spiritual abuse” are often used interchangeably. For the purposes of this group, we will generally use the broader term “spiritual abuse,” while recognizing that abuse can occur within religious organizations, spiritual communities, families, relationships, or other settings where religious or spiritual beliefs or authority are used in harmful ways.</a:t>
            </a:r>
          </a:p>
          <a:p>
            <a:r>
              <a:rPr lang="en-US"/>
              <a:t>These terms are related, but they are not interchangeable. An adverse religious or spiritual experience does not necessarily constitute abuse, and not every adverse experience results in trauma. Likewise, experiencing spiritual trauma does not automatically mean that a person meets criteria for PTSD or another mental health diagnosis.</a:t>
            </a:r>
          </a:p>
          <a:p>
            <a:r>
              <a:rPr lang="en-US"/>
              <a:t>The purpose of these definitions is to give us language for discussing experiences and their effects—not to require anyone to label their own experience in a particular way.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These are possible responses to spiritual trauma, not a checklist or a set of required symptoms. Experiences vary considerably from person to person. Someone may experience changes in trust, safety, identity, autonomy, relationships, meaning, or emotional responses without experiencing everything listed here.</a:t>
            </a:r>
          </a:p>
          <a:p>
            <a:r>
              <a:rPr lang="en-US"/>
              <a:t>When discussing these examples, invite recognition rather than diagnosis. Avoid asking participants to identify or disclose personal trauma experiences in the group. Experiencing one or more of these responses does not establish that someone has experienced trauma or meets criteria for PTSD.</a:t>
            </a:r>
          </a:p>
          <a:p>
            <a:r>
              <a:rPr lang="en-US"/>
              <a:t>The “Going Away Gift From the Church” graphic uses PTSD humor to represent the experience of leaving a harmful religious environment with lasting effects; it should not be interpreted as suggesting that everyone who experiences spiritual trauma develops PTSD.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Spiritual bypassing is not defined by the use of prayer, scripture, forgiveness, faith, meaning-making, or other spiritual practices themselves. The important question is how the belief, practice, or language is being used. Spiritual coping can be supportive and meaningful; it becomes bypassing when it is used to avoid, suppress, invalidate, or prematurely close painful emotional or practical work.</a:t>
            </a:r>
          </a:p>
          <a:p>
            <a:r>
              <a:rPr lang="en-US"/>
              <a:t>Use the examples on the slide to distinguish supporting someone through distress from explaining away or dismissing distress. A religious response is not automatically spiritual bypassing simply because it uses scripture or spiritual language.</a:t>
            </a:r>
          </a:p>
          <a:p>
            <a:r>
              <a:rPr lang="en-US"/>
              <a:t>With the “Everything happens for a reason” graphic, verbally add that sometimes the “reason” is that other people make poor or harmful decisions that affect us. Not every painful experience needs to be assigned a larger spiritual purpose in order for the experience or the person's emotions to be valid.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Spiritual bypassing is not defined by the use of prayer, scripture, forgiveness, faith, meaning-making, or other spiritual practices themselves. The important question is how the belief, practice, or language is being used. Spiritual coping can be supportive and meaningful; it becomes bypassing when it is used to avoid, suppress, invalidate, or prematurely close painful emotional or practical work.</a:t>
            </a:r>
          </a:p>
          <a:p>
            <a:r>
              <a:rPr lang="en-US"/>
              <a:t>Use the examples on the slide to distinguish supporting someone through distress from explaining away or dismissing distress. A religious response is not automatically spiritual bypassing simply because it uses scripture or spiritual language.</a:t>
            </a:r>
          </a:p>
          <a:p>
            <a:r>
              <a:rPr lang="en-US"/>
              <a:t>With the “Everything happens for a reason” graphic, verbally add that sometimes the “reason” is that other people make poor or harmful decisions that affect us. Not every painful experience needs to be assigned a larger spiritual purpose in order for the experience or the person's emotions to be valid.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Spiritual bypassing is not defined by the use of prayer, scripture, forgiveness, faith, meaning-making, or other spiritual practices themselves. The important question is how the belief, practice, or language is being used. Spiritual coping can be supportive and meaningful; it becomes bypassing when it is used to avoid, suppress, invalidate, or prematurely close painful emotional or practical work.</a:t>
            </a:r>
          </a:p>
          <a:p>
            <a:r>
              <a:rPr lang="en-US"/>
              <a:t>Use the examples on the slide to distinguish supporting someone through distress from explaining away or dismissing distress. A religious response is not automatically spiritual bypassing simply because it uses scripture or spiritual language.</a:t>
            </a:r>
          </a:p>
          <a:p>
            <a:r>
              <a:rPr lang="en-US"/>
              <a:t>With the “Everything happens for a reason” graphic, verbally add that sometimes the “reason” is that other people make poor or harmful decisions that affect us. Not every painful experience needs to be assigned a larger spiritual purpose in order for the experience or the person's emotions to be valid.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Spiritual bypassing is not defined by the use of prayer, scripture, forgiveness, faith, meaning-making, or other spiritual practices themselves. The important question is how the belief, practice, or language is being used. Spiritual coping can be supportive and meaningful; it becomes bypassing when it is used to avoid, suppress, invalidate, or prematurely close painful emotional or practical work.</a:t>
            </a:r>
          </a:p>
          <a:p>
            <a:r>
              <a:rPr lang="en-US"/>
              <a:t>Use the examples on the slide to distinguish supporting someone through distress from explaining away or dismissing distress. A religious response is not automatically spiritual bypassing simply because it uses scripture or spiritual language.</a:t>
            </a:r>
          </a:p>
          <a:p>
            <a:r>
              <a:rPr lang="en-US"/>
              <a:t>With the “Everything happens for a reason” graphic, verbally add that sometimes the “reason” is that other people make poor or harmful decisions that affect us. Not every painful experience needs to be assigned a larger spiritual purpose in order for the experience or the person's emotions to be valid.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Spiritual bypassing is not defined by the use of prayer, scripture, forgiveness, faith, meaning-making, or other spiritual practices themselves. The important question is how the belief, practice, or language is being used. Spiritual coping can be supportive and meaningful; it becomes bypassing when it is used to avoid, suppress, invalidate, or prematurely close painful emotional or practical work.</a:t>
            </a:r>
          </a:p>
          <a:p>
            <a:r>
              <a:rPr lang="en-US"/>
              <a:t>Use the examples on the slide to distinguish supporting someone through distress from explaining away or dismissing distress. A religious response is not automatically spiritual bypassing simply because it uses scripture or spiritual language.</a:t>
            </a:r>
          </a:p>
          <a:p>
            <a:r>
              <a:rPr lang="en-US"/>
              <a:t>With the “Everything happens for a reason” graphic, verbally add that sometimes the “reason” is that other people make poor or harmful decisions that affect us. Not every painful experience needs to be assigned a larger spiritual purpose in order for the experience or the person's emotions to be valid.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These are possible warning signs and patterns to consider, not a checklist for determining whether a person, church, religion, or spiritual community is abusive. Context matters. Consider the presence of power differences, coercion, control, dependency, manipulation, punishment for questioning or dissent, and the impact on the individual.</a:t>
            </a:r>
          </a:p>
          <a:p>
            <a:r>
              <a:rPr lang="en-US"/>
              <a:t>Disagreement with a religious teaching or a negative experience within a religious or spiritual community does not automatically constitute spiritual abuse. The concern is how spiritual beliefs, relationships, or authority are used and whether they facilitate coercion, control, exploitation, intimidation, silencing, or other harm.</a:t>
            </a:r>
          </a:p>
          <a:p>
            <a:r>
              <a:rPr lang="en-US"/>
              <a:t>Betrayal can be especially significant when harm occurs within a person, relationship, or system that was expected to provide safety, belonging, meaning, guidance, or care.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Claiming divine authority: A religious leader speaking about or representing God is not, by itself, evidence of spiritual abuse. The concern is using claimed divine or spiritual authority to control, coerce, exploit, silence, intimidate, or punish others, or presenting the leader’s own wants or needs as divine requirements.</a:t>
            </a:r>
          </a:p>
          <a:p>
            <a:r>
              <a:rPr lang="en-US"/>
              <a:t>Acceptance via performance: Pay attention to environments in which acceptance, belonging, love, or spiritual worth are consistently made conditional on performance, obedience, conformity, or unquestioning loyalty. This can contribute to shame, fear, loss of autonomy, and difficulty identifying or trusting one’s own values and needs.</a:t>
            </a:r>
          </a:p>
          <a:p>
            <a:r>
              <a:rPr lang="en-US"/>
              <a:t>Insulting or belittling other belief systems: Disagreement with or criticism of another belief system is not automatically abuse. Consider how the message functions. It may become part of an abusive or high-control dynamic when it is used to create fear, establish superiority, discourage outside relationships or information, punish questioning, or increase dependence on the group or leader.</a:t>
            </a:r>
          </a:p>
          <a:p>
            <a:r>
              <a:rPr lang="en-US"/>
              <a:t>Physical, sexual, emotional, and financial abuse can occur within religious or spiritual environments just as they can occur elsewhere. Spiritual beliefs and authority may become part of the mechanism through which that abuse is facilitated or maintained.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Unanswered prayers: The concern is not simply that a prayer was not answered or that someone offered a religious explanation. Pay attention to repeated blame or shame—for example, being told that a prayer was not answered because you did not pray correctly, did not have enough faith, or were somehow spiritually deficient.</a:t>
            </a:r>
          </a:p>
          <a:p>
            <a:r>
              <a:rPr lang="en-US"/>
              <a:t>Reporting abuse: Being ignored, silenced, blamed, or discouraged from seeking help after reporting abuse can compound the original harm.</a:t>
            </a:r>
          </a:p>
          <a:p>
            <a:r>
              <a:rPr lang="en-US"/>
              <a:t>Practicing religion: The concern is coercion or control over another person’s religious or spiritual practice. Someone setting an appropriate personal boundary around another person’s religious practice is not the same as coercively preventing that person from practicing their beliefs.</a:t>
            </a:r>
          </a:p>
          <a:p>
            <a:r>
              <a:rPr lang="en-US"/>
              <a:t>Mental health and spiritual warfare: Religious or spiritual beliefs may be meaningful parts of how someone understands mental health. The concern is when mental health concerns are treated only as weakness, sin, lack of faith, spiritual warfare, or another spiritual problem—particularly when that interpretation discourages or prevents someone from receiving appropriate mental health care.</a:t>
            </a:r>
          </a:p>
          <a:p>
            <a:r>
              <a:rPr lang="en-US"/>
              <a:t>Excommunication or rejection: Excommunication or religious discipline is not automatically spiritual abuse. Consider how exclusion is being used and whether belonging, relationships, status, or community acceptance are being used to shame, control, isolate, punish dissent, or enforce conformity.</a:t>
            </a:r>
          </a:p>
          <a:p>
            <a:r>
              <a:rPr lang="en-US"/>
              <a:t>One example is Scientology’s practice of declaring someone a “Suppressive Person” (SP), particularly when continued relationships with that person can affect the standing of family or friends who remain within the organization. The concern is not simply removal from a religious organization, but the use of rejection, threatened loss of community, and disruption of important relationships as mechanisms of control.</a:t>
            </a:r>
          </a:p>
          <a:p>
            <a:r>
              <a:rPr lang="en-US"/>
              <a:t>Another example is a pregnant teenager being required to leave a church and/or her family being expected to step down from leadership positions because of her pregnancy. The distinction is between a religious community holding particular beliefs or behavioral expectations and using belonging, family relationships, leadership status, or access to the community as leverage to punish or enforce conformity.</a:t>
            </a:r>
          </a:p>
          <a:p>
            <a:r>
              <a:rPr lang="en-US"/>
              <a:t>Safety/action reminder: If someone recognizes that they may currently be in an unsafe or abusive situation, remind them that the abuse is not their responsibility to fix. Possible next steps may include reporting inappropriate or abusive behavior, asking for help, developing a safety or escape plan, or speaking privately with an appropriate support person or professional.</a:t>
            </a:r>
          </a:p>
          <a:p>
            <a:r>
              <a:rPr lang="en-US"/>
              <a:t>Do not investigate current abuse or ask for detailed disclosures in the group setting. If someone discloses current violence, sexual abuse, abuse of a child or vulnerable person, or another immediate safety concern, follow up privately and follow applicable facility safety and mandated-reporting procedures.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In-house counseling: Pastoral counseling, spiritual direction, peer support, or other support provided by someone who is not a licensed mental health professional is not automatically inappropriate or abusive. The concern is when someone misrepresents their competence, pressures a person to receive counseling from an unqualified provider, uses the counseling relationship to control or harm them, misuses confidential information, or discourages or prevents access to appropriate mental health or medical care when it is needed.</a:t>
            </a:r>
          </a:p>
          <a:p>
            <a:r>
              <a:rPr lang="en-US"/>
              <a:t>Ridiculing or dismissing someone’s beliefs: Disagreement with another person’s religious or spiritual beliefs is not automatically abuse. Pay attention to patterns of ridicule, humiliation, degradation, rejection, or attacks on a person’s identity or worth—particularly when they occur within an important relationship or are used to control, punish, or isolate the person.</a:t>
            </a:r>
          </a:p>
          <a:p>
            <a:r>
              <a:rPr lang="en-US"/>
              <a:t>Forced religious participation: People have the right to hold different religious or spiritual beliefs, to change those beliefs, or not to hold religious beliefs. The concern here is coercion—using pressure, threats, punishment, dependency, or authority to force religious learning, participation, or practice.</a:t>
            </a:r>
          </a:p>
          <a:p>
            <a:r>
              <a:rPr lang="en-US"/>
              <a:t>Using religious texts to facilitate abuse: Religious texts or teachings may be manipulated to convince someone that they are required to accept physical, financial, emotional, or sexual abuse, remain in an abusive relationship, remain silent about abuse, or submit to the person harming them. Religious beliefs do not make abuse acceptable, and scripture should not be used to transfer responsibility for abuse onto the person experiencing it.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Religious Trauma Syndrome (RTS) is a term participants may encounter in books, online resources, support communities, or discussions about harmful religious experiences. It can provide useful language for some people, but it is not a recognized mental health diagnosis and does not have established diagnostic criteria.</a:t>
            </a:r>
          </a:p>
          <a:p>
            <a:r>
              <a:rPr lang="en-US"/>
              <a:t>RTS should not be described as a combination of PTSD and Complex PTSD. PTSD is a recognized diagnosis with specific diagnostic criteria. C-PTSD is recognized in the ICD-11 but is not a separate DSM-5-TR diagnosis. Similarities between some experiences described as religious trauma and symptoms associated with trauma-related disorders do not make the conditions equivalent.</a:t>
            </a:r>
          </a:p>
          <a:p>
            <a:r>
              <a:rPr lang="en-US"/>
              <a:t>A person does not need to qualify for PTSD—or any other diagnosis—for a harmful religious or spiritual experience to matter or deserve attention. Likewise, experiencing distress related to religion or spirituality does not automatically mean that a person has experienced trauma.</a:t>
            </a:r>
          </a:p>
          <a:p>
            <a:r>
              <a:rPr lang="en-US"/>
              <a:t>When assessing an individual clinically, focus on what happened, the person’s current symptoms and functioning, the meaning they assign to the experience, and whether they meet criteria for any recognized diagnosis when diagnosis is relevant.</a:t>
            </a:r>
          </a:p>
          <a:p>
            <a:r>
              <a:rPr lang="en-US"/>
              <a:t>Participants may use the term RTS if it is meaningful to them; the purpose of introducing it here is to explain the term, not to diagnose anyone with it.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People who experience spiritual abuse are not necessarily unaware that something is wrong. Recognition can be complicated by trust, dependency, isolation, information control, fear of consequences, punishment for questioning, or the belief that a trusted leader, parent, teacher, or community has legitimate spiritual authority.</a:t>
            </a:r>
          </a:p>
          <a:p>
            <a:r>
              <a:rPr lang="en-US"/>
              <a:t>Avoid framing people who remain in harmful systems as gullible, passive, or “brainwashed.” People may recognize some harmful behavior while still trusting other parts of the system, questioning their own interpretation, fearing what they may lose by speaking up or leaving, or lacking access to alternative perspectives and support.</a:t>
            </a:r>
          </a:p>
          <a:p>
            <a:r>
              <a:rPr lang="en-US"/>
              <a:t>Spiritual abuse may also involve control over a person’s narrative: defining who they are, telling them what their experiences mean, denying or rewriting harmful events, or treating the authority’s interpretation as more legitimate than their own.</a:t>
            </a:r>
          </a:p>
          <a:p>
            <a:r>
              <a:rPr lang="en-US"/>
              <a:t>Reclaiming the right to understand and tell one’s own story can therefore become an important part of healing. This idea will return later when we discuss re-authoring or “rewriting your story.”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Bigotry can still be an adverse experience and may contribute to traumatic responses, even when it is not part of an abusive relationship or system. </a:t>
            </a:r>
          </a:p>
          <a:p>
            <a:r>
              <a:rPr lang="en-US"/>
              <a:t/>
            </a:r>
          </a:p>
          <a:p>
            <a:r>
              <a:rPr lang="en-US"/>
              <a:t>The purpose of this distinction is not to minimize bigotry. Bigotry can be deeply harmful, can contribute to adverse religious or spiritual experiences, and may contribute to traumatic responses even when it is not part of an abusive relationship or system.</a:t>
            </a:r>
          </a:p>
          <a:p>
            <a:r>
              <a:rPr lang="en-US"/>
              <a:t>A prejudiced, hostile, or condemning belief is not automatically the same thing as an abusive pattern. When considering abuse, look at the broader context we have discussed throughout this section: power, coercion, control, exploitation, dependency, intimidation, isolation, punishment, manipulation, and impact on the individual.</a:t>
            </a:r>
          </a:p>
          <a:p>
            <a:r>
              <a:rPr lang="en-US"/>
              <a:t>Bigotry and abuse can also overlap. A bigoted belief or message may become one of the tools used within an abusive dynamic—for example, when beliefs about someone’s identity are used to shame them, threaten loss of family or community, restrict their autonomy, justify mistreatment, or force conformity.</a:t>
            </a:r>
          </a:p>
          <a:p>
            <a:r>
              <a:rPr lang="en-US"/>
              <a:t>“The Bible says you are going to hell” is used here as an example of religious bigotry rather than as a universal rule for classifying a statement. Context still matters, including how the statement is being used, the relationship between the people involved, and whether it is part of a larger pattern of coercion or harm.</a:t>
            </a:r>
          </a:p>
          <a:p>
            <a:r>
              <a:rPr lang="en-US"/>
              <a:t>The “It’s not me, it’s God’s Word” graphic illustrates how religious authority may be invoked to distance a person from responsibility for the way a belief or message is communicated or used.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Use as a transition/re-entry slide. Briefly recap the first section without inviting personal disclosures, then transition from recognizing harmful patterns to exploring their possible impact.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SHAS-CS is called a “Clinical Screener” by its developers, but it should be used here as a conversation aid rather than a diagnostic instrument. It does not diagnose spiritual trauma, establish that spiritual abuse occurred, or determine whether someone meets criteria for a mental health diagnosis.</a:t>
            </a:r>
          </a:p>
          <a:p>
            <a:r>
              <a:rPr lang="en-US"/>
              <a:t>The scale was developed within a Christian religious context, so some of its language and examples reflect that context. This may make many items particularly recognizable within our cultural setting, but it also means the measure does not represent every possible religious, spiritual, or cultural experience of harm.</a:t>
            </a:r>
          </a:p>
          <a:p>
            <a:r>
              <a:rPr lang="en-US"/>
              <a:t>The six areas listed on the slide represent domains explored by the SHAS-CS. They should not be presented as six clinical “types” of spiritual abuse or trauma.</a:t>
            </a:r>
          </a:p>
          <a:p>
            <a:r>
              <a:rPr lang="en-US"/>
              <a:t>The value of the measure is in helping someone notice experiences, beliefs, feelings, or concerns that may be worth exploring further. A response to an individual item may be more clinically useful than treating the total score as proof of whether abuse or trauma occurred.</a:t>
            </a:r>
          </a:p>
          <a:p>
            <a:r>
              <a:rPr lang="en-US"/>
              <a:t>Participation should remain voluntary and private. Participants do not need to share their answers or scores with the group.</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most useful way to look at this assessment is to notice individual items that stand out to you or seem important based on your own experiences.</a:t>
            </a:r>
          </a:p>
          <a:p>
            <a:r>
              <a:rPr lang="en-US"/>
              <a:t>Any item that you scored as “Often” or “All the Time,” and any critical item on this page that you marked “Yes,” may be especially important to explore further. These are experiences that you may want to explore with your therapist.</a:t>
            </a:r>
          </a:p>
          <a:p>
            <a:r>
              <a:rPr lang="en-US"/>
              <a:t>No individual response or score determines whether you have experienced spiritual trauma.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These are three of the six areas explored by the SHAS-CS. They describe patterns or experiences that may be worth exploring; they are not separate diagnoses or “types” of trauma.</a:t>
            </a:r>
          </a:p>
          <a:p>
            <a:r>
              <a:rPr lang="en-US"/>
              <a:t>Controlling Leadership: The concern is not simply having respected or influential religious leaders. Pay attention to how much authority leaders have over members’ personal decisions and daily lives, whether questioning that authority is permitted, and what happens when someone disagrees or does not comply.</a:t>
            </a:r>
          </a:p>
          <a:p>
            <a:r>
              <a:rPr lang="en-US"/>
              <a:t>Embracing Violence: Consider how violence, punishment, fear, or frightening imagery may be incorporated into religious teaching, including what children may be exposed to and whether fear is used to encourage belief, obedience, or particular behavior.</a:t>
            </a:r>
          </a:p>
          <a:p>
            <a:r>
              <a:rPr lang="en-US"/>
              <a:t>Maintaining the System: Harmful systems can be maintained by people throughout a community, not only by formal leaders. Examples can include protecting leadership from consequences, blaming people who report harm, shunning or isolating people who challenge the system, or prioritizing the reputation or stability of the group over the well-being of an individual.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These are the remaining three areas explored by the SHAS-CS. As with the previous slide, they represent areas explored by the scale rather than separate diagnoses or “types” of trauma.</a:t>
            </a:r>
          </a:p>
          <a:p>
            <a:r>
              <a:rPr lang="en-US"/>
              <a:t/>
            </a:r>
          </a:p>
          <a:p>
            <a:r>
              <a:rPr lang="en-US"/>
              <a:t>Gender Discrimination: This domain looks at experiences in which opportunities, roles, authority, participation, or worth may be restricted or treated differently based on gender.</a:t>
            </a:r>
          </a:p>
          <a:p>
            <a:r>
              <a:rPr lang="en-US"/>
              <a:t/>
            </a:r>
          </a:p>
          <a:p>
            <a:r>
              <a:rPr lang="en-US"/>
              <a:t>Internal Distress: These items focus more on the person’s internal experience, including depression, anxiety, anger, isolation, self-image concerns, and loss of meaning. These experiences can have many causes, so endorsing them does not by itself establish that spiritual abuse caused them.</a:t>
            </a:r>
          </a:p>
          <a:p>
            <a:r>
              <a:rPr lang="en-US"/>
              <a:t/>
            </a:r>
          </a:p>
          <a:p>
            <a:r>
              <a:rPr lang="en-US"/>
              <a:t>Harmful God-Image: Harmful religious experiences can affect the way a person experiences or relates to God. Someone may experience fear, anger, betrayal, distrust, abandonment, or conflict in relation to God or their previous understanding of God.</a:t>
            </a:r>
          </a:p>
          <a:p>
            <a:r>
              <a:rPr lang="en-US"/>
              <a:t/>
            </a:r>
          </a:p>
          <a:p>
            <a:r>
              <a:rPr lang="en-US"/>
              <a:t>I sometimes describe this as “God has become the villain of their story.” That is a way of illustrating the experience, not a clinical definition or an assumption about how every person will respond.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These are possible responses to harmful religious or spiritual experiences, not a checklist of symptoms that everyone will experience. People may experience some, many, or none of these responses, and they may change over time.</a:t>
            </a:r>
          </a:p>
          <a:p>
            <a:r>
              <a:rPr lang="en-US"/>
              <a:t>The Fight, Flight, Freeze, and Fawn framework can be a useful way to think about different ways people may respond when they feel threatened, unsafe, or overwhelmed. These are descriptive patterns rather than diagnoses, and a particular behavior does not always represent one specific trauma response.</a:t>
            </a:r>
          </a:p>
          <a:p>
            <a:r>
              <a:rPr lang="en-US"/>
              <a:t>For example, questioning authority could reflect fight in one situation, but in another situation it may simply reflect healthy disagreement or critical thinking. Withdrawing could reflect flight, but it could also be an intentional boundary. Context matters.</a:t>
            </a:r>
          </a:p>
          <a:p>
            <a:r>
              <a:rPr lang="en-US"/>
              <a:t>The goal is not to decide which “F” you are. The framework is simply another way to notice patterns in how you may respond to situations that feel threatening or unsafe.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You may keep beliefs that remain meaningful to you, question or change others, explore different perspectives, remain uncertain, or decide that religion or spirituality is not something you want to pursue. Those choices belong to you.</a:t>
            </a:r>
          </a:p>
          <a:p>
            <a:r>
              <a:rPr lang="en-US"/>
              <a:t>The point of these examples is that healing and recovery do not always require an either/or choice. Faith can coexist with grief, medication, therapy, emotions, questions, and other forms of support. The goal is not to tell you what you should believe, but to restore room for choice.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Healing from harmful religious or spiritual experiences is deeply personal and may be complex. There is no required label, timeline, spiritual conclusion, or single path through the process.</a:t>
            </a:r>
          </a:p>
          <a:p>
            <a:r>
              <a:rPr lang="en-US"/>
              <a:t/>
            </a:r>
          </a:p>
          <a:p>
            <a:r>
              <a:rPr lang="en-US"/>
              <a:t>Name what happened in language that fits you: A person does not have to identify an experience as “trauma” in order to acknowledge that it was harmful or that it continues to affect them. Experiences may involve loss of identity, community, trust, belonging, meaning, or a sense of betrayal.</a:t>
            </a:r>
          </a:p>
          <a:p>
            <a:r>
              <a:rPr lang="en-US"/>
              <a:t/>
            </a:r>
          </a:p>
          <a:p>
            <a:r>
              <a:rPr lang="en-US"/>
              <a:t>Acknowledge and accept your experience: Your experience is your experience. Validation does not require someone else to agree with every interpretation of what happened. It means recognizing what you experienced, how you experienced it, and the impact it has had on your life.</a:t>
            </a:r>
          </a:p>
          <a:p>
            <a:r>
              <a:rPr lang="en-US"/>
              <a:t/>
            </a:r>
          </a:p>
          <a:p>
            <a:r>
              <a:rPr lang="en-US"/>
              <a:t>Personal belief and institutional worship: A person's individual beliefs or relationship with a Higher Power can be distinguished from the institution, community, leader, or other people through whom those beliefs may previously have been interpreted. You get to decide what your beliefs mean to you and whether or how they remain part of your life.</a:t>
            </a:r>
          </a:p>
          <a:p>
            <a:r>
              <a:rPr lang="en-US"/>
              <a:t/>
            </a:r>
          </a:p>
          <a:p>
            <a:r>
              <a:rPr lang="en-US"/>
              <a:t>Consider support or therapy: Therapy can provide a place to explore the effects of harmful experiences as well as questions involving values, beliefs, identity, relationships, trust, and meaning. Therapy is one possible source of support rather than a requirement for healing. Treatment should fit the individual's needs, preferences, readiness, culture, access, and goals.</a:t>
            </a:r>
          </a:p>
          <a:p>
            <a:r>
              <a:rPr lang="en-US"/>
              <a:t/>
            </a:r>
          </a:p>
          <a:p>
            <a:r>
              <a:rPr lang="en-US"/>
              <a:t>There are multiple approaches that may be used when trauma treatment is appropriate. We will look at some of those options shortly.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Let Yourself Feel Complicated Emotions: You have to feel your feelings, whether you or anyone else understands them or not. Your feelings are valid. You do not have to judge or justify them.</a:t>
            </a:r>
          </a:p>
          <a:p>
            <a:r>
              <a:rPr lang="en-US"/>
              <a:t>Grieve What You’ve Lost: Spiritual or religious harm may involve many kinds of loss—relationships, community, identity, certainty, traditions, beliefs, trust, or the future you thought you were going to have. Grief takes time.</a:t>
            </a:r>
          </a:p>
          <a:p>
            <a:r>
              <a:rPr lang="en-US"/>
              <a:t>Self-Compassion and Patience: Healing is not linear. Questions, doubt, and confusion are normal. Give yourself grace. Mistakes and difficult days are part of the process.</a:t>
            </a:r>
          </a:p>
          <a:p>
            <a:r>
              <a:rPr lang="en-US"/>
              <a:t>The abuse was not your fault. You get to choose when you are ready, what is helpful, what you want to explore, and the pace at which you do it.</a:t>
            </a:r>
          </a:p>
          <a:p>
            <a:r>
              <a:rPr lang="en-US"/>
              <a:t>Your entire system may feel like it is recalibrating. This is a way of describing the adjustment that can happen when familiar beliefs, relationships, routines, or ways of understanding yourself and the world are changing—not a claim that something is biologically “broken” and has to be reset.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Reclaim Your Values and Beliefs</a:t>
            </a:r>
          </a:p>
          <a:p>
            <a:r>
              <a:rPr lang="en-US"/>
              <a:t>Rebuilding Trust: This may involve slowly and cautiously rebuilding trust in yourself, in other people, and—if it remains meaningful to you—in your Higher Power or spiritual beliefs. Trust does not have to be restored to everyone or everything. It can be gradual, selective, and based on what feels safe and appropriate.</a:t>
            </a:r>
          </a:p>
          <a:p>
            <a:r>
              <a:rPr lang="en-US"/>
              <a:t>This might include redefining your spiritual beliefs, finding a healthier faith community, changing how you participate in organized religion, or choosing not to participate at all.</a:t>
            </a:r>
          </a:p>
          <a:p>
            <a:r>
              <a:rPr lang="en-US"/>
              <a:t>Creating Supportive Networks: Building relationships with people who understand and support your journey can provide strength, connection, and comfort.</a:t>
            </a:r>
          </a:p>
          <a:p>
            <a:r>
              <a:rPr lang="en-US"/>
              <a:t>Exploring New Perspectives: This may involve learning about different spiritual beliefs, engaging with diverse viewpoints, exploring spirituality outside organized religion, or examining the difference between what you truly believe and what you were taught to believe.</a:t>
            </a:r>
          </a:p>
          <a:p>
            <a:r>
              <a:rPr lang="en-US"/>
              <a:t>Examining religious trauma does not necessarily mean rejecting or opposing all religion or spirituality. Some people preserve their faith, some redefine it, some remain uncertain, some explore other paths, and some walk away. Don’t shame yourself for the direction that is right for you.</a:t>
            </a:r>
          </a:p>
          <a:p>
            <a:r>
              <a:rPr lang="en-US"/>
              <a:t>Higher Power, Purpose, or Path can be about establishing or reclaiming a sense of identity and connection to yourself and integrating your thoughts, emotions, behavior, values, and embodied experience in a way that feels authentic to you.</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Rewrite Your Story — Articulating a New Narrative: Re-authoring your life story to include your experiences, struggles, and triumphs can be empowering.</a:t>
            </a:r>
          </a:p>
          <a:p>
            <a:r>
              <a:rPr lang="en-US"/>
              <a:t>Rewriting your story does not mean changing what happened, minimizing the harm, finding a positive lesson in it, or creating an inspirational ending. It means reclaiming your ability to decide how your experiences fit into the larger story of your life and what meaning—if any—you choose to give them.</a:t>
            </a:r>
          </a:p>
          <a:p>
            <a:r>
              <a:rPr lang="en-US"/>
              <a:t>Your story can still include grief, anger, uncertainty, unanswered questions, or things that do not feel resolved.</a:t>
            </a:r>
          </a:p>
          <a:p>
            <a:r>
              <a:rPr lang="en-US"/>
              <a:t>Each person’s path to healing will be unique, and it’s important to find what works best for you.</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These are three workbooks I own and have personally used or reviewed as resources related to religious and spiritual harm.</a:t>
            </a:r>
          </a:p>
          <a:p>
            <a:r>
              <a:rPr lang="en-US"/>
              <a:t>They are examples of resources that may be helpful for continued reflection and exploration; they are not an exhaustive or ranked list, and no workbook will be the right fit for everyone.</a:t>
            </a:r>
          </a:p>
          <a:p>
            <a:r>
              <a:rPr lang="en-US"/>
              <a:t>As with any self-guided resource, pay attention to what feels useful and relevant to your experience. You do not have to complete every exercise or agree with every perspective for a resource to be helpful.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 note about trauma treatment: These approaches do not all have the same purpose or level of evidence. Some are established treatments for PTSD, some are designed for particular populations, some may be incorporated into broader trauma treatment, and others are adjunctive, emerging, or investigational. Treatment choice should be based on the individual’s symptoms, needs, preferences, readiness, culture, access, and clinical assessment.</a:t>
            </a:r>
          </a:p>
          <a:p>
            <a:r>
              <a:rPr lang="en-US"/>
              <a:t>1. Eye Movement Desensitization and Reprocessing (EMDR)</a:t>
            </a:r>
          </a:p>
          <a:p>
            <a:r>
              <a:rPr lang="en-US"/>
              <a:t>EMDR is an established trauma-focused psychotherapy used in the treatment of PTSD. During EMDR, clients briefly attend to aspects of a traumatic memory while engaging in bilateral stimulation, commonly through guided eye movements, taps, or tones. Treatment involves more than bilateral stimulation alone and follows a structured protocol intended to help traumatic memories become less distressing and disruptive. EMDR has substantial evidence for PTSD treatment, although explanations for exactly how its components produce change continue to be studied.</a:t>
            </a:r>
          </a:p>
          <a:p>
            <a:r>
              <a:rPr lang="en-US"/>
              <a:t>2. Cognitive Processing Therapy (CPT)</a:t>
            </a:r>
          </a:p>
          <a:p>
            <a:r>
              <a:rPr lang="en-US"/>
              <a:t>CPT is an established cognitive therapy for PTSD. It helps clients identify and examine beliefs that may have developed or changed following trauma, including beliefs involving safety, trust, power and control, esteem, and intimacy. Clients learn to evaluate trauma-related conclusions and develop more balanced ways of understanding the experience and its impact.</a:t>
            </a:r>
          </a:p>
          <a:p>
            <a:r>
              <a:rPr lang="en-US"/>
              <a:t>3. Prolonged Exposure (PE)</a:t>
            </a:r>
          </a:p>
          <a:p>
            <a:r>
              <a:rPr lang="en-US"/>
              <a:t>PE is an established behavioral treatment for PTSD. It helps clients gradually and systematically approach trauma-related memories, feelings, and situations that have been avoided because they feel dangerous or overwhelming. Repeated safe engagement can reduce avoidance and help clients learn that reminders of the trauma do not necessarily represent current danger.</a:t>
            </a:r>
          </a:p>
          <a:p>
            <a:r>
              <a:rPr lang="en-US"/>
              <a:t>4. Somatic Experiencing (SE)</a:t>
            </a:r>
          </a:p>
          <a:p>
            <a:r>
              <a:rPr lang="en-US"/>
              <a:t>Somatic Experiencing is a body-oriented approach that emphasizes awareness of physical sensations and responses associated with stress and trauma. Some clients find body-focused approaches helpful, and research on SE is developing. Avoid describing trauma as literally “stored” in the body or suggesting that physical tension must be released in order for trauma to heal.</a:t>
            </a:r>
          </a:p>
          <a:p>
            <a:r>
              <a:rPr lang="en-US"/>
              <a:t>5. Trauma-Focused Cognitive Behavioral Therapy (TF-CBT)</a:t>
            </a:r>
          </a:p>
          <a:p>
            <a:r>
              <a:rPr lang="en-US"/>
              <a:t>TF-CBT is an evidence-based treatment developed primarily for children and adolescents who have experienced trauma. It combines cognitive and behavioral strategies, coping skills, gradual trauma processing, and typically involvement of a nonoffending caregiver. TF-CBT should not be presented as a generic adult PTSD treatment simply because “CBT” appears in its name.</a:t>
            </a:r>
          </a:p>
          <a:p>
            <a:r>
              <a:rPr lang="en-US"/>
              <a:t>6. Internal Family Systems (IFS)</a:t>
            </a:r>
          </a:p>
          <a:p>
            <a:r>
              <a:rPr lang="en-US"/>
              <a:t>IFS conceptualizes the mind as containing different “parts,” each of which may carry particular emotions, beliefs, protective roles, or experiences. Some clinicians use IFS when working with trauma and clients may find the framework meaningful. It should not be presented as though trauma literally fragments the personality into parts or as having the same established PTSD evidence base as first-line trauma-focused treatments.</a:t>
            </a:r>
          </a:p>
          <a:p>
            <a:r>
              <a:rPr lang="en-US"/>
              <a:t>7. Narrative Therapy</a:t>
            </a:r>
          </a:p>
          <a:p>
            <a:r>
              <a:rPr lang="en-US"/>
              <a:t>Narrative Therapy helps clients examine the stories through which they understand themselves and their experiences. It may help clients separate their identity from problems or traumatic experiences and reclaim authorship of their personal narrative. Narrative Therapy is distinct from Narrative Exposure Therapy, which is a separate structured trauma-focused intervention.</a:t>
            </a:r>
          </a:p>
          <a:p>
            <a:r>
              <a:rPr lang="en-US"/>
              <a:t>8. Dialectical Behavior Therapy (DBT)</a:t>
            </a:r>
          </a:p>
          <a:p>
            <a:r>
              <a:rPr lang="en-US"/>
              <a:t>DBT teaches skills involving mindfulness, distress tolerance, emotion regulation, and interpersonal effectiveness. These skills can be useful for people who have experienced trauma, particularly when intense emotions, self-destructive behaviors, or difficulty tolerating distress are treatment concerns. Standard DBT is not itself a first-line PTSD treatment. Trauma-focused adaptations and treatments that incorporate DBT principles should be distinguished from standard DBT.</a:t>
            </a:r>
          </a:p>
          <a:p>
            <a:r>
              <a:rPr lang="en-US"/>
              <a:t>9. Polyvagal-Informed Approaches</a:t>
            </a:r>
          </a:p>
          <a:p>
            <a:r>
              <a:rPr lang="en-US"/>
              <a:t>Polyvagal Theory is a theoretical framework rather than a psychotherapy. Some clinicians use polyvagal-informed language to help clients think about experiences of safety, threat, connection, and autonomic arousal. Parts of the theory remain scientifically debated, so it is best used cautiously as a possible explanatory framework rather than established fact about how trauma operates in the nervous system.</a:t>
            </a:r>
          </a:p>
          <a:p>
            <a:r>
              <a:rPr lang="en-US"/>
              <a:t>10. Accelerated Experiential Dynamic Psychotherapy (AEDP)</a:t>
            </a:r>
          </a:p>
          <a:p>
            <a:r>
              <a:rPr lang="en-US"/>
              <a:t>AEDP is an experiential and attachment-focused psychotherapy that emphasizes emotional processing within a supportive therapeutic relationship. It may be used with trauma-related concerns, but its evidence base for PTSD is more limited than that of established trauma-focused treatments. Avoid promises of rapid emotional breakthroughs or unusually fast trauma resolution.</a:t>
            </a:r>
          </a:p>
          <a:p>
            <a:r>
              <a:rPr lang="en-US"/>
              <a:t>11. Psychedelic-Assisted Therapy — Investigational/Emerging</a:t>
            </a:r>
          </a:p>
          <a:p>
            <a:r>
              <a:rPr lang="en-US"/>
              <a:t>Psychedelic-a...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These are the ones you could explore here, for any type of trauma. 13=equine</a:t>
            </a:r>
          </a:p>
          <a:p>
            <a:r>
              <a:rPr lang="en-US"/>
              <a:t/>
            </a:r>
          </a:p>
          <a:p>
            <a:r>
              <a:rPr lang="en-US"/>
              <a:t>Psychedelic-Assisted Therapy: There is legitimate and developing research on psychedelic-assisted treatments for some mental health conditions, including PTSD. However, promising results from carefully controlled clinical research should not be generalized to independent or recreational psychedelic use.</a:t>
            </a:r>
          </a:p>
          <a:p>
            <a:r>
              <a:rPr lang="en-US"/>
              <a:t>Research protocols involve careful screening and selection of participants, controlled dosing, professional monitoring, preparation, psychotherapy or psychological support, and follow-up. These safeguards are part of the treatment being studied.</a:t>
            </a:r>
          </a:p>
          <a:p>
            <a:r>
              <a:rPr lang="en-US"/>
              <a:t>Psychedelic substances can also carry risks, including acute anxiety, panic, impaired judgment, perceptual disturbances, destabilization of some psychiatric conditions, and potential interactions with medications or other substances. Some individuals may be inappropriate candidates based on psychiatric, medical, medication, or substance-use history.</a:t>
            </a:r>
          </a:p>
          <a:p>
            <a:r>
              <a:rPr lang="en-US"/>
              <a:t>For people receiving treatment for a Substance Use Disorder, additional caution is appropriate. Recovery goals, relapse risk, the function substances have served for the individual, co-occurring conditions, and the possibility that medically framed substance use could complicate an established recovery plan all need to be considered individually.</a:t>
            </a:r>
          </a:p>
          <a:p>
            <a:r>
              <a:rPr lang="en-US"/>
              <a:t>So the evidence-based position is not “psychedelics are bad” or “psychedelics treat trauma.” It is that psychedelic-assisted therapies are an evolving area of clinical research and regulated care whose findings apply to specific treatments delivered under specific conditions. They should not be interpreted as support for self-directed psychedelic use.</a:t>
            </a:r>
          </a:p>
          <a:p>
            <a:r>
              <a:rPr lang="en-US"/>
              <a:t>And, yes—as an employee of a Substance Use Disorder treatment facility, I am also obligated to advise you against this one.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These are SAMHSA’s six guiding principles of a trauma-informed approach. They describe how care should be provided; they are not six trauma therapies or specific treatment techniques.</a:t>
            </a:r>
          </a:p>
          <a:p>
            <a:r>
              <a:rPr lang="en-US"/>
              <a:t>Safety: Safety includes physical safety as well as emotional and psychological safety. Trauma-informed care considers whether the environment, interactions, expectations, and procedures help people feel as safe as reasonably possible.</a:t>
            </a:r>
          </a:p>
          <a:p>
            <a:r>
              <a:rPr lang="en-US"/>
              <a:t>Trustworthiness &amp; Transparency: Trust is supported through clear expectations, consistency, honesty, appropriate boundaries, and transparency about what is happening and why. This can be particularly important for people whose previous experiences involved betrayal, secrecy, manipulation, or misuse of authority.</a:t>
            </a:r>
          </a:p>
          <a:p>
            <a:r>
              <a:rPr lang="en-US"/>
              <a:t>Peer Support: Shared lived experience can reduce isolation, increase hope, and provide forms of understanding and connection that professional relationships alone may not provide.</a:t>
            </a:r>
          </a:p>
          <a:p>
            <a:r>
              <a:rPr lang="en-US"/>
              <a:t>Collaboration &amp; Mutuality: Treatment should be something we do with people rather than to them. The clinician brings professional knowledge; the client brings expertise about their own life, experiences, needs, values, and goals.</a:t>
            </a:r>
          </a:p>
          <a:p>
            <a:r>
              <a:rPr lang="en-US"/>
              <a:t>Empowerment, Voice &amp; Choice: Trauma can involve loss of control or choice. Trauma-informed care intentionally creates opportunities for people to ask questions, understand their options, express preferences, identify strengths, and participate meaningfully in decisions about their care.</a:t>
            </a:r>
          </a:p>
          <a:p>
            <a:r>
              <a:rPr lang="en-US"/>
              <a:t>Cultural, Historical &amp; Gender Issues: Trauma does not occur outside of culture or history. Trauma-informed care recognizes cultural differences, historical and intergenerational experiences, identity, discrimination, and systemic inequities. Providers and organizations should examine their own practices and biases and provide care that is responsive to the people and communities they serve.</a:t>
            </a:r>
          </a:p>
          <a:p>
            <a:r>
              <a:rPr lang="en-US"/>
              <a:t>These principles do not mean that treatment has no boundaries, expectations, or clinical recommendations. They mean that those things should be communicated and implemented in ways that preserve dignity, transparency, collaboration, and as much meaningful choice as possible.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End here.</a:t>
            </a:r>
          </a:p>
          <a:p>
            <a:r>
              <a:rPr lang="en-US"/>
              <a:t>Remind participants that they can follow up privately with you, their therapist, or another appropriate support person if the group brought up something they would like to explore further.</a:t>
            </a:r>
          </a:p>
          <a:p>
            <a:r>
              <a:rPr lang="en-US"/>
              <a:t>Then give them permission to rest.</a:t>
            </a:r>
          </a:p>
          <a:p>
            <a:r>
              <a:rPr lang="en-US"/>
              <a:t>Just not during programming.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png" Type="http://schemas.openxmlformats.org/officeDocument/2006/relationships/image"/><Relationship Id="rId12" Target="../media/image11.png" Type="http://schemas.openxmlformats.org/officeDocument/2006/relationships/image"/><Relationship Id="rId13" Target="../media/image12.png" Type="http://schemas.openxmlformats.org/officeDocument/2006/relationships/image"/><Relationship Id="rId14" Target="../media/image13.png" Type="http://schemas.openxmlformats.org/officeDocument/2006/relationships/image"/><Relationship Id="rId2" Target="../notesSlides/notesSlide2.xml" Type="http://schemas.openxmlformats.org/officeDocument/2006/relationships/notesSlid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 Id="rId4" Target="../media/image1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jpeg" Type="http://schemas.openxmlformats.org/officeDocument/2006/relationships/image"/><Relationship Id="rId4" Target="../media/image1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jpeg" Type="http://schemas.openxmlformats.org/officeDocument/2006/relationships/image"/><Relationship Id="rId4" Target="../media/image15.png" Type="http://schemas.openxmlformats.org/officeDocument/2006/relationships/image"/><Relationship Id="rId5" Target="../media/image1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jpeg" Type="http://schemas.openxmlformats.org/officeDocument/2006/relationships/image"/><Relationship Id="rId4" Target="../media/image15.png" Type="http://schemas.openxmlformats.org/officeDocument/2006/relationships/image"/><Relationship Id="rId5" Target="../media/image16.png" Type="http://schemas.openxmlformats.org/officeDocument/2006/relationships/image"/><Relationship Id="rId6" Target="../media/image1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jpeg" Type="http://schemas.openxmlformats.org/officeDocument/2006/relationships/image"/><Relationship Id="rId4" Target="../media/image15.png" Type="http://schemas.openxmlformats.org/officeDocument/2006/relationships/image"/><Relationship Id="rId5" Target="../media/image16.png" Type="http://schemas.openxmlformats.org/officeDocument/2006/relationships/image"/><Relationship Id="rId6" Target="../media/image17.png" Type="http://schemas.openxmlformats.org/officeDocument/2006/relationships/image"/><Relationship Id="rId7" Target="../media/image1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1.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1.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1.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1.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1.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1.jpeg" Type="http://schemas.openxmlformats.org/officeDocument/2006/relationships/image"/><Relationship Id="rId4" Target="../media/image19.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png" Type="http://schemas.openxmlformats.org/officeDocument/2006/relationships/image"/><Relationship Id="rId12" Target="../media/image11.png" Type="http://schemas.openxmlformats.org/officeDocument/2006/relationships/image"/><Relationship Id="rId13" Target="../media/image12.png" Type="http://schemas.openxmlformats.org/officeDocument/2006/relationships/image"/><Relationship Id="rId14" Target="../media/image13.png" Type="http://schemas.openxmlformats.org/officeDocument/2006/relationships/image"/><Relationship Id="rId2" Target="../notesSlides/notesSlide21.xml" Type="http://schemas.openxmlformats.org/officeDocument/2006/relationships/notesSlid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1.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20.png" Type="http://schemas.openxmlformats.org/officeDocument/2006/relationships/image"/><Relationship Id="rId4" Target="../media/image21.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 Id="rId3" Target="../media/image1.jpe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 Id="rId3" Target="../media/image1.jpe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6.xml" Type="http://schemas.openxmlformats.org/officeDocument/2006/relationships/notesSlide"/><Relationship Id="rId3" Target="../media/image22.png" Type="http://schemas.openxmlformats.org/officeDocument/2006/relationships/image"/><Relationship Id="rId4" Target="../media/image1.jpe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7.xml" Type="http://schemas.openxmlformats.org/officeDocument/2006/relationships/notesSlide"/><Relationship Id="rId3" Target="../media/image1.jpeg" Type="http://schemas.openxmlformats.org/officeDocument/2006/relationships/image"/><Relationship Id="rId4" Target="../media/image23.png" Type="http://schemas.openxmlformats.org/officeDocument/2006/relationships/image"/><Relationship Id="rId5" Target="../media/image24.png" Type="http://schemas.openxmlformats.org/officeDocument/2006/relationships/image"/><Relationship Id="rId6" Target="../media/image25.png" Type="http://schemas.openxmlformats.org/officeDocument/2006/relationships/image"/><Relationship Id="rId7" Target="../media/image26.png" Type="http://schemas.openxmlformats.org/officeDocument/2006/relationships/image"/><Relationship Id="rId8" Target="../media/image27.png" Type="http://schemas.openxmlformats.org/officeDocument/2006/relationships/image"/><Relationship Id="rId9" Target="../media/image28.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8.xml" Type="http://schemas.openxmlformats.org/officeDocument/2006/relationships/notesSlide"/><Relationship Id="rId3" Target="../media/image1.jpe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9.xml" Type="http://schemas.openxmlformats.org/officeDocument/2006/relationships/notesSlide"/><Relationship Id="rId3" Target="../media/image1.jpe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0.xml" Type="http://schemas.openxmlformats.org/officeDocument/2006/relationships/notesSlide"/><Relationship Id="rId3" Target="../media/image1.jpe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1.xml" Type="http://schemas.openxmlformats.org/officeDocument/2006/relationships/notesSlide"/><Relationship Id="rId3" Target="../media/image1.jpeg" Type="http://schemas.openxmlformats.org/officeDocument/2006/relationships/image"/><Relationship Id="rId4" Target="../media/image29.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2.xml" Type="http://schemas.openxmlformats.org/officeDocument/2006/relationships/notesSlide"/><Relationship Id="rId3" Target="../media/image30.png" Type="http://schemas.openxmlformats.org/officeDocument/2006/relationships/image"/><Relationship Id="rId4" Target="../media/image31.png" Type="http://schemas.openxmlformats.org/officeDocument/2006/relationships/image"/><Relationship Id="rId5" Target="../media/image32.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3.xml" Type="http://schemas.openxmlformats.org/officeDocument/2006/relationships/notesSlide"/><Relationship Id="rId3" Target="../media/image1.jpe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4.xml" Type="http://schemas.openxmlformats.org/officeDocument/2006/relationships/notesSlide"/><Relationship Id="rId3" Target="../media/image1.jpe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5.xml" Type="http://schemas.openxmlformats.org/officeDocument/2006/relationships/notesSlide"/><Relationship Id="rId3" Target="../media/image1.jpe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6.xml" Type="http://schemas.openxmlformats.org/officeDocument/2006/relationships/notesSlide"/><Relationship Id="rId3" Target="../media/image3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459454" y="1484824"/>
            <a:ext cx="2220401" cy="2307050"/>
            <a:chOff x="0" y="0"/>
            <a:chExt cx="2960535" cy="3076067"/>
          </a:xfrm>
        </p:grpSpPr>
        <p:sp>
          <p:nvSpPr>
            <p:cNvPr name="Freeform 3" id="3"/>
            <p:cNvSpPr/>
            <p:nvPr/>
          </p:nvSpPr>
          <p:spPr>
            <a:xfrm flipH="false" flipV="false" rot="0">
              <a:off x="0" y="0"/>
              <a:ext cx="2960497" cy="3076067"/>
            </a:xfrm>
            <a:custGeom>
              <a:avLst/>
              <a:gdLst/>
              <a:ahLst/>
              <a:cxnLst/>
              <a:rect r="r" b="b" t="t" l="l"/>
              <a:pathLst>
                <a:path h="3076067" w="2960497">
                  <a:moveTo>
                    <a:pt x="0" y="3076067"/>
                  </a:moveTo>
                  <a:lnTo>
                    <a:pt x="0" y="0"/>
                  </a:lnTo>
                  <a:lnTo>
                    <a:pt x="2960497" y="0"/>
                  </a:lnTo>
                </a:path>
              </a:pathLst>
            </a:custGeom>
            <a:blipFill>
              <a:blip r:embed="rId3">
                <a:alphaModFix amt="0"/>
              </a:blip>
              <a:stretch>
                <a:fillRect l="-83311" t="0" r="-83312" b="0"/>
              </a:stretch>
            </a:blipFill>
            <a:ln w="57150" cap="sq">
              <a:solidFill>
                <a:srgbClr val="CCA677"/>
              </a:solidFill>
              <a:prstDash val="solid"/>
              <a:miter/>
            </a:ln>
          </p:spPr>
        </p:sp>
      </p:grpSp>
      <p:grpSp>
        <p:nvGrpSpPr>
          <p:cNvPr name="Group 4" id="4"/>
          <p:cNvGrpSpPr/>
          <p:nvPr/>
        </p:nvGrpSpPr>
        <p:grpSpPr>
          <a:xfrm rot="-10800000">
            <a:off x="10608126" y="6504880"/>
            <a:ext cx="2220401" cy="2307050"/>
            <a:chOff x="0" y="0"/>
            <a:chExt cx="2960535" cy="3076067"/>
          </a:xfrm>
        </p:grpSpPr>
        <p:sp>
          <p:nvSpPr>
            <p:cNvPr name="Freeform 5" id="5"/>
            <p:cNvSpPr/>
            <p:nvPr/>
          </p:nvSpPr>
          <p:spPr>
            <a:xfrm flipH="false" flipV="false" rot="0">
              <a:off x="0" y="0"/>
              <a:ext cx="2960497" cy="3076067"/>
            </a:xfrm>
            <a:custGeom>
              <a:avLst/>
              <a:gdLst/>
              <a:ahLst/>
              <a:cxnLst/>
              <a:rect r="r" b="b" t="t" l="l"/>
              <a:pathLst>
                <a:path h="3076067" w="2960497">
                  <a:moveTo>
                    <a:pt x="0" y="3076067"/>
                  </a:moveTo>
                  <a:lnTo>
                    <a:pt x="0" y="0"/>
                  </a:lnTo>
                  <a:lnTo>
                    <a:pt x="2960497" y="0"/>
                  </a:lnTo>
                </a:path>
              </a:pathLst>
            </a:custGeom>
            <a:blipFill>
              <a:blip r:embed="rId3">
                <a:alphaModFix amt="0"/>
              </a:blip>
              <a:stretch>
                <a:fillRect l="-83311" t="0" r="-83312" b="0"/>
              </a:stretch>
            </a:blipFill>
            <a:ln w="57150" cap="sq">
              <a:solidFill>
                <a:srgbClr val="CCA677"/>
              </a:solidFill>
              <a:prstDash val="solid"/>
              <a:miter/>
            </a:ln>
          </p:spPr>
        </p:sp>
      </p:grpSp>
      <p:grpSp>
        <p:nvGrpSpPr>
          <p:cNvPr name="Group 6" id="6"/>
          <p:cNvGrpSpPr/>
          <p:nvPr/>
        </p:nvGrpSpPr>
        <p:grpSpPr>
          <a:xfrm rot="0">
            <a:off x="6222997" y="3037151"/>
            <a:ext cx="6109202" cy="1723196"/>
            <a:chOff x="0" y="0"/>
            <a:chExt cx="8145602" cy="2297595"/>
          </a:xfrm>
        </p:grpSpPr>
        <p:sp>
          <p:nvSpPr>
            <p:cNvPr name="Freeform 7" id="7"/>
            <p:cNvSpPr/>
            <p:nvPr/>
          </p:nvSpPr>
          <p:spPr>
            <a:xfrm flipH="false" flipV="false" rot="0">
              <a:off x="0" y="0"/>
              <a:ext cx="8145600" cy="2297600"/>
            </a:xfrm>
            <a:custGeom>
              <a:avLst/>
              <a:gdLst/>
              <a:ahLst/>
              <a:cxnLst/>
              <a:rect r="r" b="b" t="t" l="l"/>
              <a:pathLst>
                <a:path h="2297600" w="8145600">
                  <a:moveTo>
                    <a:pt x="0" y="0"/>
                  </a:moveTo>
                  <a:lnTo>
                    <a:pt x="8145600" y="0"/>
                  </a:lnTo>
                  <a:lnTo>
                    <a:pt x="8145600" y="2297600"/>
                  </a:lnTo>
                  <a:lnTo>
                    <a:pt x="0" y="2297600"/>
                  </a:lnTo>
                  <a:close/>
                </a:path>
              </a:pathLst>
            </a:custGeom>
            <a:blipFill>
              <a:blip r:embed="rId3">
                <a:alphaModFix amt="0"/>
              </a:blip>
              <a:stretch>
                <a:fillRect l="0" t="-19079" r="0" b="-19079"/>
              </a:stretch>
            </a:blipFill>
          </p:spPr>
        </p:sp>
        <p:sp>
          <p:nvSpPr>
            <p:cNvPr name="TextBox 8" id="8"/>
            <p:cNvSpPr txBox="true"/>
            <p:nvPr/>
          </p:nvSpPr>
          <p:spPr>
            <a:xfrm>
              <a:off x="0" y="-9525"/>
              <a:ext cx="8145602" cy="2307120"/>
            </a:xfrm>
            <a:prstGeom prst="rect">
              <a:avLst/>
            </a:prstGeom>
          </p:spPr>
          <p:txBody>
            <a:bodyPr anchor="b" rtlCol="false" tIns="0" lIns="0" bIns="0" rIns="0"/>
            <a:lstStyle/>
            <a:p>
              <a:pPr algn="ctr">
                <a:lnSpc>
                  <a:spcPts val="10080"/>
                </a:lnSpc>
              </a:pPr>
              <a:r>
                <a:rPr lang="en-US" sz="8400">
                  <a:solidFill>
                    <a:srgbClr val="000000"/>
                  </a:solidFill>
                  <a:latin typeface="Economica"/>
                  <a:ea typeface="Economica"/>
                  <a:cs typeface="Economica"/>
                  <a:sym typeface="Economica"/>
                </a:rPr>
                <a:t>Spiritual Trauma</a:t>
              </a:r>
            </a:p>
          </p:txBody>
        </p:sp>
      </p:grpSp>
      <p:sp>
        <p:nvSpPr>
          <p:cNvPr name="TextBox 9" id="9"/>
          <p:cNvSpPr txBox="true"/>
          <p:nvPr/>
        </p:nvSpPr>
        <p:spPr>
          <a:xfrm rot="0">
            <a:off x="6180830" y="5702379"/>
            <a:ext cx="5926350" cy="1892703"/>
          </a:xfrm>
          <a:prstGeom prst="rect">
            <a:avLst/>
          </a:prstGeom>
        </p:spPr>
        <p:txBody>
          <a:bodyPr anchor="t" rtlCol="false" tIns="0" lIns="0" bIns="0" rIns="0">
            <a:spAutoFit/>
          </a:bodyPr>
          <a:lstStyle/>
          <a:p>
            <a:pPr algn="ctr">
              <a:lnSpc>
                <a:spcPts val="2494"/>
              </a:lnSpc>
            </a:pPr>
            <a:r>
              <a:rPr lang="en-US" sz="2310">
                <a:solidFill>
                  <a:srgbClr val="000000"/>
                </a:solidFill>
                <a:latin typeface="Economica"/>
                <a:ea typeface="Economica"/>
                <a:cs typeface="Economica"/>
                <a:sym typeface="Economica"/>
              </a:rPr>
              <a:t>Trigger Warning: I tried to keep this as general as possible, but this topic can still be a trigger. Do not feel obligated to share personal experiences. You may pass on a question or step out if you need to. Please talk to me or your therapist after group if this brings up something you need to work through..</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04800" y="304800"/>
            <a:ext cx="2438400" cy="3790950"/>
            <a:chOff x="0" y="0"/>
            <a:chExt cx="3251200" cy="5054600"/>
          </a:xfrm>
        </p:grpSpPr>
        <p:sp>
          <p:nvSpPr>
            <p:cNvPr name="Freeform 3" id="3"/>
            <p:cNvSpPr/>
            <p:nvPr/>
          </p:nvSpPr>
          <p:spPr>
            <a:xfrm flipH="false" flipV="false" rot="0">
              <a:off x="0" y="0"/>
              <a:ext cx="3251200" cy="5054600"/>
            </a:xfrm>
            <a:custGeom>
              <a:avLst/>
              <a:gdLst/>
              <a:ahLst/>
              <a:cxnLst/>
              <a:rect r="r" b="b" t="t" l="l"/>
              <a:pathLst>
                <a:path h="5054600" w="3251200">
                  <a:moveTo>
                    <a:pt x="0" y="0"/>
                  </a:moveTo>
                  <a:lnTo>
                    <a:pt x="3251200" y="0"/>
                  </a:lnTo>
                  <a:lnTo>
                    <a:pt x="3251200" y="5054600"/>
                  </a:lnTo>
                  <a:lnTo>
                    <a:pt x="0" y="5054600"/>
                  </a:lnTo>
                  <a:lnTo>
                    <a:pt x="0" y="0"/>
                  </a:lnTo>
                  <a:close/>
                </a:path>
              </a:pathLst>
            </a:custGeom>
            <a:blipFill>
              <a:blip r:embed="rId3"/>
              <a:stretch>
                <a:fillRect l="0" t="0" r="0" b="0"/>
              </a:stretch>
            </a:blipFill>
          </p:spPr>
        </p:sp>
      </p:grpSp>
      <p:grpSp>
        <p:nvGrpSpPr>
          <p:cNvPr name="Group 4" id="4"/>
          <p:cNvGrpSpPr/>
          <p:nvPr/>
        </p:nvGrpSpPr>
        <p:grpSpPr>
          <a:xfrm rot="0">
            <a:off x="3144002" y="1077897"/>
            <a:ext cx="2591467" cy="3790950"/>
            <a:chOff x="0" y="0"/>
            <a:chExt cx="3455289" cy="5054600"/>
          </a:xfrm>
        </p:grpSpPr>
        <p:sp>
          <p:nvSpPr>
            <p:cNvPr name="Freeform 5" id="5"/>
            <p:cNvSpPr/>
            <p:nvPr/>
          </p:nvSpPr>
          <p:spPr>
            <a:xfrm flipH="false" flipV="false" rot="0">
              <a:off x="0" y="0"/>
              <a:ext cx="3455289" cy="5054600"/>
            </a:xfrm>
            <a:custGeom>
              <a:avLst/>
              <a:gdLst/>
              <a:ahLst/>
              <a:cxnLst/>
              <a:rect r="r" b="b" t="t" l="l"/>
              <a:pathLst>
                <a:path h="5054600" w="3455289">
                  <a:moveTo>
                    <a:pt x="0" y="0"/>
                  </a:moveTo>
                  <a:lnTo>
                    <a:pt x="3455289" y="0"/>
                  </a:lnTo>
                  <a:lnTo>
                    <a:pt x="3455289" y="5054600"/>
                  </a:lnTo>
                  <a:lnTo>
                    <a:pt x="0" y="5054600"/>
                  </a:lnTo>
                  <a:lnTo>
                    <a:pt x="0" y="0"/>
                  </a:lnTo>
                  <a:close/>
                </a:path>
              </a:pathLst>
            </a:custGeom>
            <a:blipFill>
              <a:blip r:embed="rId4"/>
              <a:stretch>
                <a:fillRect l="0" t="0" r="0" b="0"/>
              </a:stretch>
            </a:blipFill>
          </p:spPr>
        </p:sp>
      </p:grpSp>
      <p:grpSp>
        <p:nvGrpSpPr>
          <p:cNvPr name="Group 6" id="6"/>
          <p:cNvGrpSpPr/>
          <p:nvPr/>
        </p:nvGrpSpPr>
        <p:grpSpPr>
          <a:xfrm rot="0">
            <a:off x="6249057" y="569805"/>
            <a:ext cx="2354189" cy="3790950"/>
            <a:chOff x="0" y="0"/>
            <a:chExt cx="3138919" cy="5054600"/>
          </a:xfrm>
        </p:grpSpPr>
        <p:sp>
          <p:nvSpPr>
            <p:cNvPr name="Freeform 7" id="7"/>
            <p:cNvSpPr/>
            <p:nvPr/>
          </p:nvSpPr>
          <p:spPr>
            <a:xfrm flipH="false" flipV="false" rot="0">
              <a:off x="0" y="0"/>
              <a:ext cx="3138932" cy="5054600"/>
            </a:xfrm>
            <a:custGeom>
              <a:avLst/>
              <a:gdLst/>
              <a:ahLst/>
              <a:cxnLst/>
              <a:rect r="r" b="b" t="t" l="l"/>
              <a:pathLst>
                <a:path h="5054600" w="3138932">
                  <a:moveTo>
                    <a:pt x="0" y="0"/>
                  </a:moveTo>
                  <a:lnTo>
                    <a:pt x="3138932" y="0"/>
                  </a:lnTo>
                  <a:lnTo>
                    <a:pt x="3138932" y="5054600"/>
                  </a:lnTo>
                  <a:lnTo>
                    <a:pt x="0" y="5054600"/>
                  </a:lnTo>
                  <a:lnTo>
                    <a:pt x="0" y="0"/>
                  </a:lnTo>
                  <a:close/>
                </a:path>
              </a:pathLst>
            </a:custGeom>
            <a:blipFill>
              <a:blip r:embed="rId5"/>
              <a:stretch>
                <a:fillRect l="0" t="0" r="0" b="0"/>
              </a:stretch>
            </a:blipFill>
          </p:spPr>
        </p:sp>
      </p:grpSp>
      <p:grpSp>
        <p:nvGrpSpPr>
          <p:cNvPr name="Group 8" id="8"/>
          <p:cNvGrpSpPr/>
          <p:nvPr/>
        </p:nvGrpSpPr>
        <p:grpSpPr>
          <a:xfrm rot="0">
            <a:off x="12331151" y="304800"/>
            <a:ext cx="2500513" cy="3700148"/>
            <a:chOff x="0" y="0"/>
            <a:chExt cx="3334017" cy="4933531"/>
          </a:xfrm>
        </p:grpSpPr>
        <p:sp>
          <p:nvSpPr>
            <p:cNvPr name="Freeform 9" id="9"/>
            <p:cNvSpPr/>
            <p:nvPr/>
          </p:nvSpPr>
          <p:spPr>
            <a:xfrm flipH="false" flipV="false" rot="0">
              <a:off x="0" y="0"/>
              <a:ext cx="3334004" cy="4933569"/>
            </a:xfrm>
            <a:custGeom>
              <a:avLst/>
              <a:gdLst/>
              <a:ahLst/>
              <a:cxnLst/>
              <a:rect r="r" b="b" t="t" l="l"/>
              <a:pathLst>
                <a:path h="4933569" w="3334004">
                  <a:moveTo>
                    <a:pt x="0" y="0"/>
                  </a:moveTo>
                  <a:lnTo>
                    <a:pt x="3334004" y="0"/>
                  </a:lnTo>
                  <a:lnTo>
                    <a:pt x="3334004" y="4933569"/>
                  </a:lnTo>
                  <a:lnTo>
                    <a:pt x="0" y="4933569"/>
                  </a:lnTo>
                  <a:lnTo>
                    <a:pt x="0" y="0"/>
                  </a:lnTo>
                  <a:close/>
                </a:path>
              </a:pathLst>
            </a:custGeom>
            <a:blipFill>
              <a:blip r:embed="rId6"/>
              <a:stretch>
                <a:fillRect l="0" t="0" r="0" b="0"/>
              </a:stretch>
            </a:blipFill>
          </p:spPr>
        </p:sp>
      </p:grpSp>
      <p:grpSp>
        <p:nvGrpSpPr>
          <p:cNvPr name="Group 10" id="10"/>
          <p:cNvGrpSpPr/>
          <p:nvPr/>
        </p:nvGrpSpPr>
        <p:grpSpPr>
          <a:xfrm rot="0">
            <a:off x="14831654" y="660597"/>
            <a:ext cx="3700148" cy="3700148"/>
            <a:chOff x="0" y="0"/>
            <a:chExt cx="4933531" cy="4933531"/>
          </a:xfrm>
        </p:grpSpPr>
        <p:sp>
          <p:nvSpPr>
            <p:cNvPr name="Freeform 11" id="11"/>
            <p:cNvSpPr/>
            <p:nvPr/>
          </p:nvSpPr>
          <p:spPr>
            <a:xfrm flipH="false" flipV="false" rot="0">
              <a:off x="0" y="0"/>
              <a:ext cx="4933569" cy="4933569"/>
            </a:xfrm>
            <a:custGeom>
              <a:avLst/>
              <a:gdLst/>
              <a:ahLst/>
              <a:cxnLst/>
              <a:rect r="r" b="b" t="t" l="l"/>
              <a:pathLst>
                <a:path h="4933569" w="4933569">
                  <a:moveTo>
                    <a:pt x="0" y="0"/>
                  </a:moveTo>
                  <a:lnTo>
                    <a:pt x="4933569" y="0"/>
                  </a:lnTo>
                  <a:lnTo>
                    <a:pt x="4933569" y="4933569"/>
                  </a:lnTo>
                  <a:lnTo>
                    <a:pt x="0" y="4933569"/>
                  </a:lnTo>
                  <a:lnTo>
                    <a:pt x="0" y="0"/>
                  </a:lnTo>
                  <a:close/>
                </a:path>
              </a:pathLst>
            </a:custGeom>
            <a:blipFill>
              <a:blip r:embed="rId7"/>
              <a:stretch>
                <a:fillRect l="0" t="0" r="0" b="0"/>
              </a:stretch>
            </a:blipFill>
          </p:spPr>
        </p:sp>
      </p:grpSp>
      <p:grpSp>
        <p:nvGrpSpPr>
          <p:cNvPr name="Group 12" id="12"/>
          <p:cNvGrpSpPr/>
          <p:nvPr/>
        </p:nvGrpSpPr>
        <p:grpSpPr>
          <a:xfrm rot="0">
            <a:off x="304800" y="6383750"/>
            <a:ext cx="2438400" cy="3505514"/>
            <a:chOff x="0" y="0"/>
            <a:chExt cx="3251200" cy="4674019"/>
          </a:xfrm>
        </p:grpSpPr>
        <p:sp>
          <p:nvSpPr>
            <p:cNvPr name="Freeform 13" id="13"/>
            <p:cNvSpPr/>
            <p:nvPr/>
          </p:nvSpPr>
          <p:spPr>
            <a:xfrm flipH="false" flipV="false" rot="0">
              <a:off x="0" y="0"/>
              <a:ext cx="3251200" cy="4673981"/>
            </a:xfrm>
            <a:custGeom>
              <a:avLst/>
              <a:gdLst/>
              <a:ahLst/>
              <a:cxnLst/>
              <a:rect r="r" b="b" t="t" l="l"/>
              <a:pathLst>
                <a:path h="4673981" w="3251200">
                  <a:moveTo>
                    <a:pt x="0" y="0"/>
                  </a:moveTo>
                  <a:lnTo>
                    <a:pt x="3251200" y="0"/>
                  </a:lnTo>
                  <a:lnTo>
                    <a:pt x="3251200" y="4673981"/>
                  </a:lnTo>
                  <a:lnTo>
                    <a:pt x="0" y="4673981"/>
                  </a:lnTo>
                  <a:lnTo>
                    <a:pt x="0" y="0"/>
                  </a:lnTo>
                  <a:close/>
                </a:path>
              </a:pathLst>
            </a:custGeom>
            <a:blipFill>
              <a:blip r:embed="rId8"/>
              <a:stretch>
                <a:fillRect l="0" t="0" r="0" b="0"/>
              </a:stretch>
            </a:blipFill>
          </p:spPr>
        </p:sp>
      </p:grpSp>
      <p:grpSp>
        <p:nvGrpSpPr>
          <p:cNvPr name="Group 14" id="14"/>
          <p:cNvGrpSpPr/>
          <p:nvPr/>
        </p:nvGrpSpPr>
        <p:grpSpPr>
          <a:xfrm rot="0">
            <a:off x="3210601" y="5551246"/>
            <a:ext cx="2354199" cy="3532175"/>
            <a:chOff x="0" y="0"/>
            <a:chExt cx="3138932" cy="4709566"/>
          </a:xfrm>
        </p:grpSpPr>
        <p:sp>
          <p:nvSpPr>
            <p:cNvPr name="Freeform 15" id="15"/>
            <p:cNvSpPr/>
            <p:nvPr/>
          </p:nvSpPr>
          <p:spPr>
            <a:xfrm flipH="false" flipV="false" rot="0">
              <a:off x="0" y="0"/>
              <a:ext cx="3138932" cy="4709541"/>
            </a:xfrm>
            <a:custGeom>
              <a:avLst/>
              <a:gdLst/>
              <a:ahLst/>
              <a:cxnLst/>
              <a:rect r="r" b="b" t="t" l="l"/>
              <a:pathLst>
                <a:path h="4709541" w="3138932">
                  <a:moveTo>
                    <a:pt x="0" y="0"/>
                  </a:moveTo>
                  <a:lnTo>
                    <a:pt x="3138932" y="0"/>
                  </a:lnTo>
                  <a:lnTo>
                    <a:pt x="3138932" y="4709541"/>
                  </a:lnTo>
                  <a:lnTo>
                    <a:pt x="0" y="4709541"/>
                  </a:lnTo>
                  <a:lnTo>
                    <a:pt x="0" y="0"/>
                  </a:lnTo>
                  <a:close/>
                </a:path>
              </a:pathLst>
            </a:custGeom>
            <a:blipFill>
              <a:blip r:embed="rId9"/>
              <a:stretch>
                <a:fillRect l="0" t="0" r="0" b="0"/>
              </a:stretch>
            </a:blipFill>
          </p:spPr>
        </p:sp>
      </p:grpSp>
      <p:grpSp>
        <p:nvGrpSpPr>
          <p:cNvPr name="Group 16" id="16"/>
          <p:cNvGrpSpPr/>
          <p:nvPr/>
        </p:nvGrpSpPr>
        <p:grpSpPr>
          <a:xfrm rot="0">
            <a:off x="6032202" y="5143500"/>
            <a:ext cx="2354199" cy="3540128"/>
            <a:chOff x="0" y="0"/>
            <a:chExt cx="3138932" cy="4720171"/>
          </a:xfrm>
        </p:grpSpPr>
        <p:sp>
          <p:nvSpPr>
            <p:cNvPr name="Freeform 17" id="17"/>
            <p:cNvSpPr/>
            <p:nvPr/>
          </p:nvSpPr>
          <p:spPr>
            <a:xfrm flipH="false" flipV="false" rot="0">
              <a:off x="0" y="0"/>
              <a:ext cx="3138932" cy="4720209"/>
            </a:xfrm>
            <a:custGeom>
              <a:avLst/>
              <a:gdLst/>
              <a:ahLst/>
              <a:cxnLst/>
              <a:rect r="r" b="b" t="t" l="l"/>
              <a:pathLst>
                <a:path h="4720209" w="3138932">
                  <a:moveTo>
                    <a:pt x="0" y="0"/>
                  </a:moveTo>
                  <a:lnTo>
                    <a:pt x="3138932" y="0"/>
                  </a:lnTo>
                  <a:lnTo>
                    <a:pt x="3138932" y="4720209"/>
                  </a:lnTo>
                  <a:lnTo>
                    <a:pt x="0" y="4720209"/>
                  </a:lnTo>
                  <a:lnTo>
                    <a:pt x="0" y="0"/>
                  </a:lnTo>
                  <a:close/>
                </a:path>
              </a:pathLst>
            </a:custGeom>
            <a:blipFill>
              <a:blip r:embed="rId10"/>
              <a:stretch>
                <a:fillRect l="0" t="0" r="0" b="0"/>
              </a:stretch>
            </a:blipFill>
          </p:spPr>
        </p:sp>
      </p:grpSp>
      <p:grpSp>
        <p:nvGrpSpPr>
          <p:cNvPr name="Group 18" id="18"/>
          <p:cNvGrpSpPr/>
          <p:nvPr/>
        </p:nvGrpSpPr>
        <p:grpSpPr>
          <a:xfrm rot="0">
            <a:off x="8603228" y="5795953"/>
            <a:ext cx="3448574" cy="3700148"/>
            <a:chOff x="0" y="0"/>
            <a:chExt cx="4598098" cy="4933531"/>
          </a:xfrm>
        </p:grpSpPr>
        <p:sp>
          <p:nvSpPr>
            <p:cNvPr name="Freeform 19" id="19"/>
            <p:cNvSpPr/>
            <p:nvPr/>
          </p:nvSpPr>
          <p:spPr>
            <a:xfrm flipH="false" flipV="false" rot="0">
              <a:off x="0" y="0"/>
              <a:ext cx="4598035" cy="4933569"/>
            </a:xfrm>
            <a:custGeom>
              <a:avLst/>
              <a:gdLst/>
              <a:ahLst/>
              <a:cxnLst/>
              <a:rect r="r" b="b" t="t" l="l"/>
              <a:pathLst>
                <a:path h="4933569" w="4598035">
                  <a:moveTo>
                    <a:pt x="0" y="0"/>
                  </a:moveTo>
                  <a:lnTo>
                    <a:pt x="4598035" y="0"/>
                  </a:lnTo>
                  <a:lnTo>
                    <a:pt x="4598035" y="4933569"/>
                  </a:lnTo>
                  <a:lnTo>
                    <a:pt x="0" y="4933569"/>
                  </a:lnTo>
                  <a:lnTo>
                    <a:pt x="0" y="0"/>
                  </a:lnTo>
                  <a:close/>
                </a:path>
              </a:pathLst>
            </a:custGeom>
            <a:blipFill>
              <a:blip r:embed="rId11"/>
              <a:stretch>
                <a:fillRect l="0" t="0" r="-1" b="0"/>
              </a:stretch>
            </a:blipFill>
          </p:spPr>
        </p:sp>
      </p:grpSp>
      <p:grpSp>
        <p:nvGrpSpPr>
          <p:cNvPr name="Group 20" id="20"/>
          <p:cNvGrpSpPr/>
          <p:nvPr/>
        </p:nvGrpSpPr>
        <p:grpSpPr>
          <a:xfrm rot="0">
            <a:off x="12268648" y="4868847"/>
            <a:ext cx="2222078" cy="3700148"/>
            <a:chOff x="0" y="0"/>
            <a:chExt cx="2962770" cy="4933531"/>
          </a:xfrm>
        </p:grpSpPr>
        <p:sp>
          <p:nvSpPr>
            <p:cNvPr name="Freeform 21" id="21"/>
            <p:cNvSpPr/>
            <p:nvPr/>
          </p:nvSpPr>
          <p:spPr>
            <a:xfrm flipH="false" flipV="false" rot="0">
              <a:off x="0" y="0"/>
              <a:ext cx="2962783" cy="4933569"/>
            </a:xfrm>
            <a:custGeom>
              <a:avLst/>
              <a:gdLst/>
              <a:ahLst/>
              <a:cxnLst/>
              <a:rect r="r" b="b" t="t" l="l"/>
              <a:pathLst>
                <a:path h="4933569" w="2962783">
                  <a:moveTo>
                    <a:pt x="0" y="0"/>
                  </a:moveTo>
                  <a:lnTo>
                    <a:pt x="2962783" y="0"/>
                  </a:lnTo>
                  <a:lnTo>
                    <a:pt x="2962783" y="4933569"/>
                  </a:lnTo>
                  <a:lnTo>
                    <a:pt x="0" y="4933569"/>
                  </a:lnTo>
                  <a:lnTo>
                    <a:pt x="0" y="0"/>
                  </a:lnTo>
                  <a:close/>
                </a:path>
              </a:pathLst>
            </a:custGeom>
            <a:blipFill>
              <a:blip r:embed="rId12"/>
              <a:stretch>
                <a:fillRect l="0" t="0" r="0" b="0"/>
              </a:stretch>
            </a:blipFill>
          </p:spPr>
        </p:sp>
      </p:grpSp>
      <p:grpSp>
        <p:nvGrpSpPr>
          <p:cNvPr name="Group 22" id="22"/>
          <p:cNvGrpSpPr/>
          <p:nvPr/>
        </p:nvGrpSpPr>
        <p:grpSpPr>
          <a:xfrm rot="0">
            <a:off x="9171470" y="1117025"/>
            <a:ext cx="2591448" cy="3712702"/>
            <a:chOff x="0" y="0"/>
            <a:chExt cx="3455264" cy="4950270"/>
          </a:xfrm>
        </p:grpSpPr>
        <p:sp>
          <p:nvSpPr>
            <p:cNvPr name="Freeform 23" id="23"/>
            <p:cNvSpPr/>
            <p:nvPr/>
          </p:nvSpPr>
          <p:spPr>
            <a:xfrm flipH="false" flipV="false" rot="0">
              <a:off x="0" y="0"/>
              <a:ext cx="3455289" cy="4950206"/>
            </a:xfrm>
            <a:custGeom>
              <a:avLst/>
              <a:gdLst/>
              <a:ahLst/>
              <a:cxnLst/>
              <a:rect r="r" b="b" t="t" l="l"/>
              <a:pathLst>
                <a:path h="4950206" w="3455289">
                  <a:moveTo>
                    <a:pt x="0" y="0"/>
                  </a:moveTo>
                  <a:lnTo>
                    <a:pt x="3455289" y="0"/>
                  </a:lnTo>
                  <a:lnTo>
                    <a:pt x="3455289" y="4950206"/>
                  </a:lnTo>
                  <a:lnTo>
                    <a:pt x="0" y="4950206"/>
                  </a:lnTo>
                  <a:lnTo>
                    <a:pt x="0" y="0"/>
                  </a:lnTo>
                  <a:close/>
                </a:path>
              </a:pathLst>
            </a:custGeom>
            <a:blipFill>
              <a:blip r:embed="rId13"/>
              <a:stretch>
                <a:fillRect l="0" t="0" r="0" b="-1"/>
              </a:stretch>
            </a:blipFill>
          </p:spPr>
        </p:sp>
      </p:grpSp>
      <p:grpSp>
        <p:nvGrpSpPr>
          <p:cNvPr name="Group 24" id="24"/>
          <p:cNvGrpSpPr/>
          <p:nvPr/>
        </p:nvGrpSpPr>
        <p:grpSpPr>
          <a:xfrm rot="0">
            <a:off x="15090229" y="5138623"/>
            <a:ext cx="2889018" cy="4357449"/>
            <a:chOff x="0" y="0"/>
            <a:chExt cx="3852024" cy="5809932"/>
          </a:xfrm>
        </p:grpSpPr>
        <p:sp>
          <p:nvSpPr>
            <p:cNvPr name="Freeform 25" id="25"/>
            <p:cNvSpPr/>
            <p:nvPr/>
          </p:nvSpPr>
          <p:spPr>
            <a:xfrm flipH="false" flipV="false" rot="0">
              <a:off x="0" y="0"/>
              <a:ext cx="3852037" cy="5809996"/>
            </a:xfrm>
            <a:custGeom>
              <a:avLst/>
              <a:gdLst/>
              <a:ahLst/>
              <a:cxnLst/>
              <a:rect r="r" b="b" t="t" l="l"/>
              <a:pathLst>
                <a:path h="5809996" w="3852037">
                  <a:moveTo>
                    <a:pt x="0" y="0"/>
                  </a:moveTo>
                  <a:lnTo>
                    <a:pt x="3852037" y="0"/>
                  </a:lnTo>
                  <a:lnTo>
                    <a:pt x="3852037" y="5809996"/>
                  </a:lnTo>
                  <a:lnTo>
                    <a:pt x="0" y="5809996"/>
                  </a:lnTo>
                  <a:lnTo>
                    <a:pt x="0" y="0"/>
                  </a:lnTo>
                  <a:close/>
                </a:path>
              </a:pathLst>
            </a:custGeom>
            <a:blipFill>
              <a:blip r:embed="rId14"/>
              <a:stretch>
                <a:fillRect l="0" t="0" r="0" b="0"/>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091404"/>
            <a:ext cx="18288000" cy="195596"/>
            <a:chOff x="0" y="0"/>
            <a:chExt cx="24384000" cy="260794"/>
          </a:xfrm>
        </p:grpSpPr>
        <p:sp>
          <p:nvSpPr>
            <p:cNvPr name="Freeform 3" id="3"/>
            <p:cNvSpPr/>
            <p:nvPr/>
          </p:nvSpPr>
          <p:spPr>
            <a:xfrm flipH="false" flipV="false" rot="0">
              <a:off x="0" y="0"/>
              <a:ext cx="24384000" cy="260858"/>
            </a:xfrm>
            <a:custGeom>
              <a:avLst/>
              <a:gdLst/>
              <a:ahLst/>
              <a:cxnLst/>
              <a:rect r="r" b="b" t="t" l="l"/>
              <a:pathLst>
                <a:path h="260858" w="24384000">
                  <a:moveTo>
                    <a:pt x="0" y="0"/>
                  </a:moveTo>
                  <a:lnTo>
                    <a:pt x="24384000" y="0"/>
                  </a:lnTo>
                  <a:lnTo>
                    <a:pt x="24384000" y="260858"/>
                  </a:lnTo>
                  <a:lnTo>
                    <a:pt x="0" y="260858"/>
                  </a:lnTo>
                  <a:close/>
                </a:path>
              </a:pathLst>
            </a:custGeom>
            <a:solidFill>
              <a:srgbClr val="CCA677"/>
            </a:solidFill>
          </p:spPr>
        </p:sp>
      </p:grpSp>
      <p:grpSp>
        <p:nvGrpSpPr>
          <p:cNvPr name="Group 4" id="4"/>
          <p:cNvGrpSpPr/>
          <p:nvPr/>
        </p:nvGrpSpPr>
        <p:grpSpPr>
          <a:xfrm rot="0">
            <a:off x="1028700" y="1028700"/>
            <a:ext cx="16230600" cy="1662600"/>
            <a:chOff x="0" y="0"/>
            <a:chExt cx="21640800" cy="2216800"/>
          </a:xfrm>
        </p:grpSpPr>
        <p:sp>
          <p:nvSpPr>
            <p:cNvPr name="Freeform 5" id="5"/>
            <p:cNvSpPr/>
            <p:nvPr/>
          </p:nvSpPr>
          <p:spPr>
            <a:xfrm flipH="false" flipV="false" rot="0">
              <a:off x="0" y="0"/>
              <a:ext cx="21640805" cy="2216802"/>
            </a:xfrm>
            <a:custGeom>
              <a:avLst/>
              <a:gdLst/>
              <a:ahLst/>
              <a:cxnLst/>
              <a:rect r="r" b="b" t="t" l="l"/>
              <a:pathLst>
                <a:path h="2216802" w="21640805">
                  <a:moveTo>
                    <a:pt x="0" y="0"/>
                  </a:moveTo>
                  <a:lnTo>
                    <a:pt x="21640805" y="0"/>
                  </a:lnTo>
                  <a:lnTo>
                    <a:pt x="21640805" y="2216802"/>
                  </a:lnTo>
                  <a:lnTo>
                    <a:pt x="0" y="2216802"/>
                  </a:lnTo>
                  <a:close/>
                </a:path>
              </a:pathLst>
            </a:custGeom>
            <a:blipFill>
              <a:blip r:embed="rId3">
                <a:alphaModFix amt="0"/>
              </a:blip>
              <a:stretch>
                <a:fillRect l="0" t="-149716" r="-4994" b="-149716"/>
              </a:stretch>
            </a:blipFill>
          </p:spPr>
        </p:sp>
        <p:sp>
          <p:nvSpPr>
            <p:cNvPr name="TextBox 6" id="6"/>
            <p:cNvSpPr txBox="true"/>
            <p:nvPr/>
          </p:nvSpPr>
          <p:spPr>
            <a:xfrm>
              <a:off x="0" y="-9525"/>
              <a:ext cx="21640800" cy="2226325"/>
            </a:xfrm>
            <a:prstGeom prst="rect">
              <a:avLst/>
            </a:prstGeom>
          </p:spPr>
          <p:txBody>
            <a:bodyPr anchor="b" rtlCol="false" tIns="0" lIns="0" bIns="0" rIns="0"/>
            <a:lstStyle/>
            <a:p>
              <a:pPr algn="l">
                <a:lnSpc>
                  <a:spcPts val="10080"/>
                </a:lnSpc>
              </a:pPr>
              <a:r>
                <a:rPr lang="en-US" sz="8400">
                  <a:solidFill>
                    <a:srgbClr val="000000"/>
                  </a:solidFill>
                  <a:latin typeface="Economica"/>
                  <a:ea typeface="Economica"/>
                  <a:cs typeface="Economica"/>
                  <a:sym typeface="Economica"/>
                </a:rPr>
                <a:t>Religion vs. Spirituality</a:t>
              </a:r>
            </a:p>
          </p:txBody>
        </p:sp>
      </p:grpSp>
      <p:sp>
        <p:nvSpPr>
          <p:cNvPr name="TextBox 7" id="7"/>
          <p:cNvSpPr txBox="true"/>
          <p:nvPr/>
        </p:nvSpPr>
        <p:spPr>
          <a:xfrm rot="0">
            <a:off x="1028700" y="2869744"/>
            <a:ext cx="16230600" cy="5004054"/>
          </a:xfrm>
          <a:prstGeom prst="rect">
            <a:avLst/>
          </a:prstGeom>
        </p:spPr>
        <p:txBody>
          <a:bodyPr anchor="t" rtlCol="false" tIns="0" lIns="0" bIns="0" rIns="0">
            <a:spAutoFit/>
          </a:bodyPr>
          <a:lstStyle/>
          <a:p>
            <a:pPr algn="l">
              <a:lnSpc>
                <a:spcPts val="4967"/>
              </a:lnSpc>
            </a:pPr>
          </a:p>
          <a:p>
            <a:pPr algn="l">
              <a:lnSpc>
                <a:spcPts val="4967"/>
              </a:lnSpc>
            </a:pPr>
            <a:r>
              <a:rPr lang="en-US" sz="3600">
                <a:solidFill>
                  <a:srgbClr val="CCA677"/>
                </a:solidFill>
                <a:latin typeface="Open Sans"/>
                <a:ea typeface="Open Sans"/>
                <a:cs typeface="Open Sans"/>
                <a:sym typeface="Open Sans"/>
              </a:rPr>
              <a:t>Religion = a specific set of doctrines, traditions, and beliefs</a:t>
            </a:r>
          </a:p>
          <a:p>
            <a:pPr algn="l">
              <a:lnSpc>
                <a:spcPts val="4967"/>
              </a:lnSpc>
            </a:pPr>
          </a:p>
          <a:p>
            <a:pPr algn="l">
              <a:lnSpc>
                <a:spcPts val="4967"/>
              </a:lnSpc>
            </a:pPr>
            <a:r>
              <a:rPr lang="en-US" sz="3600">
                <a:solidFill>
                  <a:srgbClr val="5D4037"/>
                </a:solidFill>
                <a:latin typeface="Open Sans"/>
                <a:ea typeface="Open Sans"/>
                <a:cs typeface="Open Sans"/>
                <a:sym typeface="Open Sans"/>
              </a:rPr>
              <a:t>Spirituality = a broader understanding of life, meaning, purpose, and connection; may include religion, the sacred, or transcendence beyond the physical realm</a:t>
            </a:r>
          </a:p>
          <a:p>
            <a:pPr algn="l">
              <a:lnSpc>
                <a:spcPts val="4967"/>
              </a:lnSpc>
            </a:pPr>
          </a:p>
          <a:p>
            <a:pPr algn="l">
              <a:lnSpc>
                <a:spcPts val="4967"/>
              </a:lnSpc>
            </a:pPr>
            <a:r>
              <a:rPr lang="en-US" b="true" sz="3600">
                <a:solidFill>
                  <a:srgbClr val="57BB8A"/>
                </a:solidFill>
                <a:latin typeface="Open Sans Bold"/>
                <a:ea typeface="Open Sans Bold"/>
                <a:cs typeface="Open Sans Bold"/>
                <a:sym typeface="Open Sans Bold"/>
              </a:rPr>
              <a:t>A person may identify with either, both, or neither.</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091404"/>
            <a:ext cx="18288000" cy="195596"/>
            <a:chOff x="0" y="0"/>
            <a:chExt cx="24384000" cy="260794"/>
          </a:xfrm>
        </p:grpSpPr>
        <p:sp>
          <p:nvSpPr>
            <p:cNvPr name="Freeform 3" id="3"/>
            <p:cNvSpPr/>
            <p:nvPr/>
          </p:nvSpPr>
          <p:spPr>
            <a:xfrm flipH="false" flipV="false" rot="0">
              <a:off x="0" y="0"/>
              <a:ext cx="24384000" cy="260858"/>
            </a:xfrm>
            <a:custGeom>
              <a:avLst/>
              <a:gdLst/>
              <a:ahLst/>
              <a:cxnLst/>
              <a:rect r="r" b="b" t="t" l="l"/>
              <a:pathLst>
                <a:path h="260858" w="24384000">
                  <a:moveTo>
                    <a:pt x="0" y="0"/>
                  </a:moveTo>
                  <a:lnTo>
                    <a:pt x="24384000" y="0"/>
                  </a:lnTo>
                  <a:lnTo>
                    <a:pt x="24384000" y="260858"/>
                  </a:lnTo>
                  <a:lnTo>
                    <a:pt x="0" y="260858"/>
                  </a:lnTo>
                  <a:close/>
                </a:path>
              </a:pathLst>
            </a:custGeom>
            <a:solidFill>
              <a:srgbClr val="CCA677"/>
            </a:solidFill>
          </p:spPr>
        </p:sp>
      </p:grpSp>
      <p:grpSp>
        <p:nvGrpSpPr>
          <p:cNvPr name="Group 4" id="4"/>
          <p:cNvGrpSpPr/>
          <p:nvPr/>
        </p:nvGrpSpPr>
        <p:grpSpPr>
          <a:xfrm rot="0">
            <a:off x="1028700" y="1028700"/>
            <a:ext cx="16230600" cy="1662600"/>
            <a:chOff x="0" y="0"/>
            <a:chExt cx="21640800" cy="2216800"/>
          </a:xfrm>
        </p:grpSpPr>
        <p:sp>
          <p:nvSpPr>
            <p:cNvPr name="Freeform 5" id="5"/>
            <p:cNvSpPr/>
            <p:nvPr/>
          </p:nvSpPr>
          <p:spPr>
            <a:xfrm flipH="false" flipV="false" rot="0">
              <a:off x="0" y="0"/>
              <a:ext cx="21640805" cy="2216802"/>
            </a:xfrm>
            <a:custGeom>
              <a:avLst/>
              <a:gdLst/>
              <a:ahLst/>
              <a:cxnLst/>
              <a:rect r="r" b="b" t="t" l="l"/>
              <a:pathLst>
                <a:path h="2216802" w="21640805">
                  <a:moveTo>
                    <a:pt x="0" y="0"/>
                  </a:moveTo>
                  <a:lnTo>
                    <a:pt x="21640805" y="0"/>
                  </a:lnTo>
                  <a:lnTo>
                    <a:pt x="21640805" y="2216802"/>
                  </a:lnTo>
                  <a:lnTo>
                    <a:pt x="0" y="2216802"/>
                  </a:lnTo>
                  <a:close/>
                </a:path>
              </a:pathLst>
            </a:custGeom>
            <a:blipFill>
              <a:blip r:embed="rId3">
                <a:alphaModFix amt="0"/>
              </a:blip>
              <a:stretch>
                <a:fillRect l="0" t="-149716" r="-4994" b="-149716"/>
              </a:stretch>
            </a:blipFill>
          </p:spPr>
        </p:sp>
        <p:sp>
          <p:nvSpPr>
            <p:cNvPr name="TextBox 6" id="6"/>
            <p:cNvSpPr txBox="true"/>
            <p:nvPr/>
          </p:nvSpPr>
          <p:spPr>
            <a:xfrm>
              <a:off x="0" y="-9525"/>
              <a:ext cx="21640800" cy="2226325"/>
            </a:xfrm>
            <a:prstGeom prst="rect">
              <a:avLst/>
            </a:prstGeom>
          </p:spPr>
          <p:txBody>
            <a:bodyPr anchor="b" rtlCol="false" tIns="0" lIns="0" bIns="0" rIns="0"/>
            <a:lstStyle/>
            <a:p>
              <a:pPr algn="l">
                <a:lnSpc>
                  <a:spcPts val="10080"/>
                </a:lnSpc>
              </a:pPr>
              <a:r>
                <a:rPr lang="en-US" sz="8400">
                  <a:solidFill>
                    <a:srgbClr val="000000"/>
                  </a:solidFill>
                  <a:latin typeface="Economica"/>
                  <a:ea typeface="Economica"/>
                  <a:cs typeface="Economica"/>
                  <a:sym typeface="Economica"/>
                </a:rPr>
                <a:t>Spirituality can be a BIG Part of Recovery</a:t>
              </a:r>
            </a:p>
          </p:txBody>
        </p:sp>
      </p:grpSp>
      <p:sp>
        <p:nvSpPr>
          <p:cNvPr name="TextBox 7" id="7"/>
          <p:cNvSpPr txBox="true"/>
          <p:nvPr/>
        </p:nvSpPr>
        <p:spPr>
          <a:xfrm rot="0">
            <a:off x="1028700" y="3555873"/>
            <a:ext cx="16230600" cy="3118104"/>
          </a:xfrm>
          <a:prstGeom prst="rect">
            <a:avLst/>
          </a:prstGeom>
        </p:spPr>
        <p:txBody>
          <a:bodyPr anchor="t" rtlCol="false" tIns="0" lIns="0" bIns="0" rIns="0">
            <a:spAutoFit/>
          </a:bodyPr>
          <a:lstStyle/>
          <a:p>
            <a:pPr algn="l">
              <a:lnSpc>
                <a:spcPts val="4967"/>
              </a:lnSpc>
            </a:pPr>
            <a:r>
              <a:rPr lang="en-US" sz="3600">
                <a:solidFill>
                  <a:srgbClr val="000000"/>
                </a:solidFill>
                <a:latin typeface="Open Sans"/>
                <a:ea typeface="Open Sans"/>
                <a:cs typeface="Open Sans"/>
                <a:sym typeface="Open Sans"/>
              </a:rPr>
              <a:t>A source of healing</a:t>
            </a:r>
          </a:p>
          <a:p>
            <a:pPr algn="l" marL="777240" indent="-388620" lvl="1">
              <a:lnSpc>
                <a:spcPts val="4967"/>
              </a:lnSpc>
              <a:buFont typeface="Arial"/>
              <a:buChar char="•"/>
            </a:pPr>
            <a:r>
              <a:rPr lang="en-US" sz="3600">
                <a:solidFill>
                  <a:srgbClr val="000000"/>
                </a:solidFill>
                <a:latin typeface="Open Sans"/>
                <a:ea typeface="Open Sans"/>
                <a:cs typeface="Open Sans"/>
                <a:sym typeface="Open Sans"/>
              </a:rPr>
              <a:t>Feeling connected to the larger world</a:t>
            </a:r>
          </a:p>
          <a:p>
            <a:pPr algn="l" marL="777240" indent="-388620" lvl="1">
              <a:lnSpc>
                <a:spcPts val="4967"/>
              </a:lnSpc>
              <a:buFont typeface="Arial"/>
              <a:buChar char="•"/>
            </a:pPr>
            <a:r>
              <a:rPr lang="en-US" sz="3600">
                <a:solidFill>
                  <a:srgbClr val="000000"/>
                </a:solidFill>
                <a:latin typeface="Open Sans"/>
                <a:ea typeface="Open Sans"/>
                <a:cs typeface="Open Sans"/>
                <a:sym typeface="Open Sans"/>
              </a:rPr>
              <a:t>A sense of purpose</a:t>
            </a:r>
          </a:p>
          <a:p>
            <a:pPr algn="l">
              <a:lnSpc>
                <a:spcPts val="4967"/>
              </a:lnSpc>
            </a:pPr>
          </a:p>
          <a:p>
            <a:pPr algn="l">
              <a:lnSpc>
                <a:spcPts val="4967"/>
              </a:lnSpc>
            </a:pPr>
            <a:r>
              <a:rPr lang="en-US" sz="3600">
                <a:solidFill>
                  <a:srgbClr val="000000"/>
                </a:solidFill>
                <a:latin typeface="Open Sans"/>
                <a:ea typeface="Open Sans"/>
                <a:cs typeface="Open Sans"/>
                <a:sym typeface="Open Sans"/>
              </a:rPr>
              <a:t>Spiritual Trauma can make it difficult to engage in some recovery programs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091404"/>
            <a:ext cx="18288000" cy="195596"/>
            <a:chOff x="0" y="0"/>
            <a:chExt cx="24384000" cy="260794"/>
          </a:xfrm>
        </p:grpSpPr>
        <p:sp>
          <p:nvSpPr>
            <p:cNvPr name="Freeform 3" id="3"/>
            <p:cNvSpPr/>
            <p:nvPr/>
          </p:nvSpPr>
          <p:spPr>
            <a:xfrm flipH="false" flipV="false" rot="0">
              <a:off x="0" y="0"/>
              <a:ext cx="24384000" cy="260858"/>
            </a:xfrm>
            <a:custGeom>
              <a:avLst/>
              <a:gdLst/>
              <a:ahLst/>
              <a:cxnLst/>
              <a:rect r="r" b="b" t="t" l="l"/>
              <a:pathLst>
                <a:path h="260858" w="24384000">
                  <a:moveTo>
                    <a:pt x="0" y="0"/>
                  </a:moveTo>
                  <a:lnTo>
                    <a:pt x="24384000" y="0"/>
                  </a:lnTo>
                  <a:lnTo>
                    <a:pt x="24384000" y="260858"/>
                  </a:lnTo>
                  <a:lnTo>
                    <a:pt x="0" y="260858"/>
                  </a:lnTo>
                  <a:close/>
                </a:path>
              </a:pathLst>
            </a:custGeom>
            <a:solidFill>
              <a:srgbClr val="CCA677"/>
            </a:solidFill>
          </p:spPr>
        </p:sp>
      </p:grpSp>
      <p:grpSp>
        <p:nvGrpSpPr>
          <p:cNvPr name="Group 4" id="4"/>
          <p:cNvGrpSpPr/>
          <p:nvPr/>
        </p:nvGrpSpPr>
        <p:grpSpPr>
          <a:xfrm rot="0">
            <a:off x="1028700" y="1028700"/>
            <a:ext cx="16635898" cy="1662600"/>
            <a:chOff x="0" y="0"/>
            <a:chExt cx="22181198" cy="2216800"/>
          </a:xfrm>
        </p:grpSpPr>
        <p:sp>
          <p:nvSpPr>
            <p:cNvPr name="Freeform 5" id="5"/>
            <p:cNvSpPr/>
            <p:nvPr/>
          </p:nvSpPr>
          <p:spPr>
            <a:xfrm flipH="false" flipV="false" rot="0">
              <a:off x="0" y="0"/>
              <a:ext cx="22181203" cy="2216802"/>
            </a:xfrm>
            <a:custGeom>
              <a:avLst/>
              <a:gdLst/>
              <a:ahLst/>
              <a:cxnLst/>
              <a:rect r="r" b="b" t="t" l="l"/>
              <a:pathLst>
                <a:path h="2216802" w="22181203">
                  <a:moveTo>
                    <a:pt x="0" y="0"/>
                  </a:moveTo>
                  <a:lnTo>
                    <a:pt x="22181203" y="0"/>
                  </a:lnTo>
                  <a:lnTo>
                    <a:pt x="22181203" y="2216802"/>
                  </a:lnTo>
                  <a:lnTo>
                    <a:pt x="0" y="2216802"/>
                  </a:lnTo>
                  <a:close/>
                </a:path>
              </a:pathLst>
            </a:custGeom>
            <a:blipFill>
              <a:blip r:embed="rId3">
                <a:alphaModFix amt="0"/>
              </a:blip>
              <a:stretch>
                <a:fillRect l="0" t="-149716" r="-2436" b="-149716"/>
              </a:stretch>
            </a:blipFill>
          </p:spPr>
        </p:sp>
        <p:sp>
          <p:nvSpPr>
            <p:cNvPr name="TextBox 6" id="6"/>
            <p:cNvSpPr txBox="true"/>
            <p:nvPr/>
          </p:nvSpPr>
          <p:spPr>
            <a:xfrm>
              <a:off x="0" y="-9525"/>
              <a:ext cx="22181198" cy="2226325"/>
            </a:xfrm>
            <a:prstGeom prst="rect">
              <a:avLst/>
            </a:prstGeom>
          </p:spPr>
          <p:txBody>
            <a:bodyPr anchor="b" rtlCol="false" tIns="0" lIns="0" bIns="0" rIns="0"/>
            <a:lstStyle/>
            <a:p>
              <a:pPr algn="l">
                <a:lnSpc>
                  <a:spcPts val="10080"/>
                </a:lnSpc>
              </a:pPr>
              <a:r>
                <a:rPr lang="en-US" sz="8400">
                  <a:solidFill>
                    <a:srgbClr val="000000"/>
                  </a:solidFill>
                  <a:latin typeface="Economica"/>
                  <a:ea typeface="Economica"/>
                  <a:cs typeface="Economica"/>
                  <a:sym typeface="Economica"/>
                </a:rPr>
                <a:t>A Quick Recap of Trauma</a:t>
              </a:r>
            </a:p>
          </p:txBody>
        </p:sp>
      </p:grpSp>
      <p:sp>
        <p:nvSpPr>
          <p:cNvPr name="TextBox 7" id="7"/>
          <p:cNvSpPr txBox="true"/>
          <p:nvPr/>
        </p:nvSpPr>
        <p:spPr>
          <a:xfrm rot="0">
            <a:off x="1028700" y="2906693"/>
            <a:ext cx="16230600" cy="5454091"/>
          </a:xfrm>
          <a:prstGeom prst="rect">
            <a:avLst/>
          </a:prstGeom>
        </p:spPr>
        <p:txBody>
          <a:bodyPr anchor="t" rtlCol="false" tIns="0" lIns="0" bIns="0" rIns="0">
            <a:spAutoFit/>
          </a:bodyPr>
          <a:lstStyle/>
          <a:p>
            <a:pPr algn="l">
              <a:lnSpc>
                <a:spcPts val="3974"/>
              </a:lnSpc>
            </a:pPr>
            <a:r>
              <a:rPr lang="en-US" b="true" sz="3600">
                <a:solidFill>
                  <a:srgbClr val="57BB8A"/>
                </a:solidFill>
                <a:latin typeface="Open Sans Bold"/>
                <a:ea typeface="Open Sans Bold"/>
                <a:cs typeface="Open Sans Bold"/>
                <a:sym typeface="Open Sans Bold"/>
              </a:rPr>
              <a:t>Trauma</a:t>
            </a:r>
            <a:r>
              <a:rPr lang="en-US" sz="3600">
                <a:solidFill>
                  <a:srgbClr val="57BB8A"/>
                </a:solidFill>
                <a:latin typeface="Open Sans"/>
                <a:ea typeface="Open Sans"/>
                <a:cs typeface="Open Sans"/>
                <a:sym typeface="Open Sans"/>
              </a:rPr>
              <a:t>: a deeply distressing or disturbing event or experience that overwhelms an individual's ability to cope and may affect mental, emotional, and physical well-being.</a:t>
            </a:r>
          </a:p>
          <a:p>
            <a:pPr algn="l">
              <a:lnSpc>
                <a:spcPts val="3974"/>
              </a:lnSpc>
            </a:pPr>
          </a:p>
          <a:p>
            <a:pPr algn="l" marL="777240" indent="-388620" lvl="1">
              <a:lnSpc>
                <a:spcPts val="3974"/>
              </a:lnSpc>
              <a:buFont typeface="Arial"/>
              <a:buChar char="•"/>
            </a:pPr>
            <a:r>
              <a:rPr lang="en-US" b="true" sz="3600" i="true">
                <a:solidFill>
                  <a:srgbClr val="607D8B"/>
                </a:solidFill>
                <a:latin typeface="Open Sans Bold Italics"/>
                <a:ea typeface="Open Sans Bold Italics"/>
                <a:cs typeface="Open Sans Bold Italics"/>
                <a:sym typeface="Open Sans Bold Italics"/>
              </a:rPr>
              <a:t>‘T’ Trauma: </a:t>
            </a:r>
            <a:r>
              <a:rPr lang="en-US" sz="3600">
                <a:solidFill>
                  <a:srgbClr val="607D8B"/>
                </a:solidFill>
                <a:latin typeface="Open Sans"/>
                <a:ea typeface="Open Sans"/>
                <a:cs typeface="Open Sans"/>
                <a:sym typeface="Open Sans"/>
              </a:rPr>
              <a:t>informal term often used for momentous, dangerous, or life-threatening experiences</a:t>
            </a:r>
          </a:p>
          <a:p>
            <a:pPr algn="l">
              <a:lnSpc>
                <a:spcPts val="3974"/>
              </a:lnSpc>
            </a:pPr>
            <a:r>
              <a:rPr lang="en-US" sz="3600">
                <a:solidFill>
                  <a:srgbClr val="607D8B"/>
                </a:solidFill>
                <a:latin typeface="Open Sans"/>
                <a:ea typeface="Open Sans"/>
                <a:cs typeface="Open Sans"/>
                <a:sym typeface="Open Sans"/>
              </a:rPr>
              <a:t>		Car Accident, Abuse, Death of Loved Ones, Natural Disaster</a:t>
            </a:r>
          </a:p>
          <a:p>
            <a:pPr algn="l">
              <a:lnSpc>
                <a:spcPts val="3974"/>
              </a:lnSpc>
            </a:pPr>
          </a:p>
          <a:p>
            <a:pPr algn="l" marL="777240" indent="-388620" lvl="1">
              <a:lnSpc>
                <a:spcPts val="3974"/>
              </a:lnSpc>
              <a:buFont typeface="Arial"/>
              <a:buChar char="•"/>
            </a:pPr>
            <a:r>
              <a:rPr lang="en-US" b="true" sz="3600" i="true">
                <a:solidFill>
                  <a:srgbClr val="5D4037"/>
                </a:solidFill>
                <a:latin typeface="Open Sans Bold Italics"/>
                <a:ea typeface="Open Sans Bold Italics"/>
                <a:cs typeface="Open Sans Bold Italics"/>
                <a:sym typeface="Open Sans Bold Italics"/>
              </a:rPr>
              <a:t>‘t’ Trauma: </a:t>
            </a:r>
            <a:r>
              <a:rPr lang="en-US" sz="3600">
                <a:solidFill>
                  <a:srgbClr val="5D4037"/>
                </a:solidFill>
                <a:latin typeface="Open Sans"/>
                <a:ea typeface="Open Sans"/>
                <a:cs typeface="Open Sans"/>
                <a:sym typeface="Open Sans"/>
              </a:rPr>
              <a:t>informal term often used for experiences that overwhelm our ability to cope, even when they are not life-threatening</a:t>
            </a:r>
          </a:p>
          <a:p>
            <a:pPr algn="l">
              <a:lnSpc>
                <a:spcPts val="3974"/>
              </a:lnSpc>
            </a:pPr>
            <a:r>
              <a:rPr lang="en-US" sz="3600">
                <a:solidFill>
                  <a:srgbClr val="5D4037"/>
                </a:solidFill>
                <a:latin typeface="Open Sans"/>
                <a:ea typeface="Open Sans"/>
                <a:cs typeface="Open Sans"/>
                <a:sym typeface="Open Sans"/>
              </a:rPr>
              <a:t>		Breakup, Death of Pet, Job Loss, Bullying</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091404"/>
            <a:ext cx="18288000" cy="195596"/>
            <a:chOff x="0" y="0"/>
            <a:chExt cx="24384000" cy="260794"/>
          </a:xfrm>
        </p:grpSpPr>
        <p:sp>
          <p:nvSpPr>
            <p:cNvPr name="Freeform 3" id="3"/>
            <p:cNvSpPr/>
            <p:nvPr/>
          </p:nvSpPr>
          <p:spPr>
            <a:xfrm flipH="false" flipV="false" rot="0">
              <a:off x="0" y="0"/>
              <a:ext cx="24384000" cy="260858"/>
            </a:xfrm>
            <a:custGeom>
              <a:avLst/>
              <a:gdLst/>
              <a:ahLst/>
              <a:cxnLst/>
              <a:rect r="r" b="b" t="t" l="l"/>
              <a:pathLst>
                <a:path h="260858" w="24384000">
                  <a:moveTo>
                    <a:pt x="0" y="0"/>
                  </a:moveTo>
                  <a:lnTo>
                    <a:pt x="24384000" y="0"/>
                  </a:lnTo>
                  <a:lnTo>
                    <a:pt x="24384000" y="260858"/>
                  </a:lnTo>
                  <a:lnTo>
                    <a:pt x="0" y="260858"/>
                  </a:lnTo>
                  <a:close/>
                </a:path>
              </a:pathLst>
            </a:custGeom>
            <a:solidFill>
              <a:srgbClr val="CCA677"/>
            </a:solidFill>
          </p:spPr>
        </p:sp>
      </p:grpSp>
      <p:grpSp>
        <p:nvGrpSpPr>
          <p:cNvPr name="Group 4" id="4"/>
          <p:cNvGrpSpPr/>
          <p:nvPr/>
        </p:nvGrpSpPr>
        <p:grpSpPr>
          <a:xfrm rot="0">
            <a:off x="1028700" y="1028700"/>
            <a:ext cx="16230600" cy="1662600"/>
            <a:chOff x="0" y="0"/>
            <a:chExt cx="21640800" cy="2216800"/>
          </a:xfrm>
        </p:grpSpPr>
        <p:sp>
          <p:nvSpPr>
            <p:cNvPr name="Freeform 5" id="5"/>
            <p:cNvSpPr/>
            <p:nvPr/>
          </p:nvSpPr>
          <p:spPr>
            <a:xfrm flipH="false" flipV="false" rot="0">
              <a:off x="0" y="0"/>
              <a:ext cx="21640805" cy="2216802"/>
            </a:xfrm>
            <a:custGeom>
              <a:avLst/>
              <a:gdLst/>
              <a:ahLst/>
              <a:cxnLst/>
              <a:rect r="r" b="b" t="t" l="l"/>
              <a:pathLst>
                <a:path h="2216802" w="21640805">
                  <a:moveTo>
                    <a:pt x="0" y="0"/>
                  </a:moveTo>
                  <a:lnTo>
                    <a:pt x="21640805" y="0"/>
                  </a:lnTo>
                  <a:lnTo>
                    <a:pt x="21640805" y="2216802"/>
                  </a:lnTo>
                  <a:lnTo>
                    <a:pt x="0" y="2216802"/>
                  </a:lnTo>
                  <a:close/>
                </a:path>
              </a:pathLst>
            </a:custGeom>
            <a:blipFill>
              <a:blip r:embed="rId3">
                <a:alphaModFix amt="0"/>
              </a:blip>
              <a:stretch>
                <a:fillRect l="0" t="-149716" r="-4994" b="-149716"/>
              </a:stretch>
            </a:blipFill>
          </p:spPr>
        </p:sp>
        <p:sp>
          <p:nvSpPr>
            <p:cNvPr name="TextBox 6" id="6"/>
            <p:cNvSpPr txBox="true"/>
            <p:nvPr/>
          </p:nvSpPr>
          <p:spPr>
            <a:xfrm>
              <a:off x="0" y="-9525"/>
              <a:ext cx="21640800" cy="2226325"/>
            </a:xfrm>
            <a:prstGeom prst="rect">
              <a:avLst/>
            </a:prstGeom>
          </p:spPr>
          <p:txBody>
            <a:bodyPr anchor="b" rtlCol="false" tIns="0" lIns="0" bIns="0" rIns="0"/>
            <a:lstStyle/>
            <a:p>
              <a:pPr algn="l">
                <a:lnSpc>
                  <a:spcPts val="10080"/>
                </a:lnSpc>
              </a:pPr>
              <a:r>
                <a:rPr lang="en-US" sz="8400">
                  <a:solidFill>
                    <a:srgbClr val="000000"/>
                  </a:solidFill>
                  <a:latin typeface="Economica"/>
                  <a:ea typeface="Economica"/>
                  <a:cs typeface="Economica"/>
                  <a:sym typeface="Economica"/>
                </a:rPr>
                <a:t>A Quick Recap of Trauma</a:t>
              </a:r>
            </a:p>
          </p:txBody>
        </p:sp>
      </p:grpSp>
      <p:sp>
        <p:nvSpPr>
          <p:cNvPr name="TextBox 7" id="7"/>
          <p:cNvSpPr txBox="true"/>
          <p:nvPr/>
        </p:nvSpPr>
        <p:spPr>
          <a:xfrm rot="0">
            <a:off x="1028700" y="2972309"/>
            <a:ext cx="16230600" cy="3968191"/>
          </a:xfrm>
          <a:prstGeom prst="rect">
            <a:avLst/>
          </a:prstGeom>
        </p:spPr>
        <p:txBody>
          <a:bodyPr anchor="t" rtlCol="false" tIns="0" lIns="0" bIns="0" rIns="0">
            <a:spAutoFit/>
          </a:bodyPr>
          <a:lstStyle/>
          <a:p>
            <a:pPr algn="l">
              <a:lnSpc>
                <a:spcPts val="3974"/>
              </a:lnSpc>
            </a:pPr>
            <a:r>
              <a:rPr lang="en-US" sz="3600">
                <a:solidFill>
                  <a:srgbClr val="000000"/>
                </a:solidFill>
                <a:latin typeface="Open Sans"/>
                <a:ea typeface="Open Sans"/>
                <a:cs typeface="Open Sans"/>
                <a:sym typeface="Open Sans"/>
              </a:rPr>
              <a:t>Trauma affects individuals, families, communities, and identity groups</a:t>
            </a:r>
          </a:p>
          <a:p>
            <a:pPr algn="l">
              <a:lnSpc>
                <a:spcPts val="3974"/>
              </a:lnSpc>
            </a:pPr>
          </a:p>
          <a:p>
            <a:pPr algn="l">
              <a:lnSpc>
                <a:spcPts val="3974"/>
              </a:lnSpc>
            </a:pPr>
            <a:r>
              <a:rPr lang="en-US" sz="3600">
                <a:solidFill>
                  <a:srgbClr val="000000"/>
                </a:solidFill>
                <a:latin typeface="Open Sans"/>
                <a:ea typeface="Open Sans"/>
                <a:cs typeface="Open Sans"/>
                <a:sym typeface="Open Sans"/>
              </a:rPr>
              <a:t>Trauma can affect biological stress responses</a:t>
            </a:r>
          </a:p>
          <a:p>
            <a:pPr algn="l" marL="777240" indent="-388620" lvl="1">
              <a:lnSpc>
                <a:spcPts val="3974"/>
              </a:lnSpc>
              <a:buFont typeface="Arial"/>
              <a:buChar char="•"/>
            </a:pPr>
            <a:r>
              <a:rPr lang="en-US" sz="3600" i="true">
                <a:solidFill>
                  <a:srgbClr val="000000"/>
                </a:solidFill>
                <a:latin typeface="Open Sans Italics"/>
                <a:ea typeface="Open Sans Italics"/>
                <a:cs typeface="Open Sans Italics"/>
                <a:sym typeface="Open Sans Italics"/>
              </a:rPr>
              <a:t>The Body Keeps The Score</a:t>
            </a:r>
            <a:r>
              <a:rPr lang="en-US" sz="3600">
                <a:solidFill>
                  <a:srgbClr val="000000"/>
                </a:solidFill>
                <a:latin typeface="Open Sans"/>
                <a:ea typeface="Open Sans"/>
                <a:cs typeface="Open Sans"/>
                <a:sym typeface="Open Sans"/>
              </a:rPr>
              <a:t> – trauma can continue to affect us after the danger has passed</a:t>
            </a:r>
          </a:p>
          <a:p>
            <a:pPr algn="l">
              <a:lnSpc>
                <a:spcPts val="3974"/>
              </a:lnSpc>
            </a:pPr>
          </a:p>
          <a:p>
            <a:pPr algn="l">
              <a:lnSpc>
                <a:spcPts val="3974"/>
              </a:lnSpc>
            </a:pPr>
          </a:p>
          <a:p>
            <a:pPr algn="l">
              <a:lnSpc>
                <a:spcPts val="3974"/>
              </a:lnSpc>
            </a:pPr>
            <a:r>
              <a:rPr lang="en-US" sz="3600">
                <a:solidFill>
                  <a:srgbClr val="5D4037"/>
                </a:solidFill>
                <a:latin typeface="Open Sans"/>
                <a:ea typeface="Open Sans"/>
                <a:cs typeface="Open Sans"/>
                <a:sym typeface="Open Sans"/>
              </a:rPr>
              <a:t>A Quick Note: Abuse Is </a:t>
            </a:r>
            <a:r>
              <a:rPr lang="en-US" b="true" sz="3600">
                <a:solidFill>
                  <a:srgbClr val="5D4037"/>
                </a:solidFill>
                <a:latin typeface="Open Sans Bold"/>
                <a:ea typeface="Open Sans Bold"/>
                <a:cs typeface="Open Sans Bold"/>
                <a:sym typeface="Open Sans Bold"/>
              </a:rPr>
              <a:t>NEVER</a:t>
            </a:r>
            <a:r>
              <a:rPr lang="en-US" sz="3600">
                <a:solidFill>
                  <a:srgbClr val="5D4037"/>
                </a:solidFill>
                <a:latin typeface="Open Sans"/>
                <a:ea typeface="Open Sans"/>
                <a:cs typeface="Open Sans"/>
                <a:sym typeface="Open Sans"/>
              </a:rPr>
              <a:t> Your Fault.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44000" y="-48"/>
            <a:ext cx="9144000" cy="10287000"/>
            <a:chOff x="0" y="0"/>
            <a:chExt cx="12192000" cy="13716000"/>
          </a:xfrm>
        </p:grpSpPr>
        <p:sp>
          <p:nvSpPr>
            <p:cNvPr name="Freeform 3" id="3"/>
            <p:cNvSpPr/>
            <p:nvPr/>
          </p:nvSpPr>
          <p:spPr>
            <a:xfrm flipH="false" flipV="false" rot="0">
              <a:off x="0" y="0"/>
              <a:ext cx="12192000" cy="13716000"/>
            </a:xfrm>
            <a:custGeom>
              <a:avLst/>
              <a:gdLst/>
              <a:ahLst/>
              <a:cxnLst/>
              <a:rect r="r" b="b" t="t" l="l"/>
              <a:pathLst>
                <a:path h="13716000" w="12192000">
                  <a:moveTo>
                    <a:pt x="0" y="0"/>
                  </a:moveTo>
                  <a:lnTo>
                    <a:pt x="12192000" y="0"/>
                  </a:lnTo>
                  <a:lnTo>
                    <a:pt x="12192000" y="13716000"/>
                  </a:lnTo>
                  <a:lnTo>
                    <a:pt x="0" y="13716000"/>
                  </a:lnTo>
                  <a:close/>
                </a:path>
              </a:pathLst>
            </a:custGeom>
            <a:solidFill>
              <a:srgbClr val="CCA677"/>
            </a:solidFill>
          </p:spPr>
        </p:sp>
      </p:grpSp>
      <p:sp>
        <p:nvSpPr>
          <p:cNvPr name="AutoShape 4" id="4"/>
          <p:cNvSpPr/>
          <p:nvPr/>
        </p:nvSpPr>
        <p:spPr>
          <a:xfrm rot="134280">
            <a:off x="10039931" y="8981475"/>
            <a:ext cx="975446" cy="0"/>
          </a:xfrm>
          <a:prstGeom prst="line">
            <a:avLst/>
          </a:prstGeom>
          <a:ln cap="rnd" w="19050">
            <a:solidFill>
              <a:srgbClr val="FFFFFF"/>
            </a:solidFill>
            <a:prstDash val="solid"/>
            <a:headEnd type="none" len="sm" w="sm"/>
            <a:tailEnd type="none" len="sm" w="sm"/>
          </a:ln>
        </p:spPr>
      </p:sp>
      <p:grpSp>
        <p:nvGrpSpPr>
          <p:cNvPr name="Group 5" id="5"/>
          <p:cNvGrpSpPr/>
          <p:nvPr/>
        </p:nvGrpSpPr>
        <p:grpSpPr>
          <a:xfrm rot="0">
            <a:off x="1028700" y="1028700"/>
            <a:ext cx="8090402" cy="3572399"/>
            <a:chOff x="0" y="0"/>
            <a:chExt cx="10787202" cy="4763198"/>
          </a:xfrm>
        </p:grpSpPr>
        <p:sp>
          <p:nvSpPr>
            <p:cNvPr name="Freeform 6" id="6"/>
            <p:cNvSpPr/>
            <p:nvPr/>
          </p:nvSpPr>
          <p:spPr>
            <a:xfrm flipH="false" flipV="false" rot="0">
              <a:off x="0" y="0"/>
              <a:ext cx="10787200" cy="4763200"/>
            </a:xfrm>
            <a:custGeom>
              <a:avLst/>
              <a:gdLst/>
              <a:ahLst/>
              <a:cxnLst/>
              <a:rect r="r" b="b" t="t" l="l"/>
              <a:pathLst>
                <a:path h="4763200" w="10787200">
                  <a:moveTo>
                    <a:pt x="0" y="0"/>
                  </a:moveTo>
                  <a:lnTo>
                    <a:pt x="10787200" y="0"/>
                  </a:lnTo>
                  <a:lnTo>
                    <a:pt x="10787200" y="4763200"/>
                  </a:lnTo>
                  <a:lnTo>
                    <a:pt x="0" y="4763200"/>
                  </a:lnTo>
                  <a:close/>
                </a:path>
              </a:pathLst>
            </a:custGeom>
            <a:blipFill>
              <a:blip r:embed="rId3">
                <a:alphaModFix amt="0"/>
              </a:blip>
              <a:stretch>
                <a:fillRect l="-6653" t="0" r="-6653" b="0"/>
              </a:stretch>
            </a:blipFill>
          </p:spPr>
        </p:sp>
        <p:sp>
          <p:nvSpPr>
            <p:cNvPr name="TextBox 7" id="7"/>
            <p:cNvSpPr txBox="true"/>
            <p:nvPr/>
          </p:nvSpPr>
          <p:spPr>
            <a:xfrm>
              <a:off x="0" y="-9525"/>
              <a:ext cx="10787202" cy="4772723"/>
            </a:xfrm>
            <a:prstGeom prst="rect">
              <a:avLst/>
            </a:prstGeom>
          </p:spPr>
          <p:txBody>
            <a:bodyPr anchor="b" rtlCol="false" tIns="0" lIns="0" bIns="0" rIns="0"/>
            <a:lstStyle/>
            <a:p>
              <a:pPr algn="ctr">
                <a:lnSpc>
                  <a:spcPts val="10080"/>
                </a:lnSpc>
              </a:pPr>
              <a:r>
                <a:rPr lang="en-US" sz="8400">
                  <a:solidFill>
                    <a:srgbClr val="CCA677"/>
                  </a:solidFill>
                  <a:latin typeface="Economica"/>
                  <a:ea typeface="Economica"/>
                  <a:cs typeface="Economica"/>
                  <a:sym typeface="Economica"/>
                </a:rPr>
                <a:t>Spiritual Abuse</a:t>
              </a:r>
            </a:p>
          </p:txBody>
        </p:sp>
      </p:grpSp>
      <p:grpSp>
        <p:nvGrpSpPr>
          <p:cNvPr name="Group 8" id="8"/>
          <p:cNvGrpSpPr/>
          <p:nvPr/>
        </p:nvGrpSpPr>
        <p:grpSpPr>
          <a:xfrm rot="0">
            <a:off x="9878997" y="1028700"/>
            <a:ext cx="7380303" cy="8229600"/>
            <a:chOff x="0" y="0"/>
            <a:chExt cx="9840405" cy="10972800"/>
          </a:xfrm>
        </p:grpSpPr>
        <p:sp>
          <p:nvSpPr>
            <p:cNvPr name="Freeform 9" id="9"/>
            <p:cNvSpPr/>
            <p:nvPr/>
          </p:nvSpPr>
          <p:spPr>
            <a:xfrm flipH="false" flipV="false" rot="0">
              <a:off x="0" y="0"/>
              <a:ext cx="9840409" cy="10972800"/>
            </a:xfrm>
            <a:custGeom>
              <a:avLst/>
              <a:gdLst/>
              <a:ahLst/>
              <a:cxnLst/>
              <a:rect r="r" b="b" t="t" l="l"/>
              <a:pathLst>
                <a:path h="10972800" w="9840409">
                  <a:moveTo>
                    <a:pt x="0" y="0"/>
                  </a:moveTo>
                  <a:lnTo>
                    <a:pt x="9840409" y="0"/>
                  </a:lnTo>
                  <a:lnTo>
                    <a:pt x="9840409" y="10972800"/>
                  </a:lnTo>
                  <a:lnTo>
                    <a:pt x="0" y="10972800"/>
                  </a:lnTo>
                  <a:close/>
                </a:path>
              </a:pathLst>
            </a:custGeom>
            <a:blipFill>
              <a:blip r:embed="rId3">
                <a:alphaModFix amt="0"/>
              </a:blip>
              <a:stretch>
                <a:fillRect l="-76485" t="0" r="-80465" b="10199"/>
              </a:stretch>
            </a:blipFill>
          </p:spPr>
        </p:sp>
        <p:sp>
          <p:nvSpPr>
            <p:cNvPr name="TextBox 10" id="10"/>
            <p:cNvSpPr txBox="true"/>
            <p:nvPr/>
          </p:nvSpPr>
          <p:spPr>
            <a:xfrm>
              <a:off x="0" y="-19050"/>
              <a:ext cx="9840405" cy="10991850"/>
            </a:xfrm>
            <a:prstGeom prst="rect">
              <a:avLst/>
            </a:prstGeom>
          </p:spPr>
          <p:txBody>
            <a:bodyPr anchor="ctr" rtlCol="false" tIns="0" lIns="0" bIns="0" rIns="0"/>
            <a:lstStyle/>
            <a:p>
              <a:pPr algn="l">
                <a:lnSpc>
                  <a:spcPts val="4135"/>
                </a:lnSpc>
              </a:pPr>
              <a:r>
                <a:rPr lang="en-US" b="true" sz="3329" i="true">
                  <a:solidFill>
                    <a:srgbClr val="FFFFFF"/>
                  </a:solidFill>
                  <a:latin typeface="Open Sans Bold Italics"/>
                  <a:ea typeface="Open Sans Bold Italics"/>
                  <a:cs typeface="Open Sans Bold Italics"/>
                  <a:sym typeface="Open Sans Bold Italics"/>
                </a:rPr>
                <a:t>adverse religious experience</a:t>
              </a:r>
              <a:r>
                <a:rPr lang="en-US" sz="3329">
                  <a:solidFill>
                    <a:srgbClr val="FFFFFF"/>
                  </a:solidFill>
                  <a:latin typeface="Open Sans"/>
                  <a:ea typeface="Open Sans"/>
                  <a:cs typeface="Open Sans"/>
                  <a:sym typeface="Open Sans"/>
                </a:rPr>
                <a:t>: an event, series of events, relationship, or circumstance connected to religious or spiritual beliefs, practices, or structures that is experienced as harmful, threatening, coercive, betraying, or deeply disruptive</a:t>
              </a:r>
            </a:p>
            <a:p>
              <a:pPr algn="l">
                <a:lnSpc>
                  <a:spcPts val="4135"/>
                </a:lnSpc>
              </a:pPr>
            </a:p>
            <a:p>
              <a:pPr algn="l">
                <a:lnSpc>
                  <a:spcPts val="4135"/>
                </a:lnSpc>
              </a:pPr>
              <a:r>
                <a:rPr lang="en-US" b="true" sz="3329" i="true">
                  <a:solidFill>
                    <a:srgbClr val="FFFFFF"/>
                  </a:solidFill>
                  <a:latin typeface="Open Sans Bold Italics"/>
                  <a:ea typeface="Open Sans Bold Italics"/>
                  <a:cs typeface="Open Sans Bold Italics"/>
                  <a:sym typeface="Open Sans Bold Italics"/>
                </a:rPr>
                <a:t>spiritual trauma</a:t>
              </a:r>
              <a:r>
                <a:rPr lang="en-US" sz="3329">
                  <a:solidFill>
                    <a:srgbClr val="FFFFFF"/>
                  </a:solidFill>
                  <a:latin typeface="Open Sans"/>
                  <a:ea typeface="Open Sans"/>
                  <a:cs typeface="Open Sans"/>
                  <a:sym typeface="Open Sans"/>
                </a:rPr>
                <a:t>: lasting adverse responses that a person connects to overwhelming or deeply disruptive religious or spiritual experiences</a:t>
              </a:r>
            </a:p>
          </p:txBody>
        </p:sp>
      </p:grpSp>
      <p:sp>
        <p:nvSpPr>
          <p:cNvPr name="TextBox 11" id="11"/>
          <p:cNvSpPr txBox="true"/>
          <p:nvPr/>
        </p:nvSpPr>
        <p:spPr>
          <a:xfrm rot="0">
            <a:off x="1342315" y="4768270"/>
            <a:ext cx="7501271" cy="2714625"/>
          </a:xfrm>
          <a:prstGeom prst="rect">
            <a:avLst/>
          </a:prstGeom>
        </p:spPr>
        <p:txBody>
          <a:bodyPr anchor="t" rtlCol="false" tIns="0" lIns="0" bIns="0" rIns="0">
            <a:spAutoFit/>
          </a:bodyPr>
          <a:lstStyle/>
          <a:p>
            <a:pPr algn="ctr">
              <a:lnSpc>
                <a:spcPts val="5328"/>
              </a:lnSpc>
            </a:pPr>
            <a:r>
              <a:rPr lang="en-US" sz="4440">
                <a:solidFill>
                  <a:srgbClr val="000000"/>
                </a:solidFill>
                <a:latin typeface="Economica"/>
                <a:ea typeface="Economica"/>
                <a:cs typeface="Economica"/>
                <a:sym typeface="Economica"/>
              </a:rPr>
              <a:t>the use of spiritual or religious beliefs, practices, relationships, or authority to coerce, control, exploit, intimidate, silence, </a:t>
            </a:r>
          </a:p>
          <a:p>
            <a:pPr algn="ctr">
              <a:lnSpc>
                <a:spcPts val="5328"/>
              </a:lnSpc>
            </a:pPr>
            <a:r>
              <a:rPr lang="en-US" sz="4440">
                <a:solidFill>
                  <a:srgbClr val="000000"/>
                </a:solidFill>
                <a:latin typeface="Economica"/>
                <a:ea typeface="Economica"/>
                <a:cs typeface="Economica"/>
                <a:sym typeface="Economica"/>
              </a:rPr>
              <a:t>or otherwise harm another person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091404"/>
            <a:ext cx="18288000" cy="195596"/>
            <a:chOff x="0" y="0"/>
            <a:chExt cx="24384000" cy="260794"/>
          </a:xfrm>
        </p:grpSpPr>
        <p:sp>
          <p:nvSpPr>
            <p:cNvPr name="Freeform 3" id="3"/>
            <p:cNvSpPr/>
            <p:nvPr/>
          </p:nvSpPr>
          <p:spPr>
            <a:xfrm flipH="false" flipV="false" rot="0">
              <a:off x="0" y="0"/>
              <a:ext cx="24384000" cy="260858"/>
            </a:xfrm>
            <a:custGeom>
              <a:avLst/>
              <a:gdLst/>
              <a:ahLst/>
              <a:cxnLst/>
              <a:rect r="r" b="b" t="t" l="l"/>
              <a:pathLst>
                <a:path h="260858" w="24384000">
                  <a:moveTo>
                    <a:pt x="0" y="0"/>
                  </a:moveTo>
                  <a:lnTo>
                    <a:pt x="24384000" y="0"/>
                  </a:lnTo>
                  <a:lnTo>
                    <a:pt x="24384000" y="260858"/>
                  </a:lnTo>
                  <a:lnTo>
                    <a:pt x="0" y="260858"/>
                  </a:lnTo>
                  <a:close/>
                </a:path>
              </a:pathLst>
            </a:custGeom>
            <a:solidFill>
              <a:srgbClr val="CCA677"/>
            </a:solidFill>
          </p:spPr>
        </p:sp>
      </p:grpSp>
      <p:grpSp>
        <p:nvGrpSpPr>
          <p:cNvPr name="Group 4" id="4"/>
          <p:cNvGrpSpPr/>
          <p:nvPr/>
        </p:nvGrpSpPr>
        <p:grpSpPr>
          <a:xfrm rot="0">
            <a:off x="1374762" y="1323053"/>
            <a:ext cx="9329221" cy="7935247"/>
            <a:chOff x="0" y="0"/>
            <a:chExt cx="12178380" cy="10358683"/>
          </a:xfrm>
        </p:grpSpPr>
        <p:sp>
          <p:nvSpPr>
            <p:cNvPr name="Freeform 5" id="5"/>
            <p:cNvSpPr/>
            <p:nvPr/>
          </p:nvSpPr>
          <p:spPr>
            <a:xfrm flipH="false" flipV="false" rot="0">
              <a:off x="0" y="0"/>
              <a:ext cx="12178378" cy="10358679"/>
            </a:xfrm>
            <a:custGeom>
              <a:avLst/>
              <a:gdLst/>
              <a:ahLst/>
              <a:cxnLst/>
              <a:rect r="r" b="b" t="t" l="l"/>
              <a:pathLst>
                <a:path h="10358679" w="12178378">
                  <a:moveTo>
                    <a:pt x="0" y="0"/>
                  </a:moveTo>
                  <a:lnTo>
                    <a:pt x="12178378" y="0"/>
                  </a:lnTo>
                  <a:lnTo>
                    <a:pt x="12178378" y="10358679"/>
                  </a:lnTo>
                  <a:lnTo>
                    <a:pt x="0" y="10358679"/>
                  </a:lnTo>
                  <a:close/>
                </a:path>
              </a:pathLst>
            </a:custGeom>
            <a:blipFill>
              <a:blip r:embed="rId3">
                <a:alphaModFix amt="0"/>
              </a:blip>
              <a:stretch>
                <a:fillRect l="-56073" t="0" r="-73783" b="-5310"/>
              </a:stretch>
            </a:blipFill>
          </p:spPr>
        </p:sp>
        <p:sp>
          <p:nvSpPr>
            <p:cNvPr name="TextBox 6" id="6"/>
            <p:cNvSpPr txBox="true"/>
            <p:nvPr/>
          </p:nvSpPr>
          <p:spPr>
            <a:xfrm>
              <a:off x="0" y="-9525"/>
              <a:ext cx="12178380" cy="10368208"/>
            </a:xfrm>
            <a:prstGeom prst="rect">
              <a:avLst/>
            </a:prstGeom>
          </p:spPr>
          <p:txBody>
            <a:bodyPr anchor="ctr" rtlCol="false" tIns="0" lIns="0" bIns="0" rIns="0"/>
            <a:lstStyle/>
            <a:p>
              <a:pPr algn="l">
                <a:lnSpc>
                  <a:spcPts val="10679"/>
                </a:lnSpc>
              </a:pPr>
              <a:r>
                <a:rPr lang="en-US" sz="8899">
                  <a:solidFill>
                    <a:srgbClr val="000000"/>
                  </a:solidFill>
                  <a:latin typeface="Economica"/>
                  <a:ea typeface="Economica"/>
                  <a:cs typeface="Economica"/>
                  <a:sym typeface="Economica"/>
                </a:rPr>
                <a:t>Spiritual Trauma</a:t>
              </a:r>
            </a:p>
            <a:p>
              <a:pPr algn="l">
                <a:lnSpc>
                  <a:spcPts val="3600"/>
                </a:lnSpc>
              </a:pPr>
            </a:p>
            <a:p>
              <a:pPr algn="l">
                <a:lnSpc>
                  <a:spcPts val="4799"/>
                </a:lnSpc>
              </a:pPr>
              <a:r>
                <a:rPr lang="en-US" sz="3999">
                  <a:solidFill>
                    <a:srgbClr val="000000"/>
                  </a:solidFill>
                  <a:latin typeface="Economica"/>
                  <a:ea typeface="Economica"/>
                  <a:cs typeface="Economica"/>
                  <a:sym typeface="Economica"/>
                </a:rPr>
                <a:t>can separate you from awareness of your own wants and needs due to being told to be, do, and think a certain way</a:t>
              </a:r>
            </a:p>
            <a:p>
              <a:pPr algn="l">
                <a:lnSpc>
                  <a:spcPts val="3600"/>
                </a:lnSpc>
              </a:pPr>
            </a:p>
            <a:p>
              <a:pPr algn="l">
                <a:lnSpc>
                  <a:spcPts val="4799"/>
                </a:lnSpc>
              </a:pPr>
              <a:r>
                <a:rPr lang="en-US" sz="3999">
                  <a:solidFill>
                    <a:srgbClr val="000000"/>
                  </a:solidFill>
                  <a:latin typeface="Economica"/>
                  <a:ea typeface="Economica"/>
                  <a:cs typeface="Economica"/>
                  <a:sym typeface="Economica"/>
                </a:rPr>
                <a:t>can contribute to existential anxiety, feelings of abandonment, loss of trust (in system and self), hypervigilance around the words people use, and/or hijacked sense of safety</a:t>
              </a:r>
            </a:p>
          </p:txBody>
        </p:sp>
      </p:grpSp>
      <p:grpSp>
        <p:nvGrpSpPr>
          <p:cNvPr name="Group 7" id="7"/>
          <p:cNvGrpSpPr/>
          <p:nvPr/>
        </p:nvGrpSpPr>
        <p:grpSpPr>
          <a:xfrm rot="0">
            <a:off x="10703984" y="2493325"/>
            <a:ext cx="6242786" cy="6242727"/>
            <a:chOff x="0" y="0"/>
            <a:chExt cx="8006474" cy="8006397"/>
          </a:xfrm>
        </p:grpSpPr>
        <p:sp>
          <p:nvSpPr>
            <p:cNvPr name="Freeform 8" id="8"/>
            <p:cNvSpPr/>
            <p:nvPr/>
          </p:nvSpPr>
          <p:spPr>
            <a:xfrm flipH="false" flipV="false" rot="0">
              <a:off x="0" y="0"/>
              <a:ext cx="8006461" cy="8006334"/>
            </a:xfrm>
            <a:custGeom>
              <a:avLst/>
              <a:gdLst/>
              <a:ahLst/>
              <a:cxnLst/>
              <a:rect r="r" b="b" t="t" l="l"/>
              <a:pathLst>
                <a:path h="8006334" w="8006461">
                  <a:moveTo>
                    <a:pt x="0" y="0"/>
                  </a:moveTo>
                  <a:lnTo>
                    <a:pt x="8006461" y="0"/>
                  </a:lnTo>
                  <a:lnTo>
                    <a:pt x="8006461" y="8006334"/>
                  </a:lnTo>
                  <a:lnTo>
                    <a:pt x="0" y="8006334"/>
                  </a:lnTo>
                  <a:lnTo>
                    <a:pt x="0" y="0"/>
                  </a:lnTo>
                  <a:close/>
                </a:path>
              </a:pathLst>
            </a:custGeom>
            <a:blipFill>
              <a:blip r:embed="rId4"/>
              <a:stretch>
                <a:fillRect l="0" t="0" r="0" b="-1"/>
              </a:stretch>
            </a:blip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44000" y="-48"/>
            <a:ext cx="9144000" cy="10287000"/>
            <a:chOff x="0" y="0"/>
            <a:chExt cx="12192000" cy="13716000"/>
          </a:xfrm>
        </p:grpSpPr>
        <p:sp>
          <p:nvSpPr>
            <p:cNvPr name="Freeform 3" id="3"/>
            <p:cNvSpPr/>
            <p:nvPr/>
          </p:nvSpPr>
          <p:spPr>
            <a:xfrm flipH="false" flipV="false" rot="0">
              <a:off x="0" y="0"/>
              <a:ext cx="12192000" cy="13716000"/>
            </a:xfrm>
            <a:custGeom>
              <a:avLst/>
              <a:gdLst/>
              <a:ahLst/>
              <a:cxnLst/>
              <a:rect r="r" b="b" t="t" l="l"/>
              <a:pathLst>
                <a:path h="13716000" w="12192000">
                  <a:moveTo>
                    <a:pt x="0" y="0"/>
                  </a:moveTo>
                  <a:lnTo>
                    <a:pt x="12192000" y="0"/>
                  </a:lnTo>
                  <a:lnTo>
                    <a:pt x="12192000" y="13716000"/>
                  </a:lnTo>
                  <a:lnTo>
                    <a:pt x="0" y="13716000"/>
                  </a:lnTo>
                  <a:close/>
                </a:path>
              </a:pathLst>
            </a:custGeom>
            <a:solidFill>
              <a:srgbClr val="CCA677"/>
            </a:solidFill>
          </p:spPr>
        </p:sp>
      </p:grpSp>
      <p:sp>
        <p:nvSpPr>
          <p:cNvPr name="AutoShape 4" id="4"/>
          <p:cNvSpPr/>
          <p:nvPr/>
        </p:nvSpPr>
        <p:spPr>
          <a:xfrm rot="134280">
            <a:off x="10039931" y="8981475"/>
            <a:ext cx="975446" cy="0"/>
          </a:xfrm>
          <a:prstGeom prst="line">
            <a:avLst/>
          </a:prstGeom>
          <a:ln cap="rnd" w="19050">
            <a:solidFill>
              <a:srgbClr val="FFFFFF"/>
            </a:solidFill>
            <a:prstDash val="solid"/>
            <a:headEnd type="none" len="sm" w="sm"/>
            <a:tailEnd type="none" len="sm" w="sm"/>
          </a:ln>
        </p:spPr>
      </p:sp>
      <p:grpSp>
        <p:nvGrpSpPr>
          <p:cNvPr name="Group 5" id="5"/>
          <p:cNvGrpSpPr/>
          <p:nvPr/>
        </p:nvGrpSpPr>
        <p:grpSpPr>
          <a:xfrm rot="0">
            <a:off x="1028700" y="1028700"/>
            <a:ext cx="7592682" cy="2711653"/>
            <a:chOff x="0" y="0"/>
            <a:chExt cx="10123576" cy="3615538"/>
          </a:xfrm>
        </p:grpSpPr>
        <p:sp>
          <p:nvSpPr>
            <p:cNvPr name="Freeform 6" id="6"/>
            <p:cNvSpPr/>
            <p:nvPr/>
          </p:nvSpPr>
          <p:spPr>
            <a:xfrm flipH="false" flipV="false" rot="0">
              <a:off x="0" y="0"/>
              <a:ext cx="10123574" cy="3615534"/>
            </a:xfrm>
            <a:custGeom>
              <a:avLst/>
              <a:gdLst/>
              <a:ahLst/>
              <a:cxnLst/>
              <a:rect r="r" b="b" t="t" l="l"/>
              <a:pathLst>
                <a:path h="3615534" w="10123574">
                  <a:moveTo>
                    <a:pt x="0" y="0"/>
                  </a:moveTo>
                  <a:lnTo>
                    <a:pt x="10123574" y="0"/>
                  </a:lnTo>
                  <a:lnTo>
                    <a:pt x="10123574" y="3615534"/>
                  </a:lnTo>
                  <a:lnTo>
                    <a:pt x="0" y="3615534"/>
                  </a:lnTo>
                  <a:close/>
                </a:path>
              </a:pathLst>
            </a:custGeom>
            <a:blipFill>
              <a:blip r:embed="rId3">
                <a:alphaModFix amt="0"/>
              </a:blip>
              <a:stretch>
                <a:fillRect l="0" t="-85" r="-6555" b="-16184"/>
              </a:stretch>
            </a:blipFill>
          </p:spPr>
        </p:sp>
        <p:sp>
          <p:nvSpPr>
            <p:cNvPr name="TextBox 7" id="7"/>
            <p:cNvSpPr txBox="true"/>
            <p:nvPr/>
          </p:nvSpPr>
          <p:spPr>
            <a:xfrm>
              <a:off x="0" y="-9525"/>
              <a:ext cx="10123576" cy="3625063"/>
            </a:xfrm>
            <a:prstGeom prst="rect">
              <a:avLst/>
            </a:prstGeom>
          </p:spPr>
          <p:txBody>
            <a:bodyPr anchor="b" rtlCol="false" tIns="0" lIns="0" bIns="0" rIns="0"/>
            <a:lstStyle/>
            <a:p>
              <a:pPr algn="ctr">
                <a:lnSpc>
                  <a:spcPts val="10080"/>
                </a:lnSpc>
              </a:pPr>
              <a:r>
                <a:rPr lang="en-US" sz="8400">
                  <a:solidFill>
                    <a:srgbClr val="CCA677"/>
                  </a:solidFill>
                  <a:latin typeface="Economica"/>
                  <a:ea typeface="Economica"/>
                  <a:cs typeface="Economica"/>
                  <a:sym typeface="Economica"/>
                </a:rPr>
                <a:t>A quick word about Spiritual Bypassing</a:t>
              </a:r>
            </a:p>
          </p:txBody>
        </p:sp>
      </p:grpSp>
      <p:sp>
        <p:nvSpPr>
          <p:cNvPr name="TextBox 8" id="8"/>
          <p:cNvSpPr txBox="true"/>
          <p:nvPr/>
        </p:nvSpPr>
        <p:spPr>
          <a:xfrm rot="0">
            <a:off x="1270856" y="3956592"/>
            <a:ext cx="7108370" cy="5301708"/>
          </a:xfrm>
          <a:prstGeom prst="rect">
            <a:avLst/>
          </a:prstGeom>
        </p:spPr>
        <p:txBody>
          <a:bodyPr anchor="t" rtlCol="false" tIns="0" lIns="0" bIns="0" rIns="0">
            <a:spAutoFit/>
          </a:bodyPr>
          <a:lstStyle/>
          <a:p>
            <a:pPr algn="l">
              <a:lnSpc>
                <a:spcPts val="3530"/>
              </a:lnSpc>
            </a:pPr>
            <a:r>
              <a:rPr lang="en-US" sz="2842">
                <a:solidFill>
                  <a:srgbClr val="000000"/>
                </a:solidFill>
                <a:latin typeface="Open Sans"/>
                <a:ea typeface="Open Sans"/>
                <a:cs typeface="Open Sans"/>
                <a:sym typeface="Open Sans"/>
              </a:rPr>
              <a:t>Spiritual Bypassing = the use of spiritual beliefs, practices, or language to avoid dealing with uncomfortable issues; using “Bandaid Bible Verses” or religious platitudes to minimize or dismiss negative emotions</a:t>
            </a:r>
          </a:p>
          <a:p>
            <a:pPr algn="l">
              <a:lnSpc>
                <a:spcPts val="3530"/>
              </a:lnSpc>
            </a:pPr>
          </a:p>
          <a:p>
            <a:pPr algn="l">
              <a:lnSpc>
                <a:spcPts val="3530"/>
              </a:lnSpc>
            </a:pPr>
            <a:r>
              <a:rPr lang="en-US" sz="2842">
                <a:solidFill>
                  <a:srgbClr val="000000"/>
                </a:solidFill>
                <a:latin typeface="Open Sans"/>
                <a:ea typeface="Open Sans"/>
                <a:cs typeface="Open Sans"/>
                <a:sym typeface="Open Sans"/>
              </a:rPr>
              <a:t>Can contribute to emotional detachment, mistrust or repression of emotions, lack of boundaries, codependency, spiritual obsession, low self-esteem, sense of powerlessness, and social isolation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44000" y="-48"/>
            <a:ext cx="9144000" cy="10287000"/>
            <a:chOff x="0" y="0"/>
            <a:chExt cx="12192000" cy="13716000"/>
          </a:xfrm>
        </p:grpSpPr>
        <p:sp>
          <p:nvSpPr>
            <p:cNvPr name="Freeform 3" id="3"/>
            <p:cNvSpPr/>
            <p:nvPr/>
          </p:nvSpPr>
          <p:spPr>
            <a:xfrm flipH="false" flipV="false" rot="0">
              <a:off x="0" y="0"/>
              <a:ext cx="12192000" cy="13716000"/>
            </a:xfrm>
            <a:custGeom>
              <a:avLst/>
              <a:gdLst/>
              <a:ahLst/>
              <a:cxnLst/>
              <a:rect r="r" b="b" t="t" l="l"/>
              <a:pathLst>
                <a:path h="13716000" w="12192000">
                  <a:moveTo>
                    <a:pt x="0" y="0"/>
                  </a:moveTo>
                  <a:lnTo>
                    <a:pt x="12192000" y="0"/>
                  </a:lnTo>
                  <a:lnTo>
                    <a:pt x="12192000" y="13716000"/>
                  </a:lnTo>
                  <a:lnTo>
                    <a:pt x="0" y="13716000"/>
                  </a:lnTo>
                  <a:close/>
                </a:path>
              </a:pathLst>
            </a:custGeom>
            <a:solidFill>
              <a:srgbClr val="CCA677"/>
            </a:solidFill>
          </p:spPr>
        </p:sp>
      </p:grpSp>
      <p:sp>
        <p:nvSpPr>
          <p:cNvPr name="AutoShape 4" id="4"/>
          <p:cNvSpPr/>
          <p:nvPr/>
        </p:nvSpPr>
        <p:spPr>
          <a:xfrm rot="134280">
            <a:off x="10039931" y="8981475"/>
            <a:ext cx="975446" cy="0"/>
          </a:xfrm>
          <a:prstGeom prst="line">
            <a:avLst/>
          </a:prstGeom>
          <a:ln cap="rnd" w="19050">
            <a:solidFill>
              <a:srgbClr val="FFFFFF"/>
            </a:solidFill>
            <a:prstDash val="solid"/>
            <a:headEnd type="none" len="sm" w="sm"/>
            <a:tailEnd type="none" len="sm" w="sm"/>
          </a:ln>
        </p:spPr>
      </p:sp>
      <p:grpSp>
        <p:nvGrpSpPr>
          <p:cNvPr name="Group 5" id="5"/>
          <p:cNvGrpSpPr/>
          <p:nvPr/>
        </p:nvGrpSpPr>
        <p:grpSpPr>
          <a:xfrm rot="0">
            <a:off x="1028700" y="1028700"/>
            <a:ext cx="7592682" cy="2711653"/>
            <a:chOff x="0" y="0"/>
            <a:chExt cx="10123576" cy="3615538"/>
          </a:xfrm>
        </p:grpSpPr>
        <p:sp>
          <p:nvSpPr>
            <p:cNvPr name="Freeform 6" id="6"/>
            <p:cNvSpPr/>
            <p:nvPr/>
          </p:nvSpPr>
          <p:spPr>
            <a:xfrm flipH="false" flipV="false" rot="0">
              <a:off x="0" y="0"/>
              <a:ext cx="10123574" cy="3615534"/>
            </a:xfrm>
            <a:custGeom>
              <a:avLst/>
              <a:gdLst/>
              <a:ahLst/>
              <a:cxnLst/>
              <a:rect r="r" b="b" t="t" l="l"/>
              <a:pathLst>
                <a:path h="3615534" w="10123574">
                  <a:moveTo>
                    <a:pt x="0" y="0"/>
                  </a:moveTo>
                  <a:lnTo>
                    <a:pt x="10123574" y="0"/>
                  </a:lnTo>
                  <a:lnTo>
                    <a:pt x="10123574" y="3615534"/>
                  </a:lnTo>
                  <a:lnTo>
                    <a:pt x="0" y="3615534"/>
                  </a:lnTo>
                  <a:close/>
                </a:path>
              </a:pathLst>
            </a:custGeom>
            <a:blipFill>
              <a:blip r:embed="rId3">
                <a:alphaModFix amt="0"/>
              </a:blip>
              <a:stretch>
                <a:fillRect l="0" t="-85" r="-6555" b="-16184"/>
              </a:stretch>
            </a:blipFill>
          </p:spPr>
        </p:sp>
        <p:sp>
          <p:nvSpPr>
            <p:cNvPr name="TextBox 7" id="7"/>
            <p:cNvSpPr txBox="true"/>
            <p:nvPr/>
          </p:nvSpPr>
          <p:spPr>
            <a:xfrm>
              <a:off x="0" y="-9525"/>
              <a:ext cx="10123576" cy="3625063"/>
            </a:xfrm>
            <a:prstGeom prst="rect">
              <a:avLst/>
            </a:prstGeom>
          </p:spPr>
          <p:txBody>
            <a:bodyPr anchor="b" rtlCol="false" tIns="0" lIns="0" bIns="0" rIns="0"/>
            <a:lstStyle/>
            <a:p>
              <a:pPr algn="ctr">
                <a:lnSpc>
                  <a:spcPts val="10080"/>
                </a:lnSpc>
              </a:pPr>
              <a:r>
                <a:rPr lang="en-US" sz="8400">
                  <a:solidFill>
                    <a:srgbClr val="CCA677"/>
                  </a:solidFill>
                  <a:latin typeface="Economica"/>
                  <a:ea typeface="Economica"/>
                  <a:cs typeface="Economica"/>
                  <a:sym typeface="Economica"/>
                </a:rPr>
                <a:t>A quick word about Spiritual Bypassing</a:t>
              </a:r>
            </a:p>
          </p:txBody>
        </p:sp>
      </p:grpSp>
      <p:sp>
        <p:nvSpPr>
          <p:cNvPr name="TextBox 8" id="8"/>
          <p:cNvSpPr txBox="true"/>
          <p:nvPr/>
        </p:nvSpPr>
        <p:spPr>
          <a:xfrm rot="0">
            <a:off x="1270856" y="3956592"/>
            <a:ext cx="7108370" cy="5301708"/>
          </a:xfrm>
          <a:prstGeom prst="rect">
            <a:avLst/>
          </a:prstGeom>
        </p:spPr>
        <p:txBody>
          <a:bodyPr anchor="t" rtlCol="false" tIns="0" lIns="0" bIns="0" rIns="0">
            <a:spAutoFit/>
          </a:bodyPr>
          <a:lstStyle/>
          <a:p>
            <a:pPr algn="l">
              <a:lnSpc>
                <a:spcPts val="3530"/>
              </a:lnSpc>
            </a:pPr>
            <a:r>
              <a:rPr lang="en-US" sz="2842">
                <a:solidFill>
                  <a:srgbClr val="000000"/>
                </a:solidFill>
                <a:latin typeface="Open Sans"/>
                <a:ea typeface="Open Sans"/>
                <a:cs typeface="Open Sans"/>
                <a:sym typeface="Open Sans"/>
              </a:rPr>
              <a:t>Spiritual Bypassing = the use of spiritual beliefs, practices, or language to avoid dealing with uncomfortable issues; using “Bandaid Bible Verses” or religious platitudes to minimize or dismiss negative emotions</a:t>
            </a:r>
          </a:p>
          <a:p>
            <a:pPr algn="l">
              <a:lnSpc>
                <a:spcPts val="3530"/>
              </a:lnSpc>
            </a:pPr>
          </a:p>
          <a:p>
            <a:pPr algn="l">
              <a:lnSpc>
                <a:spcPts val="3530"/>
              </a:lnSpc>
            </a:pPr>
            <a:r>
              <a:rPr lang="en-US" sz="2842">
                <a:solidFill>
                  <a:srgbClr val="000000"/>
                </a:solidFill>
                <a:latin typeface="Open Sans"/>
                <a:ea typeface="Open Sans"/>
                <a:cs typeface="Open Sans"/>
                <a:sym typeface="Open Sans"/>
              </a:rPr>
              <a:t>Can contribute to emotional detachment, mistrust or repression of emotions, lack of boundaries, codependency, spiritual obsession, low self-esteem, sense of powerlessness, and social isolation</a:t>
            </a:r>
          </a:p>
        </p:txBody>
      </p:sp>
      <p:grpSp>
        <p:nvGrpSpPr>
          <p:cNvPr name="Group 9" id="9"/>
          <p:cNvGrpSpPr/>
          <p:nvPr/>
        </p:nvGrpSpPr>
        <p:grpSpPr>
          <a:xfrm rot="0">
            <a:off x="9144000" y="3966117"/>
            <a:ext cx="4134503" cy="5292183"/>
            <a:chOff x="0" y="0"/>
            <a:chExt cx="6097943" cy="7805395"/>
          </a:xfrm>
        </p:grpSpPr>
        <p:sp>
          <p:nvSpPr>
            <p:cNvPr name="Freeform 10" id="10"/>
            <p:cNvSpPr/>
            <p:nvPr/>
          </p:nvSpPr>
          <p:spPr>
            <a:xfrm flipH="false" flipV="false" rot="0">
              <a:off x="0" y="0"/>
              <a:ext cx="6097905" cy="7805420"/>
            </a:xfrm>
            <a:custGeom>
              <a:avLst/>
              <a:gdLst/>
              <a:ahLst/>
              <a:cxnLst/>
              <a:rect r="r" b="b" t="t" l="l"/>
              <a:pathLst>
                <a:path h="7805420" w="6097905">
                  <a:moveTo>
                    <a:pt x="0" y="0"/>
                  </a:moveTo>
                  <a:lnTo>
                    <a:pt x="6097905" y="0"/>
                  </a:lnTo>
                  <a:lnTo>
                    <a:pt x="6097905" y="7805420"/>
                  </a:lnTo>
                  <a:lnTo>
                    <a:pt x="0" y="7805420"/>
                  </a:lnTo>
                  <a:lnTo>
                    <a:pt x="0" y="0"/>
                  </a:lnTo>
                  <a:close/>
                </a:path>
              </a:pathLst>
            </a:custGeom>
            <a:blipFill>
              <a:blip r:embed="rId4"/>
              <a:stretch>
                <a:fillRect l="0" t="0" r="0" b="0"/>
              </a:stretch>
            </a:blip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44000" y="-48"/>
            <a:ext cx="9144000" cy="10287000"/>
            <a:chOff x="0" y="0"/>
            <a:chExt cx="12192000" cy="13716000"/>
          </a:xfrm>
        </p:grpSpPr>
        <p:sp>
          <p:nvSpPr>
            <p:cNvPr name="Freeform 3" id="3"/>
            <p:cNvSpPr/>
            <p:nvPr/>
          </p:nvSpPr>
          <p:spPr>
            <a:xfrm flipH="false" flipV="false" rot="0">
              <a:off x="0" y="0"/>
              <a:ext cx="12192000" cy="13716000"/>
            </a:xfrm>
            <a:custGeom>
              <a:avLst/>
              <a:gdLst/>
              <a:ahLst/>
              <a:cxnLst/>
              <a:rect r="r" b="b" t="t" l="l"/>
              <a:pathLst>
                <a:path h="13716000" w="12192000">
                  <a:moveTo>
                    <a:pt x="0" y="0"/>
                  </a:moveTo>
                  <a:lnTo>
                    <a:pt x="12192000" y="0"/>
                  </a:lnTo>
                  <a:lnTo>
                    <a:pt x="12192000" y="13716000"/>
                  </a:lnTo>
                  <a:lnTo>
                    <a:pt x="0" y="13716000"/>
                  </a:lnTo>
                  <a:close/>
                </a:path>
              </a:pathLst>
            </a:custGeom>
            <a:solidFill>
              <a:srgbClr val="CCA677"/>
            </a:solidFill>
          </p:spPr>
        </p:sp>
      </p:grpSp>
      <p:sp>
        <p:nvSpPr>
          <p:cNvPr name="AutoShape 4" id="4"/>
          <p:cNvSpPr/>
          <p:nvPr/>
        </p:nvSpPr>
        <p:spPr>
          <a:xfrm rot="134280">
            <a:off x="10039931" y="8981475"/>
            <a:ext cx="975446" cy="0"/>
          </a:xfrm>
          <a:prstGeom prst="line">
            <a:avLst/>
          </a:prstGeom>
          <a:ln cap="rnd" w="19050">
            <a:solidFill>
              <a:srgbClr val="FFFFFF"/>
            </a:solidFill>
            <a:prstDash val="solid"/>
            <a:headEnd type="none" len="sm" w="sm"/>
            <a:tailEnd type="none" len="sm" w="sm"/>
          </a:ln>
        </p:spPr>
      </p:sp>
      <p:grpSp>
        <p:nvGrpSpPr>
          <p:cNvPr name="Group 5" id="5"/>
          <p:cNvGrpSpPr/>
          <p:nvPr/>
        </p:nvGrpSpPr>
        <p:grpSpPr>
          <a:xfrm rot="0">
            <a:off x="1028700" y="1028700"/>
            <a:ext cx="7592682" cy="2711653"/>
            <a:chOff x="0" y="0"/>
            <a:chExt cx="10123576" cy="3615538"/>
          </a:xfrm>
        </p:grpSpPr>
        <p:sp>
          <p:nvSpPr>
            <p:cNvPr name="Freeform 6" id="6"/>
            <p:cNvSpPr/>
            <p:nvPr/>
          </p:nvSpPr>
          <p:spPr>
            <a:xfrm flipH="false" flipV="false" rot="0">
              <a:off x="0" y="0"/>
              <a:ext cx="10123574" cy="3615534"/>
            </a:xfrm>
            <a:custGeom>
              <a:avLst/>
              <a:gdLst/>
              <a:ahLst/>
              <a:cxnLst/>
              <a:rect r="r" b="b" t="t" l="l"/>
              <a:pathLst>
                <a:path h="3615534" w="10123574">
                  <a:moveTo>
                    <a:pt x="0" y="0"/>
                  </a:moveTo>
                  <a:lnTo>
                    <a:pt x="10123574" y="0"/>
                  </a:lnTo>
                  <a:lnTo>
                    <a:pt x="10123574" y="3615534"/>
                  </a:lnTo>
                  <a:lnTo>
                    <a:pt x="0" y="3615534"/>
                  </a:lnTo>
                  <a:close/>
                </a:path>
              </a:pathLst>
            </a:custGeom>
            <a:blipFill>
              <a:blip r:embed="rId3">
                <a:alphaModFix amt="0"/>
              </a:blip>
              <a:stretch>
                <a:fillRect l="0" t="-85" r="-6555" b="-16184"/>
              </a:stretch>
            </a:blipFill>
          </p:spPr>
        </p:sp>
        <p:sp>
          <p:nvSpPr>
            <p:cNvPr name="TextBox 7" id="7"/>
            <p:cNvSpPr txBox="true"/>
            <p:nvPr/>
          </p:nvSpPr>
          <p:spPr>
            <a:xfrm>
              <a:off x="0" y="-9525"/>
              <a:ext cx="10123576" cy="3625063"/>
            </a:xfrm>
            <a:prstGeom prst="rect">
              <a:avLst/>
            </a:prstGeom>
          </p:spPr>
          <p:txBody>
            <a:bodyPr anchor="b" rtlCol="false" tIns="0" lIns="0" bIns="0" rIns="0"/>
            <a:lstStyle/>
            <a:p>
              <a:pPr algn="ctr">
                <a:lnSpc>
                  <a:spcPts val="10080"/>
                </a:lnSpc>
              </a:pPr>
              <a:r>
                <a:rPr lang="en-US" sz="8400">
                  <a:solidFill>
                    <a:srgbClr val="CCA677"/>
                  </a:solidFill>
                  <a:latin typeface="Economica"/>
                  <a:ea typeface="Economica"/>
                  <a:cs typeface="Economica"/>
                  <a:sym typeface="Economica"/>
                </a:rPr>
                <a:t>A quick word about Spiritual Bypassing</a:t>
              </a:r>
            </a:p>
          </p:txBody>
        </p:sp>
      </p:grpSp>
      <p:sp>
        <p:nvSpPr>
          <p:cNvPr name="TextBox 8" id="8"/>
          <p:cNvSpPr txBox="true"/>
          <p:nvPr/>
        </p:nvSpPr>
        <p:spPr>
          <a:xfrm rot="0">
            <a:off x="1270856" y="3956592"/>
            <a:ext cx="7108370" cy="5301708"/>
          </a:xfrm>
          <a:prstGeom prst="rect">
            <a:avLst/>
          </a:prstGeom>
        </p:spPr>
        <p:txBody>
          <a:bodyPr anchor="t" rtlCol="false" tIns="0" lIns="0" bIns="0" rIns="0">
            <a:spAutoFit/>
          </a:bodyPr>
          <a:lstStyle/>
          <a:p>
            <a:pPr algn="l">
              <a:lnSpc>
                <a:spcPts val="3530"/>
              </a:lnSpc>
            </a:pPr>
            <a:r>
              <a:rPr lang="en-US" sz="2842">
                <a:solidFill>
                  <a:srgbClr val="000000"/>
                </a:solidFill>
                <a:latin typeface="Open Sans"/>
                <a:ea typeface="Open Sans"/>
                <a:cs typeface="Open Sans"/>
                <a:sym typeface="Open Sans"/>
              </a:rPr>
              <a:t>Spiritual Bypassing = the use of spiritual beliefs, practices, or language to avoid dealing with uncomfortable issues; using “Bandaid Bible Verses” or religious platitudes to minimize or dismiss negative emotions</a:t>
            </a:r>
          </a:p>
          <a:p>
            <a:pPr algn="l">
              <a:lnSpc>
                <a:spcPts val="3530"/>
              </a:lnSpc>
            </a:pPr>
          </a:p>
          <a:p>
            <a:pPr algn="l">
              <a:lnSpc>
                <a:spcPts val="3530"/>
              </a:lnSpc>
            </a:pPr>
            <a:r>
              <a:rPr lang="en-US" sz="2842">
                <a:solidFill>
                  <a:srgbClr val="000000"/>
                </a:solidFill>
                <a:latin typeface="Open Sans"/>
                <a:ea typeface="Open Sans"/>
                <a:cs typeface="Open Sans"/>
                <a:sym typeface="Open Sans"/>
              </a:rPr>
              <a:t>Can contribute to emotional detachment, mistrust or repression of emotions, lack of boundaries, codependency, spiritual obsession, low self-esteem, sense of powerlessness, and social isolation</a:t>
            </a:r>
          </a:p>
        </p:txBody>
      </p:sp>
      <p:grpSp>
        <p:nvGrpSpPr>
          <p:cNvPr name="Group 9" id="9"/>
          <p:cNvGrpSpPr/>
          <p:nvPr/>
        </p:nvGrpSpPr>
        <p:grpSpPr>
          <a:xfrm rot="0">
            <a:off x="9144000" y="3966117"/>
            <a:ext cx="4134503" cy="5292183"/>
            <a:chOff x="0" y="0"/>
            <a:chExt cx="6097943" cy="7805395"/>
          </a:xfrm>
        </p:grpSpPr>
        <p:sp>
          <p:nvSpPr>
            <p:cNvPr name="Freeform 10" id="10"/>
            <p:cNvSpPr/>
            <p:nvPr/>
          </p:nvSpPr>
          <p:spPr>
            <a:xfrm flipH="false" flipV="false" rot="0">
              <a:off x="0" y="0"/>
              <a:ext cx="6097905" cy="7805420"/>
            </a:xfrm>
            <a:custGeom>
              <a:avLst/>
              <a:gdLst/>
              <a:ahLst/>
              <a:cxnLst/>
              <a:rect r="r" b="b" t="t" l="l"/>
              <a:pathLst>
                <a:path h="7805420" w="6097905">
                  <a:moveTo>
                    <a:pt x="0" y="0"/>
                  </a:moveTo>
                  <a:lnTo>
                    <a:pt x="6097905" y="0"/>
                  </a:lnTo>
                  <a:lnTo>
                    <a:pt x="6097905" y="7805420"/>
                  </a:lnTo>
                  <a:lnTo>
                    <a:pt x="0" y="7805420"/>
                  </a:lnTo>
                  <a:lnTo>
                    <a:pt x="0" y="0"/>
                  </a:lnTo>
                  <a:close/>
                </a:path>
              </a:pathLst>
            </a:custGeom>
            <a:blipFill>
              <a:blip r:embed="rId4"/>
              <a:stretch>
                <a:fillRect l="0" t="0" r="0" b="0"/>
              </a:stretch>
            </a:blipFill>
          </p:spPr>
        </p:sp>
      </p:grpSp>
      <p:grpSp>
        <p:nvGrpSpPr>
          <p:cNvPr name="Group 11" id="11"/>
          <p:cNvGrpSpPr/>
          <p:nvPr/>
        </p:nvGrpSpPr>
        <p:grpSpPr>
          <a:xfrm rot="0">
            <a:off x="12973050" y="1028700"/>
            <a:ext cx="4286250" cy="4286250"/>
            <a:chOff x="0" y="0"/>
            <a:chExt cx="5715000" cy="5715000"/>
          </a:xfrm>
        </p:grpSpPr>
        <p:sp>
          <p:nvSpPr>
            <p:cNvPr name="Freeform 12" id="12"/>
            <p:cNvSpPr/>
            <p:nvPr/>
          </p:nvSpPr>
          <p:spPr>
            <a:xfrm flipH="false" flipV="false" rot="0">
              <a:off x="0" y="0"/>
              <a:ext cx="5715000" cy="5715000"/>
            </a:xfrm>
            <a:custGeom>
              <a:avLst/>
              <a:gdLst/>
              <a:ahLst/>
              <a:cxnLst/>
              <a:rect r="r" b="b" t="t" l="l"/>
              <a:pathLst>
                <a:path h="5715000" w="5715000">
                  <a:moveTo>
                    <a:pt x="0" y="0"/>
                  </a:moveTo>
                  <a:lnTo>
                    <a:pt x="5715000" y="0"/>
                  </a:lnTo>
                  <a:lnTo>
                    <a:pt x="5715000" y="5715000"/>
                  </a:lnTo>
                  <a:lnTo>
                    <a:pt x="0" y="5715000"/>
                  </a:lnTo>
                  <a:lnTo>
                    <a:pt x="0" y="0"/>
                  </a:lnTo>
                  <a:close/>
                </a:path>
              </a:pathLst>
            </a:custGeom>
            <a:blipFill>
              <a:blip r:embed="rId5"/>
              <a:stretch>
                <a:fillRect l="0" t="0" r="0" b="0"/>
              </a:stretch>
            </a:blipFill>
          </p:spPr>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44000" y="-48"/>
            <a:ext cx="9144000" cy="10287000"/>
            <a:chOff x="0" y="0"/>
            <a:chExt cx="12192000" cy="13716000"/>
          </a:xfrm>
        </p:grpSpPr>
        <p:sp>
          <p:nvSpPr>
            <p:cNvPr name="Freeform 3" id="3"/>
            <p:cNvSpPr/>
            <p:nvPr/>
          </p:nvSpPr>
          <p:spPr>
            <a:xfrm flipH="false" flipV="false" rot="0">
              <a:off x="0" y="0"/>
              <a:ext cx="12192000" cy="13716000"/>
            </a:xfrm>
            <a:custGeom>
              <a:avLst/>
              <a:gdLst/>
              <a:ahLst/>
              <a:cxnLst/>
              <a:rect r="r" b="b" t="t" l="l"/>
              <a:pathLst>
                <a:path h="13716000" w="12192000">
                  <a:moveTo>
                    <a:pt x="0" y="0"/>
                  </a:moveTo>
                  <a:lnTo>
                    <a:pt x="12192000" y="0"/>
                  </a:lnTo>
                  <a:lnTo>
                    <a:pt x="12192000" y="13716000"/>
                  </a:lnTo>
                  <a:lnTo>
                    <a:pt x="0" y="13716000"/>
                  </a:lnTo>
                  <a:close/>
                </a:path>
              </a:pathLst>
            </a:custGeom>
            <a:solidFill>
              <a:srgbClr val="CCA677"/>
            </a:solidFill>
          </p:spPr>
        </p:sp>
      </p:grpSp>
      <p:sp>
        <p:nvSpPr>
          <p:cNvPr name="AutoShape 4" id="4"/>
          <p:cNvSpPr/>
          <p:nvPr/>
        </p:nvSpPr>
        <p:spPr>
          <a:xfrm rot="134280">
            <a:off x="10039931" y="8981475"/>
            <a:ext cx="975446" cy="0"/>
          </a:xfrm>
          <a:prstGeom prst="line">
            <a:avLst/>
          </a:prstGeom>
          <a:ln cap="rnd" w="19050">
            <a:solidFill>
              <a:srgbClr val="FFFFFF"/>
            </a:solidFill>
            <a:prstDash val="solid"/>
            <a:headEnd type="none" len="sm" w="sm"/>
            <a:tailEnd type="none" len="sm" w="sm"/>
          </a:ln>
        </p:spPr>
      </p:sp>
      <p:grpSp>
        <p:nvGrpSpPr>
          <p:cNvPr name="Group 5" id="5"/>
          <p:cNvGrpSpPr/>
          <p:nvPr/>
        </p:nvGrpSpPr>
        <p:grpSpPr>
          <a:xfrm rot="0">
            <a:off x="1028700" y="1028700"/>
            <a:ext cx="7592682" cy="2711653"/>
            <a:chOff x="0" y="0"/>
            <a:chExt cx="10123576" cy="3615538"/>
          </a:xfrm>
        </p:grpSpPr>
        <p:sp>
          <p:nvSpPr>
            <p:cNvPr name="Freeform 6" id="6"/>
            <p:cNvSpPr/>
            <p:nvPr/>
          </p:nvSpPr>
          <p:spPr>
            <a:xfrm flipH="false" flipV="false" rot="0">
              <a:off x="0" y="0"/>
              <a:ext cx="10123574" cy="3615534"/>
            </a:xfrm>
            <a:custGeom>
              <a:avLst/>
              <a:gdLst/>
              <a:ahLst/>
              <a:cxnLst/>
              <a:rect r="r" b="b" t="t" l="l"/>
              <a:pathLst>
                <a:path h="3615534" w="10123574">
                  <a:moveTo>
                    <a:pt x="0" y="0"/>
                  </a:moveTo>
                  <a:lnTo>
                    <a:pt x="10123574" y="0"/>
                  </a:lnTo>
                  <a:lnTo>
                    <a:pt x="10123574" y="3615534"/>
                  </a:lnTo>
                  <a:lnTo>
                    <a:pt x="0" y="3615534"/>
                  </a:lnTo>
                  <a:close/>
                </a:path>
              </a:pathLst>
            </a:custGeom>
            <a:blipFill>
              <a:blip r:embed="rId3">
                <a:alphaModFix amt="0"/>
              </a:blip>
              <a:stretch>
                <a:fillRect l="0" t="-85" r="-6555" b="-16184"/>
              </a:stretch>
            </a:blipFill>
          </p:spPr>
        </p:sp>
        <p:sp>
          <p:nvSpPr>
            <p:cNvPr name="TextBox 7" id="7"/>
            <p:cNvSpPr txBox="true"/>
            <p:nvPr/>
          </p:nvSpPr>
          <p:spPr>
            <a:xfrm>
              <a:off x="0" y="-9525"/>
              <a:ext cx="10123576" cy="3625063"/>
            </a:xfrm>
            <a:prstGeom prst="rect">
              <a:avLst/>
            </a:prstGeom>
          </p:spPr>
          <p:txBody>
            <a:bodyPr anchor="b" rtlCol="false" tIns="0" lIns="0" bIns="0" rIns="0"/>
            <a:lstStyle/>
            <a:p>
              <a:pPr algn="ctr">
                <a:lnSpc>
                  <a:spcPts val="10080"/>
                </a:lnSpc>
              </a:pPr>
              <a:r>
                <a:rPr lang="en-US" sz="8400">
                  <a:solidFill>
                    <a:srgbClr val="CCA677"/>
                  </a:solidFill>
                  <a:latin typeface="Economica"/>
                  <a:ea typeface="Economica"/>
                  <a:cs typeface="Economica"/>
                  <a:sym typeface="Economica"/>
                </a:rPr>
                <a:t>A quick word about Spiritual Bypassing</a:t>
              </a:r>
            </a:p>
          </p:txBody>
        </p:sp>
      </p:grpSp>
      <p:sp>
        <p:nvSpPr>
          <p:cNvPr name="TextBox 8" id="8"/>
          <p:cNvSpPr txBox="true"/>
          <p:nvPr/>
        </p:nvSpPr>
        <p:spPr>
          <a:xfrm rot="0">
            <a:off x="1270856" y="3956592"/>
            <a:ext cx="7108370" cy="5301708"/>
          </a:xfrm>
          <a:prstGeom prst="rect">
            <a:avLst/>
          </a:prstGeom>
        </p:spPr>
        <p:txBody>
          <a:bodyPr anchor="t" rtlCol="false" tIns="0" lIns="0" bIns="0" rIns="0">
            <a:spAutoFit/>
          </a:bodyPr>
          <a:lstStyle/>
          <a:p>
            <a:pPr algn="l">
              <a:lnSpc>
                <a:spcPts val="3530"/>
              </a:lnSpc>
            </a:pPr>
            <a:r>
              <a:rPr lang="en-US" sz="2842">
                <a:solidFill>
                  <a:srgbClr val="000000"/>
                </a:solidFill>
                <a:latin typeface="Open Sans"/>
                <a:ea typeface="Open Sans"/>
                <a:cs typeface="Open Sans"/>
                <a:sym typeface="Open Sans"/>
              </a:rPr>
              <a:t>Spiritual Bypassing = the use of spiritual beliefs, practices, or language to avoid dealing with uncomfortable issues; using “Bandaid Bible Verses” or religious platitudes to minimize or dismiss negative emotions</a:t>
            </a:r>
          </a:p>
          <a:p>
            <a:pPr algn="l">
              <a:lnSpc>
                <a:spcPts val="3530"/>
              </a:lnSpc>
            </a:pPr>
          </a:p>
          <a:p>
            <a:pPr algn="l">
              <a:lnSpc>
                <a:spcPts val="3530"/>
              </a:lnSpc>
            </a:pPr>
            <a:r>
              <a:rPr lang="en-US" sz="2842">
                <a:solidFill>
                  <a:srgbClr val="000000"/>
                </a:solidFill>
                <a:latin typeface="Open Sans"/>
                <a:ea typeface="Open Sans"/>
                <a:cs typeface="Open Sans"/>
                <a:sym typeface="Open Sans"/>
              </a:rPr>
              <a:t>Can contribute to emotional detachment, mistrust or repression of emotions, lack of boundaries, codependency, spiritual obsession, low self-esteem, sense of powerlessness, and social isolation</a:t>
            </a:r>
          </a:p>
        </p:txBody>
      </p:sp>
      <p:grpSp>
        <p:nvGrpSpPr>
          <p:cNvPr name="Group 9" id="9"/>
          <p:cNvGrpSpPr/>
          <p:nvPr/>
        </p:nvGrpSpPr>
        <p:grpSpPr>
          <a:xfrm rot="0">
            <a:off x="9144000" y="3966117"/>
            <a:ext cx="4134503" cy="5292183"/>
            <a:chOff x="0" y="0"/>
            <a:chExt cx="6097943" cy="7805395"/>
          </a:xfrm>
        </p:grpSpPr>
        <p:sp>
          <p:nvSpPr>
            <p:cNvPr name="Freeform 10" id="10"/>
            <p:cNvSpPr/>
            <p:nvPr/>
          </p:nvSpPr>
          <p:spPr>
            <a:xfrm flipH="false" flipV="false" rot="0">
              <a:off x="0" y="0"/>
              <a:ext cx="6097905" cy="7805420"/>
            </a:xfrm>
            <a:custGeom>
              <a:avLst/>
              <a:gdLst/>
              <a:ahLst/>
              <a:cxnLst/>
              <a:rect r="r" b="b" t="t" l="l"/>
              <a:pathLst>
                <a:path h="7805420" w="6097905">
                  <a:moveTo>
                    <a:pt x="0" y="0"/>
                  </a:moveTo>
                  <a:lnTo>
                    <a:pt x="6097905" y="0"/>
                  </a:lnTo>
                  <a:lnTo>
                    <a:pt x="6097905" y="7805420"/>
                  </a:lnTo>
                  <a:lnTo>
                    <a:pt x="0" y="7805420"/>
                  </a:lnTo>
                  <a:lnTo>
                    <a:pt x="0" y="0"/>
                  </a:lnTo>
                  <a:close/>
                </a:path>
              </a:pathLst>
            </a:custGeom>
            <a:blipFill>
              <a:blip r:embed="rId4"/>
              <a:stretch>
                <a:fillRect l="0" t="0" r="0" b="0"/>
              </a:stretch>
            </a:blipFill>
          </p:spPr>
        </p:sp>
      </p:grpSp>
      <p:grpSp>
        <p:nvGrpSpPr>
          <p:cNvPr name="Group 11" id="11"/>
          <p:cNvGrpSpPr/>
          <p:nvPr/>
        </p:nvGrpSpPr>
        <p:grpSpPr>
          <a:xfrm rot="0">
            <a:off x="12973050" y="1028700"/>
            <a:ext cx="4286250" cy="4286250"/>
            <a:chOff x="0" y="0"/>
            <a:chExt cx="5715000" cy="5715000"/>
          </a:xfrm>
        </p:grpSpPr>
        <p:sp>
          <p:nvSpPr>
            <p:cNvPr name="Freeform 12" id="12"/>
            <p:cNvSpPr/>
            <p:nvPr/>
          </p:nvSpPr>
          <p:spPr>
            <a:xfrm flipH="false" flipV="false" rot="0">
              <a:off x="0" y="0"/>
              <a:ext cx="5715000" cy="5715000"/>
            </a:xfrm>
            <a:custGeom>
              <a:avLst/>
              <a:gdLst/>
              <a:ahLst/>
              <a:cxnLst/>
              <a:rect r="r" b="b" t="t" l="l"/>
              <a:pathLst>
                <a:path h="5715000" w="5715000">
                  <a:moveTo>
                    <a:pt x="0" y="0"/>
                  </a:moveTo>
                  <a:lnTo>
                    <a:pt x="5715000" y="0"/>
                  </a:lnTo>
                  <a:lnTo>
                    <a:pt x="5715000" y="5715000"/>
                  </a:lnTo>
                  <a:lnTo>
                    <a:pt x="0" y="5715000"/>
                  </a:lnTo>
                  <a:lnTo>
                    <a:pt x="0" y="0"/>
                  </a:lnTo>
                  <a:close/>
                </a:path>
              </a:pathLst>
            </a:custGeom>
            <a:blipFill>
              <a:blip r:embed="rId5"/>
              <a:stretch>
                <a:fillRect l="0" t="0" r="0" b="0"/>
              </a:stretch>
            </a:blipFill>
          </p:spPr>
        </p:sp>
      </p:grpSp>
      <p:grpSp>
        <p:nvGrpSpPr>
          <p:cNvPr name="Group 13" id="13"/>
          <p:cNvGrpSpPr/>
          <p:nvPr/>
        </p:nvGrpSpPr>
        <p:grpSpPr>
          <a:xfrm rot="0">
            <a:off x="12727314" y="1028700"/>
            <a:ext cx="4531986" cy="4531986"/>
            <a:chOff x="0" y="0"/>
            <a:chExt cx="6612001" cy="6612001"/>
          </a:xfrm>
        </p:grpSpPr>
        <p:sp>
          <p:nvSpPr>
            <p:cNvPr name="Freeform 14" id="14"/>
            <p:cNvSpPr/>
            <p:nvPr/>
          </p:nvSpPr>
          <p:spPr>
            <a:xfrm flipH="false" flipV="false" rot="0">
              <a:off x="0" y="0"/>
              <a:ext cx="6612001" cy="6612001"/>
            </a:xfrm>
            <a:custGeom>
              <a:avLst/>
              <a:gdLst/>
              <a:ahLst/>
              <a:cxnLst/>
              <a:rect r="r" b="b" t="t" l="l"/>
              <a:pathLst>
                <a:path h="6612001" w="6612001">
                  <a:moveTo>
                    <a:pt x="0" y="0"/>
                  </a:moveTo>
                  <a:lnTo>
                    <a:pt x="6612001" y="0"/>
                  </a:lnTo>
                  <a:lnTo>
                    <a:pt x="6612001" y="6612001"/>
                  </a:lnTo>
                  <a:lnTo>
                    <a:pt x="0" y="6612001"/>
                  </a:lnTo>
                  <a:lnTo>
                    <a:pt x="0" y="0"/>
                  </a:lnTo>
                  <a:close/>
                </a:path>
              </a:pathLst>
            </a:custGeom>
            <a:blipFill>
              <a:blip r:embed="rId6"/>
              <a:stretch>
                <a:fillRect l="0" t="0" r="0" b="0"/>
              </a:stretch>
            </a:blipFill>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44000" y="-48"/>
            <a:ext cx="9144000" cy="10287000"/>
            <a:chOff x="0" y="0"/>
            <a:chExt cx="12192000" cy="13716000"/>
          </a:xfrm>
        </p:grpSpPr>
        <p:sp>
          <p:nvSpPr>
            <p:cNvPr name="Freeform 3" id="3"/>
            <p:cNvSpPr/>
            <p:nvPr/>
          </p:nvSpPr>
          <p:spPr>
            <a:xfrm flipH="false" flipV="false" rot="0">
              <a:off x="0" y="0"/>
              <a:ext cx="12192000" cy="13716000"/>
            </a:xfrm>
            <a:custGeom>
              <a:avLst/>
              <a:gdLst/>
              <a:ahLst/>
              <a:cxnLst/>
              <a:rect r="r" b="b" t="t" l="l"/>
              <a:pathLst>
                <a:path h="13716000" w="12192000">
                  <a:moveTo>
                    <a:pt x="0" y="0"/>
                  </a:moveTo>
                  <a:lnTo>
                    <a:pt x="12192000" y="0"/>
                  </a:lnTo>
                  <a:lnTo>
                    <a:pt x="12192000" y="13716000"/>
                  </a:lnTo>
                  <a:lnTo>
                    <a:pt x="0" y="13716000"/>
                  </a:lnTo>
                  <a:close/>
                </a:path>
              </a:pathLst>
            </a:custGeom>
            <a:solidFill>
              <a:srgbClr val="CCA677"/>
            </a:solidFill>
          </p:spPr>
        </p:sp>
      </p:grpSp>
      <p:sp>
        <p:nvSpPr>
          <p:cNvPr name="AutoShape 4" id="4"/>
          <p:cNvSpPr/>
          <p:nvPr/>
        </p:nvSpPr>
        <p:spPr>
          <a:xfrm rot="134280">
            <a:off x="10039931" y="8981475"/>
            <a:ext cx="975446" cy="0"/>
          </a:xfrm>
          <a:prstGeom prst="line">
            <a:avLst/>
          </a:prstGeom>
          <a:ln cap="rnd" w="19050">
            <a:solidFill>
              <a:srgbClr val="FFFFFF"/>
            </a:solidFill>
            <a:prstDash val="solid"/>
            <a:headEnd type="none" len="sm" w="sm"/>
            <a:tailEnd type="none" len="sm" w="sm"/>
          </a:ln>
        </p:spPr>
      </p:sp>
      <p:grpSp>
        <p:nvGrpSpPr>
          <p:cNvPr name="Group 5" id="5"/>
          <p:cNvGrpSpPr/>
          <p:nvPr/>
        </p:nvGrpSpPr>
        <p:grpSpPr>
          <a:xfrm rot="0">
            <a:off x="1028700" y="1028700"/>
            <a:ext cx="7592682" cy="2711653"/>
            <a:chOff x="0" y="0"/>
            <a:chExt cx="10123576" cy="3615538"/>
          </a:xfrm>
        </p:grpSpPr>
        <p:sp>
          <p:nvSpPr>
            <p:cNvPr name="Freeform 6" id="6"/>
            <p:cNvSpPr/>
            <p:nvPr/>
          </p:nvSpPr>
          <p:spPr>
            <a:xfrm flipH="false" flipV="false" rot="0">
              <a:off x="0" y="0"/>
              <a:ext cx="10123574" cy="3615534"/>
            </a:xfrm>
            <a:custGeom>
              <a:avLst/>
              <a:gdLst/>
              <a:ahLst/>
              <a:cxnLst/>
              <a:rect r="r" b="b" t="t" l="l"/>
              <a:pathLst>
                <a:path h="3615534" w="10123574">
                  <a:moveTo>
                    <a:pt x="0" y="0"/>
                  </a:moveTo>
                  <a:lnTo>
                    <a:pt x="10123574" y="0"/>
                  </a:lnTo>
                  <a:lnTo>
                    <a:pt x="10123574" y="3615534"/>
                  </a:lnTo>
                  <a:lnTo>
                    <a:pt x="0" y="3615534"/>
                  </a:lnTo>
                  <a:close/>
                </a:path>
              </a:pathLst>
            </a:custGeom>
            <a:blipFill>
              <a:blip r:embed="rId3">
                <a:alphaModFix amt="0"/>
              </a:blip>
              <a:stretch>
                <a:fillRect l="0" t="-85" r="-6555" b="-16184"/>
              </a:stretch>
            </a:blipFill>
          </p:spPr>
        </p:sp>
        <p:sp>
          <p:nvSpPr>
            <p:cNvPr name="TextBox 7" id="7"/>
            <p:cNvSpPr txBox="true"/>
            <p:nvPr/>
          </p:nvSpPr>
          <p:spPr>
            <a:xfrm>
              <a:off x="0" y="-9525"/>
              <a:ext cx="10123576" cy="3625063"/>
            </a:xfrm>
            <a:prstGeom prst="rect">
              <a:avLst/>
            </a:prstGeom>
          </p:spPr>
          <p:txBody>
            <a:bodyPr anchor="b" rtlCol="false" tIns="0" lIns="0" bIns="0" rIns="0"/>
            <a:lstStyle/>
            <a:p>
              <a:pPr algn="ctr">
                <a:lnSpc>
                  <a:spcPts val="10080"/>
                </a:lnSpc>
              </a:pPr>
              <a:r>
                <a:rPr lang="en-US" sz="8400">
                  <a:solidFill>
                    <a:srgbClr val="CCA677"/>
                  </a:solidFill>
                  <a:latin typeface="Economica"/>
                  <a:ea typeface="Economica"/>
                  <a:cs typeface="Economica"/>
                  <a:sym typeface="Economica"/>
                </a:rPr>
                <a:t>A quick word about Spiritual Bypassing</a:t>
              </a:r>
            </a:p>
          </p:txBody>
        </p:sp>
      </p:grpSp>
      <p:sp>
        <p:nvSpPr>
          <p:cNvPr name="TextBox 8" id="8"/>
          <p:cNvSpPr txBox="true"/>
          <p:nvPr/>
        </p:nvSpPr>
        <p:spPr>
          <a:xfrm rot="0">
            <a:off x="1270856" y="3956592"/>
            <a:ext cx="7108370" cy="5301708"/>
          </a:xfrm>
          <a:prstGeom prst="rect">
            <a:avLst/>
          </a:prstGeom>
        </p:spPr>
        <p:txBody>
          <a:bodyPr anchor="t" rtlCol="false" tIns="0" lIns="0" bIns="0" rIns="0">
            <a:spAutoFit/>
          </a:bodyPr>
          <a:lstStyle/>
          <a:p>
            <a:pPr algn="l">
              <a:lnSpc>
                <a:spcPts val="3530"/>
              </a:lnSpc>
            </a:pPr>
            <a:r>
              <a:rPr lang="en-US" sz="2842">
                <a:solidFill>
                  <a:srgbClr val="000000"/>
                </a:solidFill>
                <a:latin typeface="Open Sans"/>
                <a:ea typeface="Open Sans"/>
                <a:cs typeface="Open Sans"/>
                <a:sym typeface="Open Sans"/>
              </a:rPr>
              <a:t>Spiritual Bypassing = the use of spiritual beliefs, practices, or language to avoid dealing with uncomfortable issues; using “Bandaid Bible Verses” or religious platitudes to minimize or dismiss negative emotions</a:t>
            </a:r>
          </a:p>
          <a:p>
            <a:pPr algn="l">
              <a:lnSpc>
                <a:spcPts val="3530"/>
              </a:lnSpc>
            </a:pPr>
          </a:p>
          <a:p>
            <a:pPr algn="l">
              <a:lnSpc>
                <a:spcPts val="3530"/>
              </a:lnSpc>
            </a:pPr>
            <a:r>
              <a:rPr lang="en-US" sz="2842">
                <a:solidFill>
                  <a:srgbClr val="000000"/>
                </a:solidFill>
                <a:latin typeface="Open Sans"/>
                <a:ea typeface="Open Sans"/>
                <a:cs typeface="Open Sans"/>
                <a:sym typeface="Open Sans"/>
              </a:rPr>
              <a:t>Can contribute to emotional detachment, mistrust or repression of emotions, lack of boundaries, codependency, spiritual obsession, low self-esteem, sense of powerlessness, and social isolation</a:t>
            </a:r>
          </a:p>
        </p:txBody>
      </p:sp>
      <p:grpSp>
        <p:nvGrpSpPr>
          <p:cNvPr name="Group 9" id="9"/>
          <p:cNvGrpSpPr/>
          <p:nvPr/>
        </p:nvGrpSpPr>
        <p:grpSpPr>
          <a:xfrm rot="0">
            <a:off x="9144000" y="3966117"/>
            <a:ext cx="4134503" cy="5292183"/>
            <a:chOff x="0" y="0"/>
            <a:chExt cx="6097943" cy="7805395"/>
          </a:xfrm>
        </p:grpSpPr>
        <p:sp>
          <p:nvSpPr>
            <p:cNvPr name="Freeform 10" id="10"/>
            <p:cNvSpPr/>
            <p:nvPr/>
          </p:nvSpPr>
          <p:spPr>
            <a:xfrm flipH="false" flipV="false" rot="0">
              <a:off x="0" y="0"/>
              <a:ext cx="6097905" cy="7805420"/>
            </a:xfrm>
            <a:custGeom>
              <a:avLst/>
              <a:gdLst/>
              <a:ahLst/>
              <a:cxnLst/>
              <a:rect r="r" b="b" t="t" l="l"/>
              <a:pathLst>
                <a:path h="7805420" w="6097905">
                  <a:moveTo>
                    <a:pt x="0" y="0"/>
                  </a:moveTo>
                  <a:lnTo>
                    <a:pt x="6097905" y="0"/>
                  </a:lnTo>
                  <a:lnTo>
                    <a:pt x="6097905" y="7805420"/>
                  </a:lnTo>
                  <a:lnTo>
                    <a:pt x="0" y="7805420"/>
                  </a:lnTo>
                  <a:lnTo>
                    <a:pt x="0" y="0"/>
                  </a:lnTo>
                  <a:close/>
                </a:path>
              </a:pathLst>
            </a:custGeom>
            <a:blipFill>
              <a:blip r:embed="rId4"/>
              <a:stretch>
                <a:fillRect l="0" t="0" r="0" b="0"/>
              </a:stretch>
            </a:blipFill>
          </p:spPr>
        </p:sp>
      </p:grpSp>
      <p:grpSp>
        <p:nvGrpSpPr>
          <p:cNvPr name="Group 11" id="11"/>
          <p:cNvGrpSpPr/>
          <p:nvPr/>
        </p:nvGrpSpPr>
        <p:grpSpPr>
          <a:xfrm rot="0">
            <a:off x="12973050" y="1028700"/>
            <a:ext cx="4286250" cy="4286250"/>
            <a:chOff x="0" y="0"/>
            <a:chExt cx="5715000" cy="5715000"/>
          </a:xfrm>
        </p:grpSpPr>
        <p:sp>
          <p:nvSpPr>
            <p:cNvPr name="Freeform 12" id="12"/>
            <p:cNvSpPr/>
            <p:nvPr/>
          </p:nvSpPr>
          <p:spPr>
            <a:xfrm flipH="false" flipV="false" rot="0">
              <a:off x="0" y="0"/>
              <a:ext cx="5715000" cy="5715000"/>
            </a:xfrm>
            <a:custGeom>
              <a:avLst/>
              <a:gdLst/>
              <a:ahLst/>
              <a:cxnLst/>
              <a:rect r="r" b="b" t="t" l="l"/>
              <a:pathLst>
                <a:path h="5715000" w="5715000">
                  <a:moveTo>
                    <a:pt x="0" y="0"/>
                  </a:moveTo>
                  <a:lnTo>
                    <a:pt x="5715000" y="0"/>
                  </a:lnTo>
                  <a:lnTo>
                    <a:pt x="5715000" y="5715000"/>
                  </a:lnTo>
                  <a:lnTo>
                    <a:pt x="0" y="5715000"/>
                  </a:lnTo>
                  <a:lnTo>
                    <a:pt x="0" y="0"/>
                  </a:lnTo>
                  <a:close/>
                </a:path>
              </a:pathLst>
            </a:custGeom>
            <a:blipFill>
              <a:blip r:embed="rId5"/>
              <a:stretch>
                <a:fillRect l="0" t="0" r="0" b="0"/>
              </a:stretch>
            </a:blipFill>
          </p:spPr>
        </p:sp>
      </p:grpSp>
      <p:grpSp>
        <p:nvGrpSpPr>
          <p:cNvPr name="Group 13" id="13"/>
          <p:cNvGrpSpPr/>
          <p:nvPr/>
        </p:nvGrpSpPr>
        <p:grpSpPr>
          <a:xfrm rot="0">
            <a:off x="12727314" y="1028700"/>
            <a:ext cx="4531986" cy="4531986"/>
            <a:chOff x="0" y="0"/>
            <a:chExt cx="6612001" cy="6612001"/>
          </a:xfrm>
        </p:grpSpPr>
        <p:sp>
          <p:nvSpPr>
            <p:cNvPr name="Freeform 14" id="14"/>
            <p:cNvSpPr/>
            <p:nvPr/>
          </p:nvSpPr>
          <p:spPr>
            <a:xfrm flipH="false" flipV="false" rot="0">
              <a:off x="0" y="0"/>
              <a:ext cx="6612001" cy="6612001"/>
            </a:xfrm>
            <a:custGeom>
              <a:avLst/>
              <a:gdLst/>
              <a:ahLst/>
              <a:cxnLst/>
              <a:rect r="r" b="b" t="t" l="l"/>
              <a:pathLst>
                <a:path h="6612001" w="6612001">
                  <a:moveTo>
                    <a:pt x="0" y="0"/>
                  </a:moveTo>
                  <a:lnTo>
                    <a:pt x="6612001" y="0"/>
                  </a:lnTo>
                  <a:lnTo>
                    <a:pt x="6612001" y="6612001"/>
                  </a:lnTo>
                  <a:lnTo>
                    <a:pt x="0" y="6612001"/>
                  </a:lnTo>
                  <a:lnTo>
                    <a:pt x="0" y="0"/>
                  </a:lnTo>
                  <a:close/>
                </a:path>
              </a:pathLst>
            </a:custGeom>
            <a:blipFill>
              <a:blip r:embed="rId6"/>
              <a:stretch>
                <a:fillRect l="0" t="0" r="0" b="0"/>
              </a:stretch>
            </a:blipFill>
          </p:spPr>
        </p:sp>
      </p:grpSp>
      <p:grpSp>
        <p:nvGrpSpPr>
          <p:cNvPr name="Group 15" id="15"/>
          <p:cNvGrpSpPr/>
          <p:nvPr/>
        </p:nvGrpSpPr>
        <p:grpSpPr>
          <a:xfrm rot="0">
            <a:off x="9144000" y="4299299"/>
            <a:ext cx="4959001" cy="4959001"/>
            <a:chOff x="0" y="0"/>
            <a:chExt cx="6612001" cy="6612001"/>
          </a:xfrm>
        </p:grpSpPr>
        <p:sp>
          <p:nvSpPr>
            <p:cNvPr name="Freeform 16" id="16"/>
            <p:cNvSpPr/>
            <p:nvPr/>
          </p:nvSpPr>
          <p:spPr>
            <a:xfrm flipH="false" flipV="false" rot="0">
              <a:off x="0" y="0"/>
              <a:ext cx="6612001" cy="6612001"/>
            </a:xfrm>
            <a:custGeom>
              <a:avLst/>
              <a:gdLst/>
              <a:ahLst/>
              <a:cxnLst/>
              <a:rect r="r" b="b" t="t" l="l"/>
              <a:pathLst>
                <a:path h="6612001" w="6612001">
                  <a:moveTo>
                    <a:pt x="0" y="0"/>
                  </a:moveTo>
                  <a:lnTo>
                    <a:pt x="6612001" y="0"/>
                  </a:lnTo>
                  <a:lnTo>
                    <a:pt x="6612001" y="6612001"/>
                  </a:lnTo>
                  <a:lnTo>
                    <a:pt x="0" y="6612001"/>
                  </a:lnTo>
                  <a:lnTo>
                    <a:pt x="0" y="0"/>
                  </a:lnTo>
                  <a:close/>
                </a:path>
              </a:pathLst>
            </a:custGeom>
            <a:blipFill>
              <a:blip r:embed="rId7"/>
              <a:stretch>
                <a:fillRect l="0" t="0" r="0" b="0"/>
              </a:stretch>
            </a:blipFill>
          </p:spPr>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091404"/>
            <a:ext cx="18288000" cy="195596"/>
            <a:chOff x="0" y="0"/>
            <a:chExt cx="24384000" cy="260794"/>
          </a:xfrm>
        </p:grpSpPr>
        <p:sp>
          <p:nvSpPr>
            <p:cNvPr name="Freeform 3" id="3"/>
            <p:cNvSpPr/>
            <p:nvPr/>
          </p:nvSpPr>
          <p:spPr>
            <a:xfrm flipH="false" flipV="false" rot="0">
              <a:off x="0" y="0"/>
              <a:ext cx="24384000" cy="260858"/>
            </a:xfrm>
            <a:custGeom>
              <a:avLst/>
              <a:gdLst/>
              <a:ahLst/>
              <a:cxnLst/>
              <a:rect r="r" b="b" t="t" l="l"/>
              <a:pathLst>
                <a:path h="260858" w="24384000">
                  <a:moveTo>
                    <a:pt x="0" y="0"/>
                  </a:moveTo>
                  <a:lnTo>
                    <a:pt x="24384000" y="0"/>
                  </a:lnTo>
                  <a:lnTo>
                    <a:pt x="24384000" y="260858"/>
                  </a:lnTo>
                  <a:lnTo>
                    <a:pt x="0" y="260858"/>
                  </a:lnTo>
                  <a:close/>
                </a:path>
              </a:pathLst>
            </a:custGeom>
            <a:solidFill>
              <a:srgbClr val="CCA677"/>
            </a:solidFill>
          </p:spPr>
        </p:sp>
      </p:grpSp>
      <p:grpSp>
        <p:nvGrpSpPr>
          <p:cNvPr name="Group 4" id="4"/>
          <p:cNvGrpSpPr/>
          <p:nvPr/>
        </p:nvGrpSpPr>
        <p:grpSpPr>
          <a:xfrm rot="0">
            <a:off x="1028700" y="1028700"/>
            <a:ext cx="16230600" cy="1662600"/>
            <a:chOff x="0" y="0"/>
            <a:chExt cx="21640800" cy="2216800"/>
          </a:xfrm>
        </p:grpSpPr>
        <p:sp>
          <p:nvSpPr>
            <p:cNvPr name="Freeform 5" id="5"/>
            <p:cNvSpPr/>
            <p:nvPr/>
          </p:nvSpPr>
          <p:spPr>
            <a:xfrm flipH="false" flipV="false" rot="0">
              <a:off x="0" y="0"/>
              <a:ext cx="21640805" cy="2216802"/>
            </a:xfrm>
            <a:custGeom>
              <a:avLst/>
              <a:gdLst/>
              <a:ahLst/>
              <a:cxnLst/>
              <a:rect r="r" b="b" t="t" l="l"/>
              <a:pathLst>
                <a:path h="2216802" w="21640805">
                  <a:moveTo>
                    <a:pt x="0" y="0"/>
                  </a:moveTo>
                  <a:lnTo>
                    <a:pt x="21640805" y="0"/>
                  </a:lnTo>
                  <a:lnTo>
                    <a:pt x="21640805" y="2216802"/>
                  </a:lnTo>
                  <a:lnTo>
                    <a:pt x="0" y="2216802"/>
                  </a:lnTo>
                  <a:close/>
                </a:path>
              </a:pathLst>
            </a:custGeom>
            <a:blipFill>
              <a:blip r:embed="rId3">
                <a:alphaModFix amt="0"/>
              </a:blip>
              <a:stretch>
                <a:fillRect l="0" t="-149716" r="-4994" b="-149716"/>
              </a:stretch>
            </a:blipFill>
          </p:spPr>
        </p:sp>
        <p:sp>
          <p:nvSpPr>
            <p:cNvPr name="TextBox 6" id="6"/>
            <p:cNvSpPr txBox="true"/>
            <p:nvPr/>
          </p:nvSpPr>
          <p:spPr>
            <a:xfrm>
              <a:off x="0" y="-9525"/>
              <a:ext cx="21640800" cy="2226325"/>
            </a:xfrm>
            <a:prstGeom prst="rect">
              <a:avLst/>
            </a:prstGeom>
          </p:spPr>
          <p:txBody>
            <a:bodyPr anchor="b" rtlCol="false" tIns="0" lIns="0" bIns="0" rIns="0"/>
            <a:lstStyle/>
            <a:p>
              <a:pPr algn="l">
                <a:lnSpc>
                  <a:spcPts val="10080"/>
                </a:lnSpc>
              </a:pPr>
              <a:r>
                <a:rPr lang="en-US" sz="8400">
                  <a:solidFill>
                    <a:srgbClr val="000000"/>
                  </a:solidFill>
                  <a:latin typeface="Economica"/>
                  <a:ea typeface="Economica"/>
                  <a:cs typeface="Economica"/>
                  <a:sym typeface="Economica"/>
                </a:rPr>
                <a:t>What Does Spiritual Trauma Look Like?</a:t>
              </a:r>
            </a:p>
          </p:txBody>
        </p:sp>
      </p:grpSp>
      <p:sp>
        <p:nvSpPr>
          <p:cNvPr name="TextBox 7" id="7"/>
          <p:cNvSpPr txBox="true"/>
          <p:nvPr/>
        </p:nvSpPr>
        <p:spPr>
          <a:xfrm rot="0">
            <a:off x="1028700" y="2915195"/>
            <a:ext cx="16230600" cy="5048098"/>
          </a:xfrm>
          <a:prstGeom prst="rect">
            <a:avLst/>
          </a:prstGeom>
        </p:spPr>
        <p:txBody>
          <a:bodyPr anchor="t" rtlCol="false" tIns="0" lIns="0" bIns="0" rIns="0">
            <a:spAutoFit/>
          </a:bodyPr>
          <a:lstStyle/>
          <a:p>
            <a:pPr algn="l">
              <a:lnSpc>
                <a:spcPts val="4471"/>
              </a:lnSpc>
            </a:pPr>
            <a:r>
              <a:rPr lang="en-US" sz="3600">
                <a:solidFill>
                  <a:srgbClr val="000000"/>
                </a:solidFill>
                <a:latin typeface="Open Sans"/>
                <a:ea typeface="Open Sans"/>
                <a:cs typeface="Open Sans"/>
                <a:sym typeface="Open Sans"/>
              </a:rPr>
              <a:t>Possible warning signs: bullying, manipulation, condemnation, excessive demands, and threats to personal identity or relationship with God or the sacred</a:t>
            </a:r>
          </a:p>
          <a:p>
            <a:pPr algn="l">
              <a:lnSpc>
                <a:spcPts val="4471"/>
              </a:lnSpc>
            </a:pPr>
            <a:r>
              <a:rPr lang="en-US" sz="3600">
                <a:solidFill>
                  <a:srgbClr val="000000"/>
                </a:solidFill>
                <a:latin typeface="Open Sans"/>
                <a:ea typeface="Open Sans"/>
                <a:cs typeface="Open Sans"/>
                <a:sym typeface="Open Sans"/>
              </a:rPr>
              <a:t>Leaders use their spiritual position “to control or dominate another person” or use power “to bolster the position or needs of a leader.”</a:t>
            </a:r>
          </a:p>
          <a:p>
            <a:pPr algn="l">
              <a:lnSpc>
                <a:spcPts val="4471"/>
              </a:lnSpc>
            </a:pPr>
            <a:r>
              <a:rPr lang="en-US" sz="3600">
                <a:solidFill>
                  <a:srgbClr val="000000"/>
                </a:solidFill>
                <a:latin typeface="Open Sans"/>
                <a:ea typeface="Open Sans"/>
                <a:cs typeface="Open Sans"/>
                <a:sym typeface="Open Sans"/>
              </a:rPr>
              <a:t>Experiencing coercive control or events that threaten or damage your core spiritual values and goals</a:t>
            </a:r>
          </a:p>
          <a:p>
            <a:pPr algn="l">
              <a:lnSpc>
                <a:spcPts val="4471"/>
              </a:lnSpc>
            </a:pPr>
            <a:r>
              <a:rPr lang="en-US" sz="3600">
                <a:solidFill>
                  <a:srgbClr val="000000"/>
                </a:solidFill>
                <a:latin typeface="Open Sans"/>
                <a:ea typeface="Open Sans"/>
                <a:cs typeface="Open Sans"/>
                <a:sym typeface="Open Sans"/>
              </a:rPr>
              <a:t>Harm may be amplified by betrayal within a sacred system that was expected to comfort, protect, accept, and provide positive experiences.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028700"/>
            <a:ext cx="16230600" cy="1662600"/>
            <a:chOff x="0" y="0"/>
            <a:chExt cx="21640800" cy="2216800"/>
          </a:xfrm>
        </p:grpSpPr>
        <p:sp>
          <p:nvSpPr>
            <p:cNvPr name="Freeform 3" id="3"/>
            <p:cNvSpPr/>
            <p:nvPr/>
          </p:nvSpPr>
          <p:spPr>
            <a:xfrm flipH="false" flipV="false" rot="0">
              <a:off x="0" y="0"/>
              <a:ext cx="21640805" cy="2216802"/>
            </a:xfrm>
            <a:custGeom>
              <a:avLst/>
              <a:gdLst/>
              <a:ahLst/>
              <a:cxnLst/>
              <a:rect r="r" b="b" t="t" l="l"/>
              <a:pathLst>
                <a:path h="2216802" w="21640805">
                  <a:moveTo>
                    <a:pt x="0" y="0"/>
                  </a:moveTo>
                  <a:lnTo>
                    <a:pt x="21640805" y="0"/>
                  </a:lnTo>
                  <a:lnTo>
                    <a:pt x="21640805" y="2216802"/>
                  </a:lnTo>
                  <a:lnTo>
                    <a:pt x="0" y="2216802"/>
                  </a:lnTo>
                  <a:close/>
                </a:path>
              </a:pathLst>
            </a:custGeom>
            <a:blipFill>
              <a:blip r:embed="rId3">
                <a:alphaModFix amt="0"/>
              </a:blip>
              <a:stretch>
                <a:fillRect l="0" t="-149716" r="-4994" b="-149716"/>
              </a:stretch>
            </a:blipFill>
          </p:spPr>
        </p:sp>
        <p:sp>
          <p:nvSpPr>
            <p:cNvPr name="TextBox 4" id="4"/>
            <p:cNvSpPr txBox="true"/>
            <p:nvPr/>
          </p:nvSpPr>
          <p:spPr>
            <a:xfrm>
              <a:off x="0" y="-9525"/>
              <a:ext cx="21640800" cy="2226325"/>
            </a:xfrm>
            <a:prstGeom prst="rect">
              <a:avLst/>
            </a:prstGeom>
          </p:spPr>
          <p:txBody>
            <a:bodyPr anchor="b" rtlCol="false" tIns="0" lIns="0" bIns="0" rIns="0"/>
            <a:lstStyle/>
            <a:p>
              <a:pPr algn="l">
                <a:lnSpc>
                  <a:spcPts val="10080"/>
                </a:lnSpc>
              </a:pPr>
              <a:r>
                <a:rPr lang="en-US" sz="8400">
                  <a:solidFill>
                    <a:srgbClr val="000000"/>
                  </a:solidFill>
                  <a:latin typeface="Economica"/>
                  <a:ea typeface="Economica"/>
                  <a:cs typeface="Economica"/>
                  <a:sym typeface="Economica"/>
                </a:rPr>
                <a:t>What Does Spiritual Trauma Look Like?</a:t>
              </a:r>
            </a:p>
          </p:txBody>
        </p:sp>
      </p:grpSp>
      <p:sp>
        <p:nvSpPr>
          <p:cNvPr name="TextBox 5" id="5"/>
          <p:cNvSpPr txBox="true"/>
          <p:nvPr/>
        </p:nvSpPr>
        <p:spPr>
          <a:xfrm rot="0">
            <a:off x="1028700" y="2795294"/>
            <a:ext cx="7620868" cy="6408420"/>
          </a:xfrm>
          <a:prstGeom prst="rect">
            <a:avLst/>
          </a:prstGeom>
        </p:spPr>
        <p:txBody>
          <a:bodyPr anchor="t" rtlCol="false" tIns="0" lIns="0" bIns="0" rIns="0">
            <a:spAutoFit/>
          </a:bodyPr>
          <a:lstStyle/>
          <a:p>
            <a:pPr algn="l">
              <a:lnSpc>
                <a:spcPts val="4140"/>
              </a:lnSpc>
            </a:pPr>
            <a:r>
              <a:rPr lang="en-US" sz="3000">
                <a:solidFill>
                  <a:srgbClr val="000000"/>
                </a:solidFill>
                <a:latin typeface="Open Sans"/>
                <a:ea typeface="Open Sans"/>
                <a:cs typeface="Open Sans"/>
                <a:sym typeface="Open Sans"/>
              </a:rPr>
              <a:t>Claiming Divine Authority — Using God or spiritual authority to control others or serve the needs of the abuser</a:t>
            </a:r>
          </a:p>
          <a:p>
            <a:pPr algn="l">
              <a:lnSpc>
                <a:spcPts val="2760"/>
              </a:lnSpc>
            </a:pPr>
          </a:p>
          <a:p>
            <a:pPr algn="l">
              <a:lnSpc>
                <a:spcPts val="4140"/>
              </a:lnSpc>
            </a:pPr>
            <a:r>
              <a:rPr lang="en-US" sz="3000">
                <a:solidFill>
                  <a:srgbClr val="000000"/>
                </a:solidFill>
                <a:latin typeface="Open Sans"/>
                <a:ea typeface="Open Sans"/>
                <a:cs typeface="Open Sans"/>
                <a:sym typeface="Open Sans"/>
              </a:rPr>
              <a:t>Emotional Abuse - Using Beliefs to Embarrass, Shame, or Humiliate you</a:t>
            </a:r>
          </a:p>
          <a:p>
            <a:pPr algn="l">
              <a:lnSpc>
                <a:spcPts val="2760"/>
              </a:lnSpc>
            </a:pPr>
          </a:p>
          <a:p>
            <a:pPr algn="l">
              <a:lnSpc>
                <a:spcPts val="4140"/>
              </a:lnSpc>
            </a:pPr>
            <a:r>
              <a:rPr lang="en-US" sz="3000">
                <a:solidFill>
                  <a:srgbClr val="000000"/>
                </a:solidFill>
                <a:latin typeface="Open Sans"/>
                <a:ea typeface="Open Sans"/>
                <a:cs typeface="Open Sans"/>
                <a:sym typeface="Open Sans"/>
              </a:rPr>
              <a:t>Acceptance via performance</a:t>
            </a:r>
          </a:p>
          <a:p>
            <a:pPr algn="l">
              <a:lnSpc>
                <a:spcPts val="2760"/>
              </a:lnSpc>
            </a:pPr>
          </a:p>
          <a:p>
            <a:pPr algn="l">
              <a:lnSpc>
                <a:spcPts val="4140"/>
              </a:lnSpc>
            </a:pPr>
            <a:r>
              <a:rPr lang="en-US" sz="3000">
                <a:solidFill>
                  <a:srgbClr val="000000"/>
                </a:solidFill>
                <a:latin typeface="Open Sans"/>
                <a:ea typeface="Open Sans"/>
                <a:cs typeface="Open Sans"/>
                <a:sym typeface="Open Sans"/>
              </a:rPr>
              <a:t>Financial Exploitation</a:t>
            </a:r>
          </a:p>
          <a:p>
            <a:pPr algn="l">
              <a:lnSpc>
                <a:spcPts val="2760"/>
              </a:lnSpc>
            </a:pPr>
          </a:p>
          <a:p>
            <a:pPr algn="l">
              <a:lnSpc>
                <a:spcPts val="4140"/>
              </a:lnSpc>
            </a:pPr>
            <a:r>
              <a:rPr lang="en-US" sz="3000">
                <a:solidFill>
                  <a:srgbClr val="000000"/>
                </a:solidFill>
                <a:latin typeface="Open Sans"/>
                <a:ea typeface="Open Sans"/>
                <a:cs typeface="Open Sans"/>
                <a:sym typeface="Open Sans"/>
              </a:rPr>
              <a:t>Physical Abuse</a:t>
            </a:r>
          </a:p>
          <a:p>
            <a:pPr algn="l">
              <a:lnSpc>
                <a:spcPts val="2760"/>
              </a:lnSpc>
            </a:pPr>
          </a:p>
          <a:p>
            <a:pPr algn="l">
              <a:lnSpc>
                <a:spcPts val="4140"/>
              </a:lnSpc>
            </a:pPr>
            <a:r>
              <a:rPr lang="en-US" sz="3000">
                <a:solidFill>
                  <a:srgbClr val="000000"/>
                </a:solidFill>
                <a:latin typeface="Open Sans"/>
                <a:ea typeface="Open Sans"/>
                <a:cs typeface="Open Sans"/>
                <a:sym typeface="Open Sans"/>
              </a:rPr>
              <a:t>Sexual Abuse</a:t>
            </a:r>
          </a:p>
        </p:txBody>
      </p:sp>
      <p:sp>
        <p:nvSpPr>
          <p:cNvPr name="TextBox 6" id="6"/>
          <p:cNvSpPr txBox="true"/>
          <p:nvPr/>
        </p:nvSpPr>
        <p:spPr>
          <a:xfrm rot="0">
            <a:off x="9548028" y="2833394"/>
            <a:ext cx="7711272" cy="6260973"/>
          </a:xfrm>
          <a:prstGeom prst="rect">
            <a:avLst/>
          </a:prstGeom>
        </p:spPr>
        <p:txBody>
          <a:bodyPr anchor="t" rtlCol="false" tIns="0" lIns="0" bIns="0" rIns="0">
            <a:spAutoFit/>
          </a:bodyPr>
          <a:lstStyle/>
          <a:p>
            <a:pPr algn="l">
              <a:lnSpc>
                <a:spcPts val="3726"/>
              </a:lnSpc>
            </a:pPr>
            <a:r>
              <a:rPr lang="en-US" sz="3000">
                <a:solidFill>
                  <a:srgbClr val="000000"/>
                </a:solidFill>
                <a:latin typeface="Open Sans"/>
                <a:ea typeface="Open Sans"/>
                <a:cs typeface="Open Sans"/>
                <a:sym typeface="Open Sans"/>
              </a:rPr>
              <a:t>Using Fear to Coerce You into Following Beliefs or Scripture</a:t>
            </a:r>
          </a:p>
          <a:p>
            <a:pPr algn="l">
              <a:lnSpc>
                <a:spcPts val="3178"/>
              </a:lnSpc>
            </a:pPr>
          </a:p>
          <a:p>
            <a:pPr algn="l">
              <a:lnSpc>
                <a:spcPts val="3726"/>
              </a:lnSpc>
            </a:pPr>
            <a:r>
              <a:rPr lang="en-US" sz="3000">
                <a:solidFill>
                  <a:srgbClr val="000000"/>
                </a:solidFill>
                <a:latin typeface="Open Sans"/>
                <a:ea typeface="Open Sans"/>
                <a:cs typeface="Open Sans"/>
                <a:sym typeface="Open Sans"/>
              </a:rPr>
              <a:t>Using Beliefs to Justify Abuse or to Maintain an Abusive Relationship</a:t>
            </a:r>
          </a:p>
          <a:p>
            <a:pPr algn="l">
              <a:lnSpc>
                <a:spcPts val="3178"/>
              </a:lnSpc>
            </a:pPr>
          </a:p>
          <a:p>
            <a:pPr algn="l">
              <a:lnSpc>
                <a:spcPts val="3726"/>
              </a:lnSpc>
            </a:pPr>
            <a:r>
              <a:rPr lang="en-US" sz="3000">
                <a:solidFill>
                  <a:srgbClr val="000000"/>
                </a:solidFill>
                <a:latin typeface="Open Sans"/>
                <a:ea typeface="Open Sans"/>
                <a:cs typeface="Open Sans"/>
                <a:sym typeface="Open Sans"/>
              </a:rPr>
              <a:t>Isolating, or Threatening Isolation, If You Choose to Leave</a:t>
            </a:r>
          </a:p>
          <a:p>
            <a:pPr algn="l">
              <a:lnSpc>
                <a:spcPts val="3178"/>
              </a:lnSpc>
            </a:pPr>
          </a:p>
          <a:p>
            <a:pPr algn="l">
              <a:lnSpc>
                <a:spcPts val="3726"/>
              </a:lnSpc>
            </a:pPr>
            <a:r>
              <a:rPr lang="en-US" sz="3000">
                <a:solidFill>
                  <a:srgbClr val="000000"/>
                </a:solidFill>
                <a:latin typeface="Open Sans"/>
                <a:ea typeface="Open Sans"/>
                <a:cs typeface="Open Sans"/>
                <a:sym typeface="Open Sans"/>
              </a:rPr>
              <a:t>Insulting or Belittling Other Belief Systems to Promote Fear, Superiority, or Isolation</a:t>
            </a:r>
          </a:p>
          <a:p>
            <a:pPr algn="l">
              <a:lnSpc>
                <a:spcPts val="3178"/>
              </a:lnSpc>
            </a:pPr>
          </a:p>
          <a:p>
            <a:pPr algn="l">
              <a:lnSpc>
                <a:spcPts val="3726"/>
              </a:lnSpc>
            </a:pPr>
            <a:r>
              <a:rPr lang="en-US" sz="3000">
                <a:solidFill>
                  <a:srgbClr val="000000"/>
                </a:solidFill>
                <a:latin typeface="Open Sans"/>
                <a:ea typeface="Open Sans"/>
                <a:cs typeface="Open Sans"/>
                <a:sym typeface="Open Sans"/>
              </a:rPr>
              <a:t>Using Beliefs to Discriminate Against Your Gender, Race, or Sexuality</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091404"/>
            <a:ext cx="18288000" cy="195596"/>
            <a:chOff x="0" y="0"/>
            <a:chExt cx="24384000" cy="260794"/>
          </a:xfrm>
        </p:grpSpPr>
        <p:sp>
          <p:nvSpPr>
            <p:cNvPr name="Freeform 3" id="3"/>
            <p:cNvSpPr/>
            <p:nvPr/>
          </p:nvSpPr>
          <p:spPr>
            <a:xfrm flipH="false" flipV="false" rot="0">
              <a:off x="0" y="0"/>
              <a:ext cx="24384000" cy="260858"/>
            </a:xfrm>
            <a:custGeom>
              <a:avLst/>
              <a:gdLst/>
              <a:ahLst/>
              <a:cxnLst/>
              <a:rect r="r" b="b" t="t" l="l"/>
              <a:pathLst>
                <a:path h="260858" w="24384000">
                  <a:moveTo>
                    <a:pt x="0" y="0"/>
                  </a:moveTo>
                  <a:lnTo>
                    <a:pt x="24384000" y="0"/>
                  </a:lnTo>
                  <a:lnTo>
                    <a:pt x="24384000" y="260858"/>
                  </a:lnTo>
                  <a:lnTo>
                    <a:pt x="0" y="260858"/>
                  </a:lnTo>
                  <a:close/>
                </a:path>
              </a:pathLst>
            </a:custGeom>
            <a:solidFill>
              <a:srgbClr val="CCA677"/>
            </a:solidFill>
          </p:spPr>
        </p:sp>
      </p:grpSp>
      <p:grpSp>
        <p:nvGrpSpPr>
          <p:cNvPr name="Group 4" id="4"/>
          <p:cNvGrpSpPr/>
          <p:nvPr/>
        </p:nvGrpSpPr>
        <p:grpSpPr>
          <a:xfrm rot="0">
            <a:off x="1028700" y="1028700"/>
            <a:ext cx="16230600" cy="1435303"/>
            <a:chOff x="0" y="0"/>
            <a:chExt cx="21640800" cy="1913738"/>
          </a:xfrm>
        </p:grpSpPr>
        <p:sp>
          <p:nvSpPr>
            <p:cNvPr name="Freeform 5" id="5"/>
            <p:cNvSpPr/>
            <p:nvPr/>
          </p:nvSpPr>
          <p:spPr>
            <a:xfrm flipH="false" flipV="false" rot="0">
              <a:off x="0" y="0"/>
              <a:ext cx="21640805" cy="1913740"/>
            </a:xfrm>
            <a:custGeom>
              <a:avLst/>
              <a:gdLst/>
              <a:ahLst/>
              <a:cxnLst/>
              <a:rect r="r" b="b" t="t" l="l"/>
              <a:pathLst>
                <a:path h="1913740" w="21640805">
                  <a:moveTo>
                    <a:pt x="0" y="0"/>
                  </a:moveTo>
                  <a:lnTo>
                    <a:pt x="21640805" y="0"/>
                  </a:lnTo>
                  <a:lnTo>
                    <a:pt x="21640805" y="1913740"/>
                  </a:lnTo>
                  <a:lnTo>
                    <a:pt x="0" y="1913740"/>
                  </a:lnTo>
                  <a:close/>
                </a:path>
              </a:pathLst>
            </a:custGeom>
            <a:blipFill>
              <a:blip r:embed="rId3">
                <a:alphaModFix amt="0"/>
              </a:blip>
              <a:stretch>
                <a:fillRect l="0" t="-173425" r="-4994" b="-189261"/>
              </a:stretch>
            </a:blipFill>
          </p:spPr>
        </p:sp>
        <p:sp>
          <p:nvSpPr>
            <p:cNvPr name="TextBox 6" id="6"/>
            <p:cNvSpPr txBox="true"/>
            <p:nvPr/>
          </p:nvSpPr>
          <p:spPr>
            <a:xfrm>
              <a:off x="0" y="-9525"/>
              <a:ext cx="21640800" cy="1923263"/>
            </a:xfrm>
            <a:prstGeom prst="rect">
              <a:avLst/>
            </a:prstGeom>
          </p:spPr>
          <p:txBody>
            <a:bodyPr anchor="b" rtlCol="false" tIns="0" lIns="0" bIns="0" rIns="0"/>
            <a:lstStyle/>
            <a:p>
              <a:pPr algn="l">
                <a:lnSpc>
                  <a:spcPts val="10080"/>
                </a:lnSpc>
              </a:pPr>
              <a:r>
                <a:rPr lang="en-US" sz="8400">
                  <a:solidFill>
                    <a:srgbClr val="000000"/>
                  </a:solidFill>
                  <a:latin typeface="Economica"/>
                  <a:ea typeface="Economica"/>
                  <a:cs typeface="Economica"/>
                  <a:sym typeface="Economica"/>
                </a:rPr>
                <a:t>What Does Spiritual Trauma Look Like?</a:t>
              </a:r>
            </a:p>
          </p:txBody>
        </p:sp>
      </p:grpSp>
      <p:sp>
        <p:nvSpPr>
          <p:cNvPr name="TextBox 7" id="7"/>
          <p:cNvSpPr txBox="true"/>
          <p:nvPr/>
        </p:nvSpPr>
        <p:spPr>
          <a:xfrm rot="0">
            <a:off x="1058149" y="2689627"/>
            <a:ext cx="16201151" cy="6319647"/>
          </a:xfrm>
          <a:prstGeom prst="rect">
            <a:avLst/>
          </a:prstGeom>
        </p:spPr>
        <p:txBody>
          <a:bodyPr anchor="t" rtlCol="false" tIns="0" lIns="0" bIns="0" rIns="0">
            <a:spAutoFit/>
          </a:bodyPr>
          <a:lstStyle/>
          <a:p>
            <a:pPr algn="l">
              <a:lnSpc>
                <a:spcPts val="3864"/>
              </a:lnSpc>
            </a:pPr>
            <a:r>
              <a:rPr lang="en-US" sz="3500">
                <a:solidFill>
                  <a:srgbClr val="000000"/>
                </a:solidFill>
                <a:latin typeface="Open Sans"/>
                <a:ea typeface="Open Sans"/>
                <a:cs typeface="Open Sans"/>
                <a:sym typeface="Open Sans"/>
              </a:rPr>
              <a:t>Being blamed or shamed when your prayers are not answered immediately or completely</a:t>
            </a:r>
          </a:p>
          <a:p>
            <a:pPr algn="l">
              <a:lnSpc>
                <a:spcPts val="3864"/>
              </a:lnSpc>
            </a:pPr>
          </a:p>
          <a:p>
            <a:pPr algn="l">
              <a:lnSpc>
                <a:spcPts val="3864"/>
              </a:lnSpc>
            </a:pPr>
            <a:r>
              <a:rPr lang="en-US" sz="3500">
                <a:solidFill>
                  <a:srgbClr val="000000"/>
                </a:solidFill>
                <a:latin typeface="Open Sans"/>
                <a:ea typeface="Open Sans"/>
                <a:cs typeface="Open Sans"/>
                <a:sym typeface="Open Sans"/>
              </a:rPr>
              <a:t>Being ignored or silenced when you report instances of abuse to your church leaders</a:t>
            </a:r>
          </a:p>
          <a:p>
            <a:pPr algn="l">
              <a:lnSpc>
                <a:spcPts val="3864"/>
              </a:lnSpc>
            </a:pPr>
          </a:p>
          <a:p>
            <a:pPr algn="l">
              <a:lnSpc>
                <a:spcPts val="3864"/>
              </a:lnSpc>
            </a:pPr>
            <a:r>
              <a:rPr lang="en-US" sz="3500">
                <a:solidFill>
                  <a:srgbClr val="000000"/>
                </a:solidFill>
                <a:latin typeface="Open Sans"/>
                <a:ea typeface="Open Sans"/>
                <a:cs typeface="Open Sans"/>
                <a:sym typeface="Open Sans"/>
              </a:rPr>
              <a:t>Being coerced or prevented from practicing your religious or spiritual beliefs</a:t>
            </a:r>
          </a:p>
          <a:p>
            <a:pPr algn="l">
              <a:lnSpc>
                <a:spcPts val="3864"/>
              </a:lnSpc>
            </a:pPr>
          </a:p>
          <a:p>
            <a:pPr algn="l">
              <a:lnSpc>
                <a:spcPts val="3864"/>
              </a:lnSpc>
            </a:pPr>
            <a:r>
              <a:rPr lang="en-US" sz="3500">
                <a:solidFill>
                  <a:srgbClr val="000000"/>
                </a:solidFill>
                <a:latin typeface="Open Sans"/>
                <a:ea typeface="Open Sans"/>
                <a:cs typeface="Open Sans"/>
                <a:sym typeface="Open Sans"/>
              </a:rPr>
              <a:t>Witnessing or experiencing mental health concerns being treated only as weakness or spiritual warfare</a:t>
            </a:r>
          </a:p>
          <a:p>
            <a:pPr algn="l">
              <a:lnSpc>
                <a:spcPts val="3864"/>
              </a:lnSpc>
            </a:pPr>
          </a:p>
          <a:p>
            <a:pPr algn="l">
              <a:lnSpc>
                <a:spcPts val="3864"/>
              </a:lnSpc>
            </a:pPr>
            <a:r>
              <a:rPr lang="en-US" sz="3500">
                <a:solidFill>
                  <a:srgbClr val="000000"/>
                </a:solidFill>
                <a:latin typeface="Open Sans"/>
                <a:ea typeface="Open Sans"/>
                <a:cs typeface="Open Sans"/>
                <a:sym typeface="Open Sans"/>
              </a:rPr>
              <a:t>Witnessing or experiencing ex-communication or rejection from the faith community because of “misbehavior.”</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091404"/>
            <a:ext cx="18288000" cy="195596"/>
            <a:chOff x="0" y="0"/>
            <a:chExt cx="24384000" cy="260794"/>
          </a:xfrm>
        </p:grpSpPr>
        <p:sp>
          <p:nvSpPr>
            <p:cNvPr name="Freeform 3" id="3"/>
            <p:cNvSpPr/>
            <p:nvPr/>
          </p:nvSpPr>
          <p:spPr>
            <a:xfrm flipH="false" flipV="false" rot="0">
              <a:off x="0" y="0"/>
              <a:ext cx="24384000" cy="260858"/>
            </a:xfrm>
            <a:custGeom>
              <a:avLst/>
              <a:gdLst/>
              <a:ahLst/>
              <a:cxnLst/>
              <a:rect r="r" b="b" t="t" l="l"/>
              <a:pathLst>
                <a:path h="260858" w="24384000">
                  <a:moveTo>
                    <a:pt x="0" y="0"/>
                  </a:moveTo>
                  <a:lnTo>
                    <a:pt x="24384000" y="0"/>
                  </a:lnTo>
                  <a:lnTo>
                    <a:pt x="24384000" y="260858"/>
                  </a:lnTo>
                  <a:lnTo>
                    <a:pt x="0" y="260858"/>
                  </a:lnTo>
                  <a:close/>
                </a:path>
              </a:pathLst>
            </a:custGeom>
            <a:solidFill>
              <a:srgbClr val="CCA677"/>
            </a:solidFill>
          </p:spPr>
        </p:sp>
      </p:grpSp>
      <p:grpSp>
        <p:nvGrpSpPr>
          <p:cNvPr name="Group 4" id="4"/>
          <p:cNvGrpSpPr/>
          <p:nvPr/>
        </p:nvGrpSpPr>
        <p:grpSpPr>
          <a:xfrm rot="0">
            <a:off x="1028700" y="1098499"/>
            <a:ext cx="16230600" cy="1435303"/>
            <a:chOff x="0" y="0"/>
            <a:chExt cx="21640800" cy="1913738"/>
          </a:xfrm>
        </p:grpSpPr>
        <p:sp>
          <p:nvSpPr>
            <p:cNvPr name="Freeform 5" id="5"/>
            <p:cNvSpPr/>
            <p:nvPr/>
          </p:nvSpPr>
          <p:spPr>
            <a:xfrm flipH="false" flipV="false" rot="0">
              <a:off x="0" y="0"/>
              <a:ext cx="21640805" cy="1913740"/>
            </a:xfrm>
            <a:custGeom>
              <a:avLst/>
              <a:gdLst/>
              <a:ahLst/>
              <a:cxnLst/>
              <a:rect r="r" b="b" t="t" l="l"/>
              <a:pathLst>
                <a:path h="1913740" w="21640805">
                  <a:moveTo>
                    <a:pt x="0" y="0"/>
                  </a:moveTo>
                  <a:lnTo>
                    <a:pt x="21640805" y="0"/>
                  </a:lnTo>
                  <a:lnTo>
                    <a:pt x="21640805" y="1913740"/>
                  </a:lnTo>
                  <a:lnTo>
                    <a:pt x="0" y="1913740"/>
                  </a:lnTo>
                  <a:close/>
                </a:path>
              </a:pathLst>
            </a:custGeom>
            <a:blipFill>
              <a:blip r:embed="rId3">
                <a:alphaModFix amt="0"/>
              </a:blip>
              <a:stretch>
                <a:fillRect l="0" t="-173425" r="-4994" b="-189261"/>
              </a:stretch>
            </a:blipFill>
          </p:spPr>
        </p:sp>
        <p:sp>
          <p:nvSpPr>
            <p:cNvPr name="TextBox 6" id="6"/>
            <p:cNvSpPr txBox="true"/>
            <p:nvPr/>
          </p:nvSpPr>
          <p:spPr>
            <a:xfrm>
              <a:off x="0" y="-9525"/>
              <a:ext cx="21640800" cy="1923263"/>
            </a:xfrm>
            <a:prstGeom prst="rect">
              <a:avLst/>
            </a:prstGeom>
          </p:spPr>
          <p:txBody>
            <a:bodyPr anchor="b" rtlCol="false" tIns="0" lIns="0" bIns="0" rIns="0"/>
            <a:lstStyle/>
            <a:p>
              <a:pPr algn="l">
                <a:lnSpc>
                  <a:spcPts val="10080"/>
                </a:lnSpc>
              </a:pPr>
              <a:r>
                <a:rPr lang="en-US" sz="8400">
                  <a:solidFill>
                    <a:srgbClr val="000000"/>
                  </a:solidFill>
                  <a:latin typeface="Economica"/>
                  <a:ea typeface="Economica"/>
                  <a:cs typeface="Economica"/>
                  <a:sym typeface="Economica"/>
                </a:rPr>
                <a:t>What Does Spiritual Trauma Look Like?</a:t>
              </a:r>
            </a:p>
          </p:txBody>
        </p:sp>
      </p:grpSp>
      <p:sp>
        <p:nvSpPr>
          <p:cNvPr name="TextBox 7" id="7"/>
          <p:cNvSpPr txBox="true"/>
          <p:nvPr/>
        </p:nvSpPr>
        <p:spPr>
          <a:xfrm rot="0">
            <a:off x="1028700" y="2524277"/>
            <a:ext cx="16230600" cy="6734023"/>
          </a:xfrm>
          <a:prstGeom prst="rect">
            <a:avLst/>
          </a:prstGeom>
        </p:spPr>
        <p:txBody>
          <a:bodyPr anchor="t" rtlCol="false" tIns="0" lIns="0" bIns="0" rIns="0">
            <a:spAutoFit/>
          </a:bodyPr>
          <a:lstStyle/>
          <a:p>
            <a:pPr algn="l">
              <a:lnSpc>
                <a:spcPts val="4471"/>
              </a:lnSpc>
            </a:pPr>
            <a:r>
              <a:rPr lang="en-US" sz="3600">
                <a:solidFill>
                  <a:srgbClr val="000000"/>
                </a:solidFill>
                <a:latin typeface="Open Sans"/>
                <a:ea typeface="Open Sans"/>
                <a:cs typeface="Open Sans"/>
                <a:sym typeface="Open Sans"/>
              </a:rPr>
              <a:t>Being pressured to receive in-house “counseling” from someone without appropriate training or expertise, particularly in place of needed mental health care</a:t>
            </a:r>
          </a:p>
          <a:p>
            <a:pPr algn="l">
              <a:lnSpc>
                <a:spcPts val="4471"/>
              </a:lnSpc>
            </a:pPr>
          </a:p>
          <a:p>
            <a:pPr algn="l">
              <a:lnSpc>
                <a:spcPts val="4471"/>
              </a:lnSpc>
            </a:pPr>
            <a:r>
              <a:rPr lang="en-US" sz="3600">
                <a:solidFill>
                  <a:srgbClr val="000000"/>
                </a:solidFill>
                <a:latin typeface="Open Sans"/>
                <a:ea typeface="Open Sans"/>
                <a:cs typeface="Open Sans"/>
                <a:sym typeface="Open Sans"/>
              </a:rPr>
              <a:t>When someone close to you makes fun of your belief or dismisses you because of your religion</a:t>
            </a:r>
          </a:p>
          <a:p>
            <a:pPr algn="l">
              <a:lnSpc>
                <a:spcPts val="4471"/>
              </a:lnSpc>
            </a:pPr>
          </a:p>
          <a:p>
            <a:pPr algn="l">
              <a:lnSpc>
                <a:spcPts val="4471"/>
              </a:lnSpc>
            </a:pPr>
            <a:r>
              <a:rPr lang="en-US" sz="3600">
                <a:solidFill>
                  <a:srgbClr val="000000"/>
                </a:solidFill>
                <a:latin typeface="Open Sans"/>
                <a:ea typeface="Open Sans"/>
                <a:cs typeface="Open Sans"/>
                <a:sym typeface="Open Sans"/>
              </a:rPr>
              <a:t>When someone tries to force you to learn or practice their religion when you do not share or agree with their beliefs</a:t>
            </a:r>
          </a:p>
          <a:p>
            <a:pPr algn="l">
              <a:lnSpc>
                <a:spcPts val="4471"/>
              </a:lnSpc>
            </a:pPr>
          </a:p>
          <a:p>
            <a:pPr algn="l">
              <a:lnSpc>
                <a:spcPts val="4471"/>
              </a:lnSpc>
            </a:pPr>
            <a:r>
              <a:rPr lang="en-US" sz="3600">
                <a:solidFill>
                  <a:srgbClr val="000000"/>
                </a:solidFill>
                <a:latin typeface="Open Sans"/>
                <a:ea typeface="Open Sans"/>
                <a:cs typeface="Open Sans"/>
                <a:sym typeface="Open Sans"/>
              </a:rPr>
              <a:t>When someone uses religious texts to manipulate you into allowing physical, financial, emotional, or sexual abuse</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163305" y="891873"/>
            <a:ext cx="2220401" cy="2307050"/>
            <a:chOff x="0" y="0"/>
            <a:chExt cx="2960535" cy="3076067"/>
          </a:xfrm>
        </p:grpSpPr>
        <p:sp>
          <p:nvSpPr>
            <p:cNvPr name="Freeform 3" id="3"/>
            <p:cNvSpPr/>
            <p:nvPr/>
          </p:nvSpPr>
          <p:spPr>
            <a:xfrm flipH="false" flipV="false" rot="0">
              <a:off x="0" y="0"/>
              <a:ext cx="2960497" cy="3076067"/>
            </a:xfrm>
            <a:custGeom>
              <a:avLst/>
              <a:gdLst/>
              <a:ahLst/>
              <a:cxnLst/>
              <a:rect r="r" b="b" t="t" l="l"/>
              <a:pathLst>
                <a:path h="3076067" w="2960497">
                  <a:moveTo>
                    <a:pt x="2960497" y="3076067"/>
                  </a:moveTo>
                  <a:lnTo>
                    <a:pt x="2960497" y="0"/>
                  </a:lnTo>
                  <a:lnTo>
                    <a:pt x="0" y="0"/>
                  </a:lnTo>
                </a:path>
              </a:pathLst>
            </a:custGeom>
            <a:blipFill>
              <a:blip r:embed="rId3">
                <a:alphaModFix amt="0"/>
              </a:blip>
              <a:stretch>
                <a:fillRect l="-83311" t="0" r="-83312" b="0"/>
              </a:stretch>
            </a:blipFill>
            <a:ln w="57150" cap="sq">
              <a:solidFill>
                <a:srgbClr val="CCA677"/>
              </a:solidFill>
              <a:prstDash val="solid"/>
              <a:miter/>
            </a:ln>
          </p:spPr>
        </p:sp>
      </p:grpSp>
      <p:grpSp>
        <p:nvGrpSpPr>
          <p:cNvPr name="Group 4" id="4"/>
          <p:cNvGrpSpPr/>
          <p:nvPr/>
        </p:nvGrpSpPr>
        <p:grpSpPr>
          <a:xfrm rot="-10800000">
            <a:off x="904275" y="7088076"/>
            <a:ext cx="2220401" cy="2307050"/>
            <a:chOff x="0" y="0"/>
            <a:chExt cx="2960535" cy="3076067"/>
          </a:xfrm>
        </p:grpSpPr>
        <p:sp>
          <p:nvSpPr>
            <p:cNvPr name="Freeform 5" id="5"/>
            <p:cNvSpPr/>
            <p:nvPr/>
          </p:nvSpPr>
          <p:spPr>
            <a:xfrm flipH="false" flipV="false" rot="0">
              <a:off x="0" y="0"/>
              <a:ext cx="2960497" cy="3076067"/>
            </a:xfrm>
            <a:custGeom>
              <a:avLst/>
              <a:gdLst/>
              <a:ahLst/>
              <a:cxnLst/>
              <a:rect r="r" b="b" t="t" l="l"/>
              <a:pathLst>
                <a:path h="3076067" w="2960497">
                  <a:moveTo>
                    <a:pt x="2960497" y="3076067"/>
                  </a:moveTo>
                  <a:lnTo>
                    <a:pt x="2960497" y="0"/>
                  </a:lnTo>
                  <a:lnTo>
                    <a:pt x="0" y="0"/>
                  </a:lnTo>
                </a:path>
              </a:pathLst>
            </a:custGeom>
            <a:blipFill>
              <a:blip r:embed="rId3">
                <a:alphaModFix amt="0"/>
              </a:blip>
              <a:stretch>
                <a:fillRect l="-83311" t="0" r="-83312" b="0"/>
              </a:stretch>
            </a:blipFill>
            <a:ln w="57150" cap="sq">
              <a:solidFill>
                <a:srgbClr val="CCA677"/>
              </a:solidFill>
              <a:prstDash val="solid"/>
              <a:miter/>
            </a:ln>
          </p:spPr>
        </p:sp>
      </p:grpSp>
      <p:grpSp>
        <p:nvGrpSpPr>
          <p:cNvPr name="Group 6" id="6"/>
          <p:cNvGrpSpPr/>
          <p:nvPr/>
        </p:nvGrpSpPr>
        <p:grpSpPr>
          <a:xfrm rot="0">
            <a:off x="1547398" y="1558787"/>
            <a:ext cx="15193204" cy="1926003"/>
            <a:chOff x="0" y="0"/>
            <a:chExt cx="20257605" cy="2568004"/>
          </a:xfrm>
        </p:grpSpPr>
        <p:sp>
          <p:nvSpPr>
            <p:cNvPr name="Freeform 7" id="7"/>
            <p:cNvSpPr/>
            <p:nvPr/>
          </p:nvSpPr>
          <p:spPr>
            <a:xfrm flipH="false" flipV="false" rot="0">
              <a:off x="0" y="0"/>
              <a:ext cx="20257601" cy="2568000"/>
            </a:xfrm>
            <a:custGeom>
              <a:avLst/>
              <a:gdLst/>
              <a:ahLst/>
              <a:cxnLst/>
              <a:rect r="r" b="b" t="t" l="l"/>
              <a:pathLst>
                <a:path h="2568000" w="20257601">
                  <a:moveTo>
                    <a:pt x="0" y="0"/>
                  </a:moveTo>
                  <a:lnTo>
                    <a:pt x="20257601" y="0"/>
                  </a:lnTo>
                  <a:lnTo>
                    <a:pt x="20257601" y="2568000"/>
                  </a:lnTo>
                  <a:lnTo>
                    <a:pt x="0" y="2568000"/>
                  </a:lnTo>
                  <a:close/>
                </a:path>
              </a:pathLst>
            </a:custGeom>
            <a:blipFill>
              <a:blip r:embed="rId3">
                <a:alphaModFix amt="0"/>
              </a:blip>
              <a:stretch>
                <a:fillRect l="0" t="-103707" r="0" b="-103707"/>
              </a:stretch>
            </a:blipFill>
          </p:spPr>
        </p:sp>
        <p:sp>
          <p:nvSpPr>
            <p:cNvPr name="TextBox 8" id="8"/>
            <p:cNvSpPr txBox="true"/>
            <p:nvPr/>
          </p:nvSpPr>
          <p:spPr>
            <a:xfrm>
              <a:off x="0" y="-9525"/>
              <a:ext cx="20257605" cy="2577529"/>
            </a:xfrm>
            <a:prstGeom prst="rect">
              <a:avLst/>
            </a:prstGeom>
          </p:spPr>
          <p:txBody>
            <a:bodyPr anchor="ctr" rtlCol="false" tIns="0" lIns="0" bIns="0" rIns="0"/>
            <a:lstStyle/>
            <a:p>
              <a:pPr algn="ctr">
                <a:lnSpc>
                  <a:spcPts val="10080"/>
                </a:lnSpc>
              </a:pPr>
              <a:r>
                <a:rPr lang="en-US" sz="8400">
                  <a:solidFill>
                    <a:srgbClr val="000000"/>
                  </a:solidFill>
                  <a:latin typeface="Economica"/>
                  <a:ea typeface="Economica"/>
                  <a:cs typeface="Economica"/>
                  <a:sym typeface="Economica"/>
                </a:rPr>
                <a:t>What Is Religious Trauma Syndrome?</a:t>
              </a:r>
            </a:p>
          </p:txBody>
        </p:sp>
      </p:grpSp>
      <p:sp>
        <p:nvSpPr>
          <p:cNvPr name="TextBox 9" id="9"/>
          <p:cNvSpPr txBox="true"/>
          <p:nvPr/>
        </p:nvSpPr>
        <p:spPr>
          <a:xfrm rot="0">
            <a:off x="1333633" y="3755479"/>
            <a:ext cx="15620733" cy="4486123"/>
          </a:xfrm>
          <a:prstGeom prst="rect">
            <a:avLst/>
          </a:prstGeom>
        </p:spPr>
        <p:txBody>
          <a:bodyPr anchor="t" rtlCol="false" tIns="0" lIns="0" bIns="0" rIns="0">
            <a:spAutoFit/>
          </a:bodyPr>
          <a:lstStyle/>
          <a:p>
            <a:pPr algn="l">
              <a:lnSpc>
                <a:spcPts val="4471"/>
              </a:lnSpc>
            </a:pPr>
            <a:r>
              <a:rPr lang="en-US" b="true" sz="3600" i="true">
                <a:solidFill>
                  <a:srgbClr val="000000"/>
                </a:solidFill>
                <a:latin typeface="Open Sans Bold Italics"/>
                <a:ea typeface="Open Sans Bold Italics"/>
                <a:cs typeface="Open Sans Bold Italics"/>
                <a:sym typeface="Open Sans Bold Italics"/>
              </a:rPr>
              <a:t>Religious Trauma Syndrome (RTS)</a:t>
            </a:r>
            <a:r>
              <a:rPr lang="en-US" sz="3600">
                <a:solidFill>
                  <a:srgbClr val="000000"/>
                </a:solidFill>
                <a:latin typeface="Open Sans"/>
                <a:ea typeface="Open Sans"/>
                <a:cs typeface="Open Sans"/>
                <a:sym typeface="Open Sans"/>
              </a:rPr>
              <a:t>: a term used by some practitioners and communities to describe distress associated with harmful or authoritarian religious experiences or with leaving a high-control religious environment.</a:t>
            </a:r>
          </a:p>
          <a:p>
            <a:pPr algn="l">
              <a:lnSpc>
                <a:spcPts val="4471"/>
              </a:lnSpc>
            </a:pPr>
            <a:r>
              <a:rPr lang="en-US" b="true" sz="3600">
                <a:solidFill>
                  <a:srgbClr val="000000"/>
                </a:solidFill>
                <a:latin typeface="Open Sans Bold"/>
                <a:ea typeface="Open Sans Bold"/>
                <a:cs typeface="Open Sans Bold"/>
                <a:sym typeface="Open Sans Bold"/>
              </a:rPr>
              <a:t>RTS is not a recognized mental health diagnosis, does not have established diagnostic criteria, and should not be considered equivalent to PTSD or C-PTSD.</a:t>
            </a:r>
          </a:p>
          <a:p>
            <a:pPr algn="l">
              <a:lnSpc>
                <a:spcPts val="4471"/>
              </a:lnSpc>
            </a:pPr>
            <a:r>
              <a:rPr lang="en-US" sz="3600">
                <a:solidFill>
                  <a:srgbClr val="000000"/>
                </a:solidFill>
                <a:latin typeface="Open Sans"/>
                <a:ea typeface="Open Sans"/>
                <a:cs typeface="Open Sans"/>
                <a:sym typeface="Open Sans"/>
              </a:rPr>
              <a:t>You don't need an RTS label for your experience to matter.</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163305" y="891873"/>
            <a:ext cx="2220401" cy="2307050"/>
            <a:chOff x="0" y="0"/>
            <a:chExt cx="2960535" cy="3076067"/>
          </a:xfrm>
        </p:grpSpPr>
        <p:sp>
          <p:nvSpPr>
            <p:cNvPr name="Freeform 3" id="3"/>
            <p:cNvSpPr/>
            <p:nvPr/>
          </p:nvSpPr>
          <p:spPr>
            <a:xfrm flipH="false" flipV="false" rot="0">
              <a:off x="0" y="0"/>
              <a:ext cx="2960497" cy="3076067"/>
            </a:xfrm>
            <a:custGeom>
              <a:avLst/>
              <a:gdLst/>
              <a:ahLst/>
              <a:cxnLst/>
              <a:rect r="r" b="b" t="t" l="l"/>
              <a:pathLst>
                <a:path h="3076067" w="2960497">
                  <a:moveTo>
                    <a:pt x="2960497" y="3076067"/>
                  </a:moveTo>
                  <a:lnTo>
                    <a:pt x="2960497" y="0"/>
                  </a:lnTo>
                  <a:lnTo>
                    <a:pt x="0" y="0"/>
                  </a:lnTo>
                </a:path>
              </a:pathLst>
            </a:custGeom>
            <a:blipFill>
              <a:blip r:embed="rId3">
                <a:alphaModFix amt="0"/>
              </a:blip>
              <a:stretch>
                <a:fillRect l="-83311" t="0" r="-83312" b="0"/>
              </a:stretch>
            </a:blipFill>
            <a:ln w="57150" cap="sq">
              <a:solidFill>
                <a:srgbClr val="CCA677"/>
              </a:solidFill>
              <a:prstDash val="solid"/>
              <a:miter/>
            </a:ln>
          </p:spPr>
        </p:sp>
      </p:grpSp>
      <p:grpSp>
        <p:nvGrpSpPr>
          <p:cNvPr name="Group 4" id="4"/>
          <p:cNvGrpSpPr/>
          <p:nvPr/>
        </p:nvGrpSpPr>
        <p:grpSpPr>
          <a:xfrm rot="-10800000">
            <a:off x="904275" y="7088076"/>
            <a:ext cx="2220401" cy="2307050"/>
            <a:chOff x="0" y="0"/>
            <a:chExt cx="2960535" cy="3076067"/>
          </a:xfrm>
        </p:grpSpPr>
        <p:sp>
          <p:nvSpPr>
            <p:cNvPr name="Freeform 5" id="5"/>
            <p:cNvSpPr/>
            <p:nvPr/>
          </p:nvSpPr>
          <p:spPr>
            <a:xfrm flipH="false" flipV="false" rot="0">
              <a:off x="0" y="0"/>
              <a:ext cx="2960497" cy="3076067"/>
            </a:xfrm>
            <a:custGeom>
              <a:avLst/>
              <a:gdLst/>
              <a:ahLst/>
              <a:cxnLst/>
              <a:rect r="r" b="b" t="t" l="l"/>
              <a:pathLst>
                <a:path h="3076067" w="2960497">
                  <a:moveTo>
                    <a:pt x="2960497" y="3076067"/>
                  </a:moveTo>
                  <a:lnTo>
                    <a:pt x="2960497" y="0"/>
                  </a:lnTo>
                  <a:lnTo>
                    <a:pt x="0" y="0"/>
                  </a:lnTo>
                </a:path>
              </a:pathLst>
            </a:custGeom>
            <a:blipFill>
              <a:blip r:embed="rId3">
                <a:alphaModFix amt="0"/>
              </a:blip>
              <a:stretch>
                <a:fillRect l="-83311" t="0" r="-83312" b="0"/>
              </a:stretch>
            </a:blipFill>
            <a:ln w="57150" cap="sq">
              <a:solidFill>
                <a:srgbClr val="CCA677"/>
              </a:solidFill>
              <a:prstDash val="solid"/>
              <a:miter/>
            </a:ln>
          </p:spPr>
        </p:sp>
      </p:grpSp>
      <p:grpSp>
        <p:nvGrpSpPr>
          <p:cNvPr name="Group 6" id="6"/>
          <p:cNvGrpSpPr/>
          <p:nvPr/>
        </p:nvGrpSpPr>
        <p:grpSpPr>
          <a:xfrm rot="0">
            <a:off x="1547398" y="2785272"/>
            <a:ext cx="15193204" cy="6109200"/>
            <a:chOff x="0" y="0"/>
            <a:chExt cx="20257605" cy="8145600"/>
          </a:xfrm>
        </p:grpSpPr>
        <p:sp>
          <p:nvSpPr>
            <p:cNvPr name="Freeform 7" id="7"/>
            <p:cNvSpPr/>
            <p:nvPr/>
          </p:nvSpPr>
          <p:spPr>
            <a:xfrm flipH="false" flipV="false" rot="0">
              <a:off x="0" y="0"/>
              <a:ext cx="20257601" cy="8145597"/>
            </a:xfrm>
            <a:custGeom>
              <a:avLst/>
              <a:gdLst/>
              <a:ahLst/>
              <a:cxnLst/>
              <a:rect r="r" b="b" t="t" l="l"/>
              <a:pathLst>
                <a:path h="8145597" w="20257601">
                  <a:moveTo>
                    <a:pt x="0" y="0"/>
                  </a:moveTo>
                  <a:lnTo>
                    <a:pt x="20257601" y="0"/>
                  </a:lnTo>
                  <a:lnTo>
                    <a:pt x="20257601" y="8145597"/>
                  </a:lnTo>
                  <a:lnTo>
                    <a:pt x="0" y="8145597"/>
                  </a:lnTo>
                  <a:close/>
                </a:path>
              </a:pathLst>
            </a:custGeom>
            <a:blipFill>
              <a:blip r:embed="rId3">
                <a:alphaModFix amt="0"/>
              </a:blip>
              <a:stretch>
                <a:fillRect l="-1590" t="0" r="-1591" b="0"/>
              </a:stretch>
            </a:blipFill>
          </p:spPr>
        </p:sp>
        <p:sp>
          <p:nvSpPr>
            <p:cNvPr name="TextBox 8" id="8"/>
            <p:cNvSpPr txBox="true"/>
            <p:nvPr/>
          </p:nvSpPr>
          <p:spPr>
            <a:xfrm>
              <a:off x="0" y="-9525"/>
              <a:ext cx="20257605" cy="8155125"/>
            </a:xfrm>
            <a:prstGeom prst="rect">
              <a:avLst/>
            </a:prstGeom>
          </p:spPr>
          <p:txBody>
            <a:bodyPr anchor="ctr" rtlCol="false" tIns="0" lIns="0" bIns="0" rIns="0"/>
            <a:lstStyle/>
            <a:p>
              <a:pPr algn="l">
                <a:lnSpc>
                  <a:spcPts val="5040"/>
                </a:lnSpc>
              </a:pPr>
              <a:r>
                <a:rPr lang="en-US" sz="4200">
                  <a:solidFill>
                    <a:srgbClr val="000000"/>
                  </a:solidFill>
                  <a:latin typeface="Economica"/>
                  <a:ea typeface="Economica"/>
                  <a:cs typeface="Economica"/>
                  <a:sym typeface="Economica"/>
                </a:rPr>
                <a:t>When spiritual authority is deeply trusted, it can be difficult to recognize when a church, leader, teacher, or parent is causing harm.</a:t>
              </a:r>
            </a:p>
            <a:p>
              <a:pPr algn="l">
                <a:lnSpc>
                  <a:spcPts val="5040"/>
                </a:lnSpc>
              </a:pPr>
            </a:p>
            <a:p>
              <a:pPr algn="l">
                <a:lnSpc>
                  <a:spcPts val="5040"/>
                </a:lnSpc>
              </a:pPr>
              <a:r>
                <a:rPr lang="en-US" sz="4200">
                  <a:solidFill>
                    <a:srgbClr val="000000"/>
                  </a:solidFill>
                  <a:latin typeface="Economica"/>
                  <a:ea typeface="Economica"/>
                  <a:cs typeface="Economica"/>
                  <a:sym typeface="Economica"/>
                </a:rPr>
                <a:t>Abusive tactics can create confusion and uncertainty about your beliefs and make it difficult to ask questions or talk to others about your concerns.</a:t>
              </a:r>
            </a:p>
            <a:p>
              <a:pPr algn="ctr">
                <a:lnSpc>
                  <a:spcPts val="5040"/>
                </a:lnSpc>
              </a:pPr>
              <a:r>
                <a:rPr lang="en-US" sz="4200">
                  <a:solidFill>
                    <a:srgbClr val="000000"/>
                  </a:solidFill>
                  <a:latin typeface="Economica"/>
                  <a:ea typeface="Economica"/>
                  <a:cs typeface="Economica"/>
                  <a:sym typeface="Economica"/>
                </a:rPr>
                <a:t>	</a:t>
              </a:r>
            </a:p>
            <a:p>
              <a:pPr algn="l">
                <a:lnSpc>
                  <a:spcPts val="5040"/>
                </a:lnSpc>
              </a:pPr>
              <a:r>
                <a:rPr lang="en-US" sz="4200">
                  <a:solidFill>
                    <a:srgbClr val="000000"/>
                  </a:solidFill>
                  <a:latin typeface="Economica"/>
                  <a:ea typeface="Economica"/>
                  <a:cs typeface="Economica"/>
                  <a:sym typeface="Economica"/>
                </a:rPr>
                <a:t>Religious and spiritual abuse can involve stripping away your right to control your own narrative—who you are, what happened to you, and what your experience means.</a:t>
              </a:r>
            </a:p>
          </p:txBody>
        </p:sp>
      </p:grpSp>
      <p:sp>
        <p:nvSpPr>
          <p:cNvPr name="TextBox 9" id="9"/>
          <p:cNvSpPr txBox="true"/>
          <p:nvPr/>
        </p:nvSpPr>
        <p:spPr>
          <a:xfrm rot="0">
            <a:off x="2025825" y="1296000"/>
            <a:ext cx="14236351" cy="1489272"/>
          </a:xfrm>
          <a:prstGeom prst="rect">
            <a:avLst/>
          </a:prstGeom>
        </p:spPr>
        <p:txBody>
          <a:bodyPr anchor="t" rtlCol="false" tIns="0" lIns="0" bIns="0" rIns="0">
            <a:spAutoFit/>
          </a:bodyPr>
          <a:lstStyle/>
          <a:p>
            <a:pPr algn="ctr">
              <a:lnSpc>
                <a:spcPts val="10080"/>
              </a:lnSpc>
            </a:pPr>
            <a:r>
              <a:rPr lang="en-US" sz="8400">
                <a:solidFill>
                  <a:srgbClr val="000000"/>
                </a:solidFill>
                <a:latin typeface="Economica"/>
                <a:ea typeface="Economica"/>
                <a:cs typeface="Economica"/>
                <a:sym typeface="Economica"/>
              </a:rPr>
              <a:t>Who Gets to Tell Your Story?</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028700"/>
            <a:ext cx="7893001" cy="1262905"/>
            <a:chOff x="0" y="0"/>
            <a:chExt cx="9834804" cy="1573600"/>
          </a:xfrm>
        </p:grpSpPr>
        <p:sp>
          <p:nvSpPr>
            <p:cNvPr name="Freeform 3" id="3"/>
            <p:cNvSpPr/>
            <p:nvPr/>
          </p:nvSpPr>
          <p:spPr>
            <a:xfrm flipH="false" flipV="false" rot="0">
              <a:off x="0" y="0"/>
              <a:ext cx="9834803" cy="1573594"/>
            </a:xfrm>
            <a:custGeom>
              <a:avLst/>
              <a:gdLst/>
              <a:ahLst/>
              <a:cxnLst/>
              <a:rect r="r" b="b" t="t" l="l"/>
              <a:pathLst>
                <a:path h="1573594" w="9834803">
                  <a:moveTo>
                    <a:pt x="0" y="0"/>
                  </a:moveTo>
                  <a:lnTo>
                    <a:pt x="9834803" y="0"/>
                  </a:lnTo>
                  <a:lnTo>
                    <a:pt x="9834803" y="1573594"/>
                  </a:lnTo>
                  <a:lnTo>
                    <a:pt x="0" y="1573594"/>
                  </a:lnTo>
                  <a:close/>
                </a:path>
              </a:pathLst>
            </a:custGeom>
            <a:blipFill>
              <a:blip r:embed="rId3">
                <a:alphaModFix amt="0"/>
              </a:blip>
              <a:stretch>
                <a:fillRect l="0" t="-78470" r="-5494" b="-78471"/>
              </a:stretch>
            </a:blipFill>
          </p:spPr>
        </p:sp>
        <p:sp>
          <p:nvSpPr>
            <p:cNvPr name="TextBox 4" id="4"/>
            <p:cNvSpPr txBox="true"/>
            <p:nvPr/>
          </p:nvSpPr>
          <p:spPr>
            <a:xfrm>
              <a:off x="0" y="-9525"/>
              <a:ext cx="9834804" cy="1583125"/>
            </a:xfrm>
            <a:prstGeom prst="rect">
              <a:avLst/>
            </a:prstGeom>
          </p:spPr>
          <p:txBody>
            <a:bodyPr anchor="b" rtlCol="false" tIns="0" lIns="0" bIns="0" rIns="0"/>
            <a:lstStyle/>
            <a:p>
              <a:pPr algn="l">
                <a:lnSpc>
                  <a:spcPts val="6480"/>
                </a:lnSpc>
              </a:pPr>
              <a:r>
                <a:rPr lang="en-US" sz="5400">
                  <a:solidFill>
                    <a:srgbClr val="000000"/>
                  </a:solidFill>
                  <a:latin typeface="Economica"/>
                  <a:ea typeface="Economica"/>
                  <a:cs typeface="Economica"/>
                  <a:sym typeface="Economica"/>
                </a:rPr>
                <a:t>A Quick Word on Bigotry vs. Abuse</a:t>
              </a:r>
            </a:p>
          </p:txBody>
        </p:sp>
      </p:grpSp>
      <p:sp>
        <p:nvSpPr>
          <p:cNvPr name="TextBox 5" id="5"/>
          <p:cNvSpPr txBox="true"/>
          <p:nvPr/>
        </p:nvSpPr>
        <p:spPr>
          <a:xfrm rot="0">
            <a:off x="1028700" y="2344722"/>
            <a:ext cx="7530837" cy="6913578"/>
          </a:xfrm>
          <a:prstGeom prst="rect">
            <a:avLst/>
          </a:prstGeom>
        </p:spPr>
        <p:txBody>
          <a:bodyPr anchor="t" rtlCol="false" tIns="0" lIns="0" bIns="0" rIns="0">
            <a:spAutoFit/>
          </a:bodyPr>
          <a:lstStyle/>
          <a:p>
            <a:pPr algn="l">
              <a:lnSpc>
                <a:spcPts val="3423"/>
              </a:lnSpc>
            </a:pPr>
            <a:r>
              <a:rPr lang="en-US" b="true" sz="2481" i="true">
                <a:solidFill>
                  <a:srgbClr val="57BB8A"/>
                </a:solidFill>
                <a:latin typeface="Open Sans Bold Italics"/>
                <a:ea typeface="Open Sans Bold Italics"/>
                <a:cs typeface="Open Sans Bold Italics"/>
                <a:sym typeface="Open Sans Bold Italics"/>
              </a:rPr>
              <a:t>Bigotry</a:t>
            </a:r>
            <a:r>
              <a:rPr lang="en-US" sz="2481">
                <a:solidFill>
                  <a:srgbClr val="57BB8A"/>
                </a:solidFill>
                <a:latin typeface="Open Sans"/>
                <a:ea typeface="Open Sans"/>
                <a:cs typeface="Open Sans"/>
                <a:sym typeface="Open Sans"/>
              </a:rPr>
              <a:t>: obstinate or unreasonable attachment to a belief, opinion, or faction, in particular prejudice against a person or people on the basis of their membership of a particular group.</a:t>
            </a:r>
          </a:p>
          <a:p>
            <a:pPr algn="l" marL="535670" indent="-267835" lvl="1">
              <a:lnSpc>
                <a:spcPts val="3423"/>
              </a:lnSpc>
              <a:buFont typeface="Arial"/>
              <a:buChar char="•"/>
            </a:pPr>
            <a:r>
              <a:rPr lang="en-US" sz="2481">
                <a:solidFill>
                  <a:srgbClr val="000000"/>
                </a:solidFill>
                <a:latin typeface="Open Sans"/>
                <a:ea typeface="Open Sans"/>
                <a:cs typeface="Open Sans"/>
                <a:sym typeface="Open Sans"/>
              </a:rPr>
              <a:t>“The Bible says you are going to hell,” is religious bigotry. </a:t>
            </a:r>
          </a:p>
          <a:p>
            <a:pPr algn="l">
              <a:lnSpc>
                <a:spcPts val="3423"/>
              </a:lnSpc>
            </a:pPr>
          </a:p>
          <a:p>
            <a:pPr algn="l">
              <a:lnSpc>
                <a:spcPts val="3423"/>
              </a:lnSpc>
            </a:pPr>
            <a:r>
              <a:rPr lang="en-US" sz="2481">
                <a:solidFill>
                  <a:srgbClr val="607D8B"/>
                </a:solidFill>
                <a:latin typeface="Open Sans"/>
                <a:ea typeface="Open Sans"/>
                <a:cs typeface="Open Sans"/>
                <a:sym typeface="Open Sans"/>
              </a:rPr>
              <a:t>Spiritual abuse involves using power, authority, beliefs, or relationships to coerce, control, exploit, intimidate, punish, or otherwise harm another person. </a:t>
            </a:r>
          </a:p>
          <a:p>
            <a:pPr algn="l">
              <a:lnSpc>
                <a:spcPts val="3423"/>
              </a:lnSpc>
            </a:pPr>
          </a:p>
          <a:p>
            <a:pPr algn="l">
              <a:lnSpc>
                <a:spcPts val="3423"/>
              </a:lnSpc>
            </a:pPr>
            <a:r>
              <a:rPr lang="en-US" sz="2481">
                <a:solidFill>
                  <a:srgbClr val="5D4037"/>
                </a:solidFill>
                <a:latin typeface="Open Sans"/>
                <a:ea typeface="Open Sans"/>
                <a:cs typeface="Open Sans"/>
                <a:sym typeface="Open Sans"/>
              </a:rPr>
              <a:t>Bigotry and abuse are not mutually exclusive. Bigotry can become part of an abusive dynamic when it is used to shame, threaten, control, isolate, discriminate against, or punish someone.</a:t>
            </a:r>
          </a:p>
        </p:txBody>
      </p:sp>
      <p:grpSp>
        <p:nvGrpSpPr>
          <p:cNvPr name="Group 6" id="6"/>
          <p:cNvGrpSpPr/>
          <p:nvPr/>
        </p:nvGrpSpPr>
        <p:grpSpPr>
          <a:xfrm rot="0">
            <a:off x="8921701" y="1028700"/>
            <a:ext cx="8004858" cy="8004858"/>
            <a:chOff x="0" y="0"/>
            <a:chExt cx="12192000" cy="12192000"/>
          </a:xfrm>
        </p:grpSpPr>
        <p:sp>
          <p:nvSpPr>
            <p:cNvPr name="Freeform 7" id="7"/>
            <p:cNvSpPr/>
            <p:nvPr/>
          </p:nvSpPr>
          <p:spPr>
            <a:xfrm flipH="false" flipV="false" rot="0">
              <a:off x="0" y="0"/>
              <a:ext cx="12192000" cy="12192000"/>
            </a:xfrm>
            <a:custGeom>
              <a:avLst/>
              <a:gdLst/>
              <a:ahLst/>
              <a:cxnLst/>
              <a:rect r="r" b="b" t="t" l="l"/>
              <a:pathLst>
                <a:path h="12192000" w="12192000">
                  <a:moveTo>
                    <a:pt x="0" y="0"/>
                  </a:moveTo>
                  <a:lnTo>
                    <a:pt x="12192000" y="0"/>
                  </a:lnTo>
                  <a:lnTo>
                    <a:pt x="12192000" y="12192000"/>
                  </a:lnTo>
                  <a:lnTo>
                    <a:pt x="0" y="12192000"/>
                  </a:lnTo>
                  <a:lnTo>
                    <a:pt x="0" y="0"/>
                  </a:lnTo>
                  <a:close/>
                </a:path>
              </a:pathLst>
            </a:custGeom>
            <a:blipFill>
              <a:blip r:embed="rId4"/>
              <a:stretch>
                <a:fillRect l="0" t="0" r="0" b="0"/>
              </a:stretch>
            </a:blipFill>
          </p:spPr>
        </p:sp>
      </p:gr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04800" y="304800"/>
            <a:ext cx="2438400" cy="3790950"/>
            <a:chOff x="0" y="0"/>
            <a:chExt cx="3251200" cy="5054600"/>
          </a:xfrm>
        </p:grpSpPr>
        <p:sp>
          <p:nvSpPr>
            <p:cNvPr name="Freeform 3" id="3"/>
            <p:cNvSpPr/>
            <p:nvPr/>
          </p:nvSpPr>
          <p:spPr>
            <a:xfrm flipH="false" flipV="false" rot="0">
              <a:off x="0" y="0"/>
              <a:ext cx="3251200" cy="5054600"/>
            </a:xfrm>
            <a:custGeom>
              <a:avLst/>
              <a:gdLst/>
              <a:ahLst/>
              <a:cxnLst/>
              <a:rect r="r" b="b" t="t" l="l"/>
              <a:pathLst>
                <a:path h="5054600" w="3251200">
                  <a:moveTo>
                    <a:pt x="0" y="0"/>
                  </a:moveTo>
                  <a:lnTo>
                    <a:pt x="3251200" y="0"/>
                  </a:lnTo>
                  <a:lnTo>
                    <a:pt x="3251200" y="5054600"/>
                  </a:lnTo>
                  <a:lnTo>
                    <a:pt x="0" y="5054600"/>
                  </a:lnTo>
                  <a:lnTo>
                    <a:pt x="0" y="0"/>
                  </a:lnTo>
                  <a:close/>
                </a:path>
              </a:pathLst>
            </a:custGeom>
            <a:blipFill>
              <a:blip r:embed="rId3"/>
              <a:stretch>
                <a:fillRect l="0" t="0" r="0" b="0"/>
              </a:stretch>
            </a:blipFill>
          </p:spPr>
        </p:sp>
      </p:grpSp>
      <p:grpSp>
        <p:nvGrpSpPr>
          <p:cNvPr name="Group 4" id="4"/>
          <p:cNvGrpSpPr/>
          <p:nvPr/>
        </p:nvGrpSpPr>
        <p:grpSpPr>
          <a:xfrm rot="0">
            <a:off x="3144002" y="1077897"/>
            <a:ext cx="2591467" cy="3790950"/>
            <a:chOff x="0" y="0"/>
            <a:chExt cx="3455289" cy="5054600"/>
          </a:xfrm>
        </p:grpSpPr>
        <p:sp>
          <p:nvSpPr>
            <p:cNvPr name="Freeform 5" id="5"/>
            <p:cNvSpPr/>
            <p:nvPr/>
          </p:nvSpPr>
          <p:spPr>
            <a:xfrm flipH="false" flipV="false" rot="0">
              <a:off x="0" y="0"/>
              <a:ext cx="3455289" cy="5054600"/>
            </a:xfrm>
            <a:custGeom>
              <a:avLst/>
              <a:gdLst/>
              <a:ahLst/>
              <a:cxnLst/>
              <a:rect r="r" b="b" t="t" l="l"/>
              <a:pathLst>
                <a:path h="5054600" w="3455289">
                  <a:moveTo>
                    <a:pt x="0" y="0"/>
                  </a:moveTo>
                  <a:lnTo>
                    <a:pt x="3455289" y="0"/>
                  </a:lnTo>
                  <a:lnTo>
                    <a:pt x="3455289" y="5054600"/>
                  </a:lnTo>
                  <a:lnTo>
                    <a:pt x="0" y="5054600"/>
                  </a:lnTo>
                  <a:lnTo>
                    <a:pt x="0" y="0"/>
                  </a:lnTo>
                  <a:close/>
                </a:path>
              </a:pathLst>
            </a:custGeom>
            <a:blipFill>
              <a:blip r:embed="rId4"/>
              <a:stretch>
                <a:fillRect l="0" t="0" r="0" b="0"/>
              </a:stretch>
            </a:blipFill>
          </p:spPr>
        </p:sp>
      </p:grpSp>
      <p:grpSp>
        <p:nvGrpSpPr>
          <p:cNvPr name="Group 6" id="6"/>
          <p:cNvGrpSpPr/>
          <p:nvPr/>
        </p:nvGrpSpPr>
        <p:grpSpPr>
          <a:xfrm rot="0">
            <a:off x="6249057" y="569805"/>
            <a:ext cx="2354189" cy="3790950"/>
            <a:chOff x="0" y="0"/>
            <a:chExt cx="3138919" cy="5054600"/>
          </a:xfrm>
        </p:grpSpPr>
        <p:sp>
          <p:nvSpPr>
            <p:cNvPr name="Freeform 7" id="7"/>
            <p:cNvSpPr/>
            <p:nvPr/>
          </p:nvSpPr>
          <p:spPr>
            <a:xfrm flipH="false" flipV="false" rot="0">
              <a:off x="0" y="0"/>
              <a:ext cx="3138932" cy="5054600"/>
            </a:xfrm>
            <a:custGeom>
              <a:avLst/>
              <a:gdLst/>
              <a:ahLst/>
              <a:cxnLst/>
              <a:rect r="r" b="b" t="t" l="l"/>
              <a:pathLst>
                <a:path h="5054600" w="3138932">
                  <a:moveTo>
                    <a:pt x="0" y="0"/>
                  </a:moveTo>
                  <a:lnTo>
                    <a:pt x="3138932" y="0"/>
                  </a:lnTo>
                  <a:lnTo>
                    <a:pt x="3138932" y="5054600"/>
                  </a:lnTo>
                  <a:lnTo>
                    <a:pt x="0" y="5054600"/>
                  </a:lnTo>
                  <a:lnTo>
                    <a:pt x="0" y="0"/>
                  </a:lnTo>
                  <a:close/>
                </a:path>
              </a:pathLst>
            </a:custGeom>
            <a:blipFill>
              <a:blip r:embed="rId5"/>
              <a:stretch>
                <a:fillRect l="0" t="0" r="0" b="0"/>
              </a:stretch>
            </a:blipFill>
          </p:spPr>
        </p:sp>
      </p:grpSp>
      <p:grpSp>
        <p:nvGrpSpPr>
          <p:cNvPr name="Group 8" id="8"/>
          <p:cNvGrpSpPr/>
          <p:nvPr/>
        </p:nvGrpSpPr>
        <p:grpSpPr>
          <a:xfrm rot="0">
            <a:off x="12331151" y="304800"/>
            <a:ext cx="2500513" cy="3700148"/>
            <a:chOff x="0" y="0"/>
            <a:chExt cx="3334017" cy="4933531"/>
          </a:xfrm>
        </p:grpSpPr>
        <p:sp>
          <p:nvSpPr>
            <p:cNvPr name="Freeform 9" id="9"/>
            <p:cNvSpPr/>
            <p:nvPr/>
          </p:nvSpPr>
          <p:spPr>
            <a:xfrm flipH="false" flipV="false" rot="0">
              <a:off x="0" y="0"/>
              <a:ext cx="3334004" cy="4933569"/>
            </a:xfrm>
            <a:custGeom>
              <a:avLst/>
              <a:gdLst/>
              <a:ahLst/>
              <a:cxnLst/>
              <a:rect r="r" b="b" t="t" l="l"/>
              <a:pathLst>
                <a:path h="4933569" w="3334004">
                  <a:moveTo>
                    <a:pt x="0" y="0"/>
                  </a:moveTo>
                  <a:lnTo>
                    <a:pt x="3334004" y="0"/>
                  </a:lnTo>
                  <a:lnTo>
                    <a:pt x="3334004" y="4933569"/>
                  </a:lnTo>
                  <a:lnTo>
                    <a:pt x="0" y="4933569"/>
                  </a:lnTo>
                  <a:lnTo>
                    <a:pt x="0" y="0"/>
                  </a:lnTo>
                  <a:close/>
                </a:path>
              </a:pathLst>
            </a:custGeom>
            <a:blipFill>
              <a:blip r:embed="rId6"/>
              <a:stretch>
                <a:fillRect l="0" t="0" r="0" b="0"/>
              </a:stretch>
            </a:blipFill>
          </p:spPr>
        </p:sp>
      </p:grpSp>
      <p:grpSp>
        <p:nvGrpSpPr>
          <p:cNvPr name="Group 10" id="10"/>
          <p:cNvGrpSpPr/>
          <p:nvPr/>
        </p:nvGrpSpPr>
        <p:grpSpPr>
          <a:xfrm rot="0">
            <a:off x="14831654" y="660597"/>
            <a:ext cx="3700148" cy="3700148"/>
            <a:chOff x="0" y="0"/>
            <a:chExt cx="4933531" cy="4933531"/>
          </a:xfrm>
        </p:grpSpPr>
        <p:sp>
          <p:nvSpPr>
            <p:cNvPr name="Freeform 11" id="11"/>
            <p:cNvSpPr/>
            <p:nvPr/>
          </p:nvSpPr>
          <p:spPr>
            <a:xfrm flipH="false" flipV="false" rot="0">
              <a:off x="0" y="0"/>
              <a:ext cx="4933569" cy="4933569"/>
            </a:xfrm>
            <a:custGeom>
              <a:avLst/>
              <a:gdLst/>
              <a:ahLst/>
              <a:cxnLst/>
              <a:rect r="r" b="b" t="t" l="l"/>
              <a:pathLst>
                <a:path h="4933569" w="4933569">
                  <a:moveTo>
                    <a:pt x="0" y="0"/>
                  </a:moveTo>
                  <a:lnTo>
                    <a:pt x="4933569" y="0"/>
                  </a:lnTo>
                  <a:lnTo>
                    <a:pt x="4933569" y="4933569"/>
                  </a:lnTo>
                  <a:lnTo>
                    <a:pt x="0" y="4933569"/>
                  </a:lnTo>
                  <a:lnTo>
                    <a:pt x="0" y="0"/>
                  </a:lnTo>
                  <a:close/>
                </a:path>
              </a:pathLst>
            </a:custGeom>
            <a:blipFill>
              <a:blip r:embed="rId7"/>
              <a:stretch>
                <a:fillRect l="0" t="0" r="0" b="0"/>
              </a:stretch>
            </a:blipFill>
          </p:spPr>
        </p:sp>
      </p:grpSp>
      <p:grpSp>
        <p:nvGrpSpPr>
          <p:cNvPr name="Group 12" id="12"/>
          <p:cNvGrpSpPr/>
          <p:nvPr/>
        </p:nvGrpSpPr>
        <p:grpSpPr>
          <a:xfrm rot="0">
            <a:off x="304800" y="6383750"/>
            <a:ext cx="2438400" cy="3505514"/>
            <a:chOff x="0" y="0"/>
            <a:chExt cx="3251200" cy="4674019"/>
          </a:xfrm>
        </p:grpSpPr>
        <p:sp>
          <p:nvSpPr>
            <p:cNvPr name="Freeform 13" id="13"/>
            <p:cNvSpPr/>
            <p:nvPr/>
          </p:nvSpPr>
          <p:spPr>
            <a:xfrm flipH="false" flipV="false" rot="0">
              <a:off x="0" y="0"/>
              <a:ext cx="3251200" cy="4673981"/>
            </a:xfrm>
            <a:custGeom>
              <a:avLst/>
              <a:gdLst/>
              <a:ahLst/>
              <a:cxnLst/>
              <a:rect r="r" b="b" t="t" l="l"/>
              <a:pathLst>
                <a:path h="4673981" w="3251200">
                  <a:moveTo>
                    <a:pt x="0" y="0"/>
                  </a:moveTo>
                  <a:lnTo>
                    <a:pt x="3251200" y="0"/>
                  </a:lnTo>
                  <a:lnTo>
                    <a:pt x="3251200" y="4673981"/>
                  </a:lnTo>
                  <a:lnTo>
                    <a:pt x="0" y="4673981"/>
                  </a:lnTo>
                  <a:lnTo>
                    <a:pt x="0" y="0"/>
                  </a:lnTo>
                  <a:close/>
                </a:path>
              </a:pathLst>
            </a:custGeom>
            <a:blipFill>
              <a:blip r:embed="rId8"/>
              <a:stretch>
                <a:fillRect l="0" t="0" r="0" b="0"/>
              </a:stretch>
            </a:blipFill>
          </p:spPr>
        </p:sp>
      </p:grpSp>
      <p:grpSp>
        <p:nvGrpSpPr>
          <p:cNvPr name="Group 14" id="14"/>
          <p:cNvGrpSpPr/>
          <p:nvPr/>
        </p:nvGrpSpPr>
        <p:grpSpPr>
          <a:xfrm rot="0">
            <a:off x="3210601" y="5551246"/>
            <a:ext cx="2354199" cy="3532175"/>
            <a:chOff x="0" y="0"/>
            <a:chExt cx="3138932" cy="4709566"/>
          </a:xfrm>
        </p:grpSpPr>
        <p:sp>
          <p:nvSpPr>
            <p:cNvPr name="Freeform 15" id="15"/>
            <p:cNvSpPr/>
            <p:nvPr/>
          </p:nvSpPr>
          <p:spPr>
            <a:xfrm flipH="false" flipV="false" rot="0">
              <a:off x="0" y="0"/>
              <a:ext cx="3138932" cy="4709541"/>
            </a:xfrm>
            <a:custGeom>
              <a:avLst/>
              <a:gdLst/>
              <a:ahLst/>
              <a:cxnLst/>
              <a:rect r="r" b="b" t="t" l="l"/>
              <a:pathLst>
                <a:path h="4709541" w="3138932">
                  <a:moveTo>
                    <a:pt x="0" y="0"/>
                  </a:moveTo>
                  <a:lnTo>
                    <a:pt x="3138932" y="0"/>
                  </a:lnTo>
                  <a:lnTo>
                    <a:pt x="3138932" y="4709541"/>
                  </a:lnTo>
                  <a:lnTo>
                    <a:pt x="0" y="4709541"/>
                  </a:lnTo>
                  <a:lnTo>
                    <a:pt x="0" y="0"/>
                  </a:lnTo>
                  <a:close/>
                </a:path>
              </a:pathLst>
            </a:custGeom>
            <a:blipFill>
              <a:blip r:embed="rId9"/>
              <a:stretch>
                <a:fillRect l="0" t="0" r="0" b="0"/>
              </a:stretch>
            </a:blipFill>
          </p:spPr>
        </p:sp>
      </p:grpSp>
      <p:grpSp>
        <p:nvGrpSpPr>
          <p:cNvPr name="Group 16" id="16"/>
          <p:cNvGrpSpPr/>
          <p:nvPr/>
        </p:nvGrpSpPr>
        <p:grpSpPr>
          <a:xfrm rot="0">
            <a:off x="6032202" y="5143500"/>
            <a:ext cx="2354199" cy="3540128"/>
            <a:chOff x="0" y="0"/>
            <a:chExt cx="3138932" cy="4720171"/>
          </a:xfrm>
        </p:grpSpPr>
        <p:sp>
          <p:nvSpPr>
            <p:cNvPr name="Freeform 17" id="17"/>
            <p:cNvSpPr/>
            <p:nvPr/>
          </p:nvSpPr>
          <p:spPr>
            <a:xfrm flipH="false" flipV="false" rot="0">
              <a:off x="0" y="0"/>
              <a:ext cx="3138932" cy="4720209"/>
            </a:xfrm>
            <a:custGeom>
              <a:avLst/>
              <a:gdLst/>
              <a:ahLst/>
              <a:cxnLst/>
              <a:rect r="r" b="b" t="t" l="l"/>
              <a:pathLst>
                <a:path h="4720209" w="3138932">
                  <a:moveTo>
                    <a:pt x="0" y="0"/>
                  </a:moveTo>
                  <a:lnTo>
                    <a:pt x="3138932" y="0"/>
                  </a:lnTo>
                  <a:lnTo>
                    <a:pt x="3138932" y="4720209"/>
                  </a:lnTo>
                  <a:lnTo>
                    <a:pt x="0" y="4720209"/>
                  </a:lnTo>
                  <a:lnTo>
                    <a:pt x="0" y="0"/>
                  </a:lnTo>
                  <a:close/>
                </a:path>
              </a:pathLst>
            </a:custGeom>
            <a:blipFill>
              <a:blip r:embed="rId10"/>
              <a:stretch>
                <a:fillRect l="0" t="0" r="0" b="0"/>
              </a:stretch>
            </a:blipFill>
          </p:spPr>
        </p:sp>
      </p:grpSp>
      <p:grpSp>
        <p:nvGrpSpPr>
          <p:cNvPr name="Group 18" id="18"/>
          <p:cNvGrpSpPr/>
          <p:nvPr/>
        </p:nvGrpSpPr>
        <p:grpSpPr>
          <a:xfrm rot="0">
            <a:off x="8603228" y="5795953"/>
            <a:ext cx="3448574" cy="3700148"/>
            <a:chOff x="0" y="0"/>
            <a:chExt cx="4598098" cy="4933531"/>
          </a:xfrm>
        </p:grpSpPr>
        <p:sp>
          <p:nvSpPr>
            <p:cNvPr name="Freeform 19" id="19"/>
            <p:cNvSpPr/>
            <p:nvPr/>
          </p:nvSpPr>
          <p:spPr>
            <a:xfrm flipH="false" flipV="false" rot="0">
              <a:off x="0" y="0"/>
              <a:ext cx="4598035" cy="4933569"/>
            </a:xfrm>
            <a:custGeom>
              <a:avLst/>
              <a:gdLst/>
              <a:ahLst/>
              <a:cxnLst/>
              <a:rect r="r" b="b" t="t" l="l"/>
              <a:pathLst>
                <a:path h="4933569" w="4598035">
                  <a:moveTo>
                    <a:pt x="0" y="0"/>
                  </a:moveTo>
                  <a:lnTo>
                    <a:pt x="4598035" y="0"/>
                  </a:lnTo>
                  <a:lnTo>
                    <a:pt x="4598035" y="4933569"/>
                  </a:lnTo>
                  <a:lnTo>
                    <a:pt x="0" y="4933569"/>
                  </a:lnTo>
                  <a:lnTo>
                    <a:pt x="0" y="0"/>
                  </a:lnTo>
                  <a:close/>
                </a:path>
              </a:pathLst>
            </a:custGeom>
            <a:blipFill>
              <a:blip r:embed="rId11"/>
              <a:stretch>
                <a:fillRect l="0" t="0" r="-1" b="0"/>
              </a:stretch>
            </a:blipFill>
          </p:spPr>
        </p:sp>
      </p:grpSp>
      <p:grpSp>
        <p:nvGrpSpPr>
          <p:cNvPr name="Group 20" id="20"/>
          <p:cNvGrpSpPr/>
          <p:nvPr/>
        </p:nvGrpSpPr>
        <p:grpSpPr>
          <a:xfrm rot="0">
            <a:off x="12268648" y="4868847"/>
            <a:ext cx="2222078" cy="3700148"/>
            <a:chOff x="0" y="0"/>
            <a:chExt cx="2962770" cy="4933531"/>
          </a:xfrm>
        </p:grpSpPr>
        <p:sp>
          <p:nvSpPr>
            <p:cNvPr name="Freeform 21" id="21"/>
            <p:cNvSpPr/>
            <p:nvPr/>
          </p:nvSpPr>
          <p:spPr>
            <a:xfrm flipH="false" flipV="false" rot="0">
              <a:off x="0" y="0"/>
              <a:ext cx="2962783" cy="4933569"/>
            </a:xfrm>
            <a:custGeom>
              <a:avLst/>
              <a:gdLst/>
              <a:ahLst/>
              <a:cxnLst/>
              <a:rect r="r" b="b" t="t" l="l"/>
              <a:pathLst>
                <a:path h="4933569" w="2962783">
                  <a:moveTo>
                    <a:pt x="0" y="0"/>
                  </a:moveTo>
                  <a:lnTo>
                    <a:pt x="2962783" y="0"/>
                  </a:lnTo>
                  <a:lnTo>
                    <a:pt x="2962783" y="4933569"/>
                  </a:lnTo>
                  <a:lnTo>
                    <a:pt x="0" y="4933569"/>
                  </a:lnTo>
                  <a:lnTo>
                    <a:pt x="0" y="0"/>
                  </a:lnTo>
                  <a:close/>
                </a:path>
              </a:pathLst>
            </a:custGeom>
            <a:blipFill>
              <a:blip r:embed="rId12"/>
              <a:stretch>
                <a:fillRect l="0" t="0" r="0" b="0"/>
              </a:stretch>
            </a:blipFill>
          </p:spPr>
        </p:sp>
      </p:grpSp>
      <p:grpSp>
        <p:nvGrpSpPr>
          <p:cNvPr name="Group 22" id="22"/>
          <p:cNvGrpSpPr/>
          <p:nvPr/>
        </p:nvGrpSpPr>
        <p:grpSpPr>
          <a:xfrm rot="0">
            <a:off x="9171470" y="1117025"/>
            <a:ext cx="2591448" cy="3712702"/>
            <a:chOff x="0" y="0"/>
            <a:chExt cx="3455264" cy="4950270"/>
          </a:xfrm>
        </p:grpSpPr>
        <p:sp>
          <p:nvSpPr>
            <p:cNvPr name="Freeform 23" id="23"/>
            <p:cNvSpPr/>
            <p:nvPr/>
          </p:nvSpPr>
          <p:spPr>
            <a:xfrm flipH="false" flipV="false" rot="0">
              <a:off x="0" y="0"/>
              <a:ext cx="3455289" cy="4950206"/>
            </a:xfrm>
            <a:custGeom>
              <a:avLst/>
              <a:gdLst/>
              <a:ahLst/>
              <a:cxnLst/>
              <a:rect r="r" b="b" t="t" l="l"/>
              <a:pathLst>
                <a:path h="4950206" w="3455289">
                  <a:moveTo>
                    <a:pt x="0" y="0"/>
                  </a:moveTo>
                  <a:lnTo>
                    <a:pt x="3455289" y="0"/>
                  </a:lnTo>
                  <a:lnTo>
                    <a:pt x="3455289" y="4950206"/>
                  </a:lnTo>
                  <a:lnTo>
                    <a:pt x="0" y="4950206"/>
                  </a:lnTo>
                  <a:lnTo>
                    <a:pt x="0" y="0"/>
                  </a:lnTo>
                  <a:close/>
                </a:path>
              </a:pathLst>
            </a:custGeom>
            <a:blipFill>
              <a:blip r:embed="rId13"/>
              <a:stretch>
                <a:fillRect l="0" t="0" r="0" b="-1"/>
              </a:stretch>
            </a:blipFill>
          </p:spPr>
        </p:sp>
      </p:grpSp>
      <p:grpSp>
        <p:nvGrpSpPr>
          <p:cNvPr name="Group 24" id="24"/>
          <p:cNvGrpSpPr/>
          <p:nvPr/>
        </p:nvGrpSpPr>
        <p:grpSpPr>
          <a:xfrm rot="0">
            <a:off x="15090229" y="5138623"/>
            <a:ext cx="2889018" cy="4357449"/>
            <a:chOff x="0" y="0"/>
            <a:chExt cx="3852024" cy="5809932"/>
          </a:xfrm>
        </p:grpSpPr>
        <p:sp>
          <p:nvSpPr>
            <p:cNvPr name="Freeform 25" id="25"/>
            <p:cNvSpPr/>
            <p:nvPr/>
          </p:nvSpPr>
          <p:spPr>
            <a:xfrm flipH="false" flipV="false" rot="0">
              <a:off x="0" y="0"/>
              <a:ext cx="3852037" cy="5809996"/>
            </a:xfrm>
            <a:custGeom>
              <a:avLst/>
              <a:gdLst/>
              <a:ahLst/>
              <a:cxnLst/>
              <a:rect r="r" b="b" t="t" l="l"/>
              <a:pathLst>
                <a:path h="5809996" w="3852037">
                  <a:moveTo>
                    <a:pt x="0" y="0"/>
                  </a:moveTo>
                  <a:lnTo>
                    <a:pt x="3852037" y="0"/>
                  </a:lnTo>
                  <a:lnTo>
                    <a:pt x="3852037" y="5809996"/>
                  </a:lnTo>
                  <a:lnTo>
                    <a:pt x="0" y="5809996"/>
                  </a:lnTo>
                  <a:lnTo>
                    <a:pt x="0" y="0"/>
                  </a:lnTo>
                  <a:close/>
                </a:path>
              </a:pathLst>
            </a:custGeom>
            <a:blipFill>
              <a:blip r:embed="rId14"/>
              <a:stretch>
                <a:fillRect l="0" t="0" r="0" b="0"/>
              </a:stretch>
            </a:blipFill>
          </p:spPr>
        </p:sp>
      </p:grpSp>
      <p:sp>
        <p:nvSpPr>
          <p:cNvPr name="TextBox 26" id="26"/>
          <p:cNvSpPr txBox="true"/>
          <p:nvPr/>
        </p:nvSpPr>
        <p:spPr>
          <a:xfrm rot="0">
            <a:off x="610714" y="3876723"/>
            <a:ext cx="17066562" cy="2524049"/>
          </a:xfrm>
          <a:prstGeom prst="rect">
            <a:avLst/>
          </a:prstGeom>
        </p:spPr>
        <p:txBody>
          <a:bodyPr anchor="t" rtlCol="false" tIns="0" lIns="0" bIns="0" rIns="0">
            <a:spAutoFit/>
          </a:bodyPr>
          <a:lstStyle/>
          <a:p>
            <a:pPr algn="ctr">
              <a:lnSpc>
                <a:spcPts val="3359"/>
              </a:lnSpc>
            </a:pPr>
            <a:r>
              <a:rPr lang="en-US" sz="2799">
                <a:solidFill>
                  <a:srgbClr val="7E54C6"/>
                </a:solidFill>
                <a:latin typeface="Economica"/>
                <a:ea typeface="Economica"/>
                <a:cs typeface="Economica"/>
                <a:sym typeface="Economica"/>
              </a:rPr>
              <a:t>Spiritual Trauma</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091404"/>
            <a:ext cx="18288000" cy="195596"/>
            <a:chOff x="0" y="0"/>
            <a:chExt cx="24384000" cy="260794"/>
          </a:xfrm>
        </p:grpSpPr>
        <p:sp>
          <p:nvSpPr>
            <p:cNvPr name="Freeform 3" id="3"/>
            <p:cNvSpPr/>
            <p:nvPr/>
          </p:nvSpPr>
          <p:spPr>
            <a:xfrm flipH="false" flipV="false" rot="0">
              <a:off x="0" y="0"/>
              <a:ext cx="24384000" cy="260858"/>
            </a:xfrm>
            <a:custGeom>
              <a:avLst/>
              <a:gdLst/>
              <a:ahLst/>
              <a:cxnLst/>
              <a:rect r="r" b="b" t="t" l="l"/>
              <a:pathLst>
                <a:path h="260858" w="24384000">
                  <a:moveTo>
                    <a:pt x="0" y="0"/>
                  </a:moveTo>
                  <a:lnTo>
                    <a:pt x="24384000" y="0"/>
                  </a:lnTo>
                  <a:lnTo>
                    <a:pt x="24384000" y="260858"/>
                  </a:lnTo>
                  <a:lnTo>
                    <a:pt x="0" y="260858"/>
                  </a:lnTo>
                  <a:close/>
                </a:path>
              </a:pathLst>
            </a:custGeom>
            <a:solidFill>
              <a:srgbClr val="CCA677"/>
            </a:solidFill>
          </p:spPr>
        </p:sp>
      </p:grpSp>
      <p:grpSp>
        <p:nvGrpSpPr>
          <p:cNvPr name="Group 4" id="4"/>
          <p:cNvGrpSpPr/>
          <p:nvPr/>
        </p:nvGrpSpPr>
        <p:grpSpPr>
          <a:xfrm rot="0">
            <a:off x="1028700" y="1028700"/>
            <a:ext cx="16230600" cy="2332200"/>
            <a:chOff x="0" y="0"/>
            <a:chExt cx="21640800" cy="3109600"/>
          </a:xfrm>
        </p:grpSpPr>
        <p:sp>
          <p:nvSpPr>
            <p:cNvPr name="Freeform 5" id="5"/>
            <p:cNvSpPr/>
            <p:nvPr/>
          </p:nvSpPr>
          <p:spPr>
            <a:xfrm flipH="false" flipV="false" rot="0">
              <a:off x="0" y="0"/>
              <a:ext cx="21640805" cy="3109605"/>
            </a:xfrm>
            <a:custGeom>
              <a:avLst/>
              <a:gdLst/>
              <a:ahLst/>
              <a:cxnLst/>
              <a:rect r="r" b="b" t="t" l="l"/>
              <a:pathLst>
                <a:path h="3109605" w="21640805">
                  <a:moveTo>
                    <a:pt x="0" y="0"/>
                  </a:moveTo>
                  <a:lnTo>
                    <a:pt x="21640805" y="0"/>
                  </a:lnTo>
                  <a:lnTo>
                    <a:pt x="21640805" y="3109605"/>
                  </a:lnTo>
                  <a:lnTo>
                    <a:pt x="0" y="3109605"/>
                  </a:lnTo>
                  <a:close/>
                </a:path>
              </a:pathLst>
            </a:custGeom>
            <a:blipFill>
              <a:blip r:embed="rId3">
                <a:alphaModFix amt="0"/>
              </a:blip>
              <a:stretch>
                <a:fillRect l="0" t="-92375" r="-4994" b="-92375"/>
              </a:stretch>
            </a:blipFill>
          </p:spPr>
        </p:sp>
        <p:sp>
          <p:nvSpPr>
            <p:cNvPr name="TextBox 6" id="6"/>
            <p:cNvSpPr txBox="true"/>
            <p:nvPr/>
          </p:nvSpPr>
          <p:spPr>
            <a:xfrm>
              <a:off x="0" y="-9525"/>
              <a:ext cx="21640800" cy="3119125"/>
            </a:xfrm>
            <a:prstGeom prst="rect">
              <a:avLst/>
            </a:prstGeom>
          </p:spPr>
          <p:txBody>
            <a:bodyPr anchor="b" rtlCol="false" tIns="0" lIns="0" bIns="0" rIns="0"/>
            <a:lstStyle/>
            <a:p>
              <a:pPr algn="l">
                <a:lnSpc>
                  <a:spcPts val="8399"/>
                </a:lnSpc>
              </a:pPr>
              <a:r>
                <a:rPr lang="en-US" sz="6999">
                  <a:solidFill>
                    <a:srgbClr val="000000"/>
                  </a:solidFill>
                  <a:latin typeface="Economica"/>
                  <a:ea typeface="Economica"/>
                  <a:cs typeface="Economica"/>
                  <a:sym typeface="Economica"/>
                </a:rPr>
                <a:t>Spiritual Harm &amp; Abuse Scale - Clinical Screener (SHAS-CS)</a:t>
              </a:r>
            </a:p>
            <a:p>
              <a:pPr algn="l">
                <a:lnSpc>
                  <a:spcPts val="6191"/>
                </a:lnSpc>
              </a:pPr>
              <a:r>
                <a:rPr lang="en-US" sz="5159">
                  <a:solidFill>
                    <a:srgbClr val="000000"/>
                  </a:solidFill>
                  <a:latin typeface="Economica"/>
                  <a:ea typeface="Economica"/>
                  <a:cs typeface="Economica"/>
                  <a:sym typeface="Economica"/>
                </a:rPr>
                <a:t>This is a conversation aid, not a diagnostic test.</a:t>
              </a:r>
            </a:p>
          </p:txBody>
        </p:sp>
      </p:grpSp>
      <p:sp>
        <p:nvSpPr>
          <p:cNvPr name="TextBox 7" id="7"/>
          <p:cNvSpPr txBox="true"/>
          <p:nvPr/>
        </p:nvSpPr>
        <p:spPr>
          <a:xfrm rot="0">
            <a:off x="1028700" y="3528071"/>
            <a:ext cx="16230600" cy="4486123"/>
          </a:xfrm>
          <a:prstGeom prst="rect">
            <a:avLst/>
          </a:prstGeom>
        </p:spPr>
        <p:txBody>
          <a:bodyPr anchor="t" rtlCol="false" tIns="0" lIns="0" bIns="0" rIns="0">
            <a:spAutoFit/>
          </a:bodyPr>
          <a:lstStyle/>
          <a:p>
            <a:pPr algn="l">
              <a:lnSpc>
                <a:spcPts val="4471"/>
              </a:lnSpc>
            </a:pPr>
            <a:r>
              <a:rPr lang="en-US" sz="3600">
                <a:solidFill>
                  <a:srgbClr val="000000"/>
                </a:solidFill>
                <a:latin typeface="Open Sans"/>
                <a:ea typeface="Open Sans"/>
                <a:cs typeface="Open Sans"/>
                <a:sym typeface="Open Sans"/>
              </a:rPr>
              <a:t>Examines harmful experiences and internal states associated with negative religious experiences. </a:t>
            </a:r>
          </a:p>
          <a:p>
            <a:pPr algn="l">
              <a:lnSpc>
                <a:spcPts val="4471"/>
              </a:lnSpc>
            </a:pPr>
          </a:p>
          <a:p>
            <a:pPr algn="l">
              <a:lnSpc>
                <a:spcPts val="4471"/>
              </a:lnSpc>
            </a:pPr>
            <a:r>
              <a:rPr lang="en-US" sz="3600">
                <a:solidFill>
                  <a:srgbClr val="000000"/>
                </a:solidFill>
                <a:latin typeface="Open Sans"/>
                <a:ea typeface="Open Sans"/>
                <a:cs typeface="Open Sans"/>
                <a:sym typeface="Open Sans"/>
              </a:rPr>
              <a:t>Can be used to identify areas to explore for therapy sessions and healing.</a:t>
            </a:r>
          </a:p>
          <a:p>
            <a:pPr algn="l">
              <a:lnSpc>
                <a:spcPts val="4471"/>
              </a:lnSpc>
            </a:pPr>
            <a:r>
              <a:rPr lang="en-US" sz="3600">
                <a:solidFill>
                  <a:srgbClr val="000000"/>
                </a:solidFill>
                <a:latin typeface="Open Sans"/>
                <a:ea typeface="Open Sans"/>
                <a:cs typeface="Open Sans"/>
                <a:sym typeface="Open Sans"/>
              </a:rPr>
              <a:t>Includes questions related to six areas:</a:t>
            </a:r>
          </a:p>
          <a:p>
            <a:pPr algn="l">
              <a:lnSpc>
                <a:spcPts val="4471"/>
              </a:lnSpc>
            </a:pPr>
            <a:r>
              <a:rPr lang="en-US" sz="3600">
                <a:solidFill>
                  <a:srgbClr val="000000"/>
                </a:solidFill>
                <a:latin typeface="Open Sans"/>
                <a:ea typeface="Open Sans"/>
                <a:cs typeface="Open Sans"/>
                <a:sym typeface="Open Sans"/>
              </a:rPr>
              <a:t>	Controlling Leadership	    	Embracing Violence</a:t>
            </a:r>
          </a:p>
          <a:p>
            <a:pPr algn="l">
              <a:lnSpc>
                <a:spcPts val="4471"/>
              </a:lnSpc>
            </a:pPr>
            <a:r>
              <a:rPr lang="en-US" sz="3600">
                <a:solidFill>
                  <a:srgbClr val="000000"/>
                </a:solidFill>
                <a:latin typeface="Open Sans"/>
                <a:ea typeface="Open Sans"/>
                <a:cs typeface="Open Sans"/>
                <a:sym typeface="Open Sans"/>
              </a:rPr>
              <a:t>	Maintaining the System	    	Gender Discrimination</a:t>
            </a:r>
          </a:p>
          <a:p>
            <a:pPr algn="l">
              <a:lnSpc>
                <a:spcPts val="4471"/>
              </a:lnSpc>
            </a:pPr>
            <a:r>
              <a:rPr lang="en-US" sz="3600">
                <a:solidFill>
                  <a:srgbClr val="000000"/>
                </a:solidFill>
                <a:latin typeface="Open Sans"/>
                <a:ea typeface="Open Sans"/>
                <a:cs typeface="Open Sans"/>
                <a:sym typeface="Open Sans"/>
              </a:rPr>
              <a:t>	Internal Distress			    	    Harmful God-Image</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091404"/>
            <a:ext cx="18288000" cy="195596"/>
            <a:chOff x="0" y="0"/>
            <a:chExt cx="24384000" cy="260794"/>
          </a:xfrm>
        </p:grpSpPr>
        <p:sp>
          <p:nvSpPr>
            <p:cNvPr name="Freeform 3" id="3"/>
            <p:cNvSpPr/>
            <p:nvPr/>
          </p:nvSpPr>
          <p:spPr>
            <a:xfrm flipH="false" flipV="false" rot="0">
              <a:off x="0" y="0"/>
              <a:ext cx="24384000" cy="260858"/>
            </a:xfrm>
            <a:custGeom>
              <a:avLst/>
              <a:gdLst/>
              <a:ahLst/>
              <a:cxnLst/>
              <a:rect r="r" b="b" t="t" l="l"/>
              <a:pathLst>
                <a:path h="260858" w="24384000">
                  <a:moveTo>
                    <a:pt x="0" y="0"/>
                  </a:moveTo>
                  <a:lnTo>
                    <a:pt x="24384000" y="0"/>
                  </a:lnTo>
                  <a:lnTo>
                    <a:pt x="24384000" y="260858"/>
                  </a:lnTo>
                  <a:lnTo>
                    <a:pt x="0" y="260858"/>
                  </a:lnTo>
                  <a:close/>
                </a:path>
              </a:pathLst>
            </a:custGeom>
            <a:solidFill>
              <a:srgbClr val="CCA677"/>
            </a:solidFill>
          </p:spPr>
        </p:sp>
      </p:grpSp>
      <p:grpSp>
        <p:nvGrpSpPr>
          <p:cNvPr name="Group 4" id="4"/>
          <p:cNvGrpSpPr/>
          <p:nvPr/>
        </p:nvGrpSpPr>
        <p:grpSpPr>
          <a:xfrm rot="0">
            <a:off x="9892589" y="0"/>
            <a:ext cx="7465619" cy="10287000"/>
            <a:chOff x="0" y="0"/>
            <a:chExt cx="9954158" cy="13716000"/>
          </a:xfrm>
        </p:grpSpPr>
        <p:sp>
          <p:nvSpPr>
            <p:cNvPr name="Freeform 5" id="5"/>
            <p:cNvSpPr/>
            <p:nvPr/>
          </p:nvSpPr>
          <p:spPr>
            <a:xfrm flipH="false" flipV="false" rot="0">
              <a:off x="0" y="0"/>
              <a:ext cx="9954133" cy="13716000"/>
            </a:xfrm>
            <a:custGeom>
              <a:avLst/>
              <a:gdLst/>
              <a:ahLst/>
              <a:cxnLst/>
              <a:rect r="r" b="b" t="t" l="l"/>
              <a:pathLst>
                <a:path h="13716000" w="9954133">
                  <a:moveTo>
                    <a:pt x="0" y="0"/>
                  </a:moveTo>
                  <a:lnTo>
                    <a:pt x="9954133" y="0"/>
                  </a:lnTo>
                  <a:lnTo>
                    <a:pt x="9954133" y="13716000"/>
                  </a:lnTo>
                  <a:lnTo>
                    <a:pt x="0" y="13716000"/>
                  </a:lnTo>
                  <a:lnTo>
                    <a:pt x="0" y="0"/>
                  </a:lnTo>
                  <a:close/>
                </a:path>
              </a:pathLst>
            </a:custGeom>
            <a:blipFill>
              <a:blip r:embed="rId3"/>
              <a:stretch>
                <a:fillRect l="0" t="0" r="0" b="0"/>
              </a:stretch>
            </a:blipFill>
          </p:spPr>
        </p:sp>
      </p:grpSp>
      <p:grpSp>
        <p:nvGrpSpPr>
          <p:cNvPr name="Group 6" id="6"/>
          <p:cNvGrpSpPr/>
          <p:nvPr/>
        </p:nvGrpSpPr>
        <p:grpSpPr>
          <a:xfrm rot="0">
            <a:off x="898274" y="0"/>
            <a:ext cx="8245745" cy="10287000"/>
            <a:chOff x="0" y="0"/>
            <a:chExt cx="10994326" cy="13716000"/>
          </a:xfrm>
        </p:grpSpPr>
        <p:sp>
          <p:nvSpPr>
            <p:cNvPr name="Freeform 7" id="7"/>
            <p:cNvSpPr/>
            <p:nvPr/>
          </p:nvSpPr>
          <p:spPr>
            <a:xfrm flipH="false" flipV="false" rot="0">
              <a:off x="0" y="0"/>
              <a:ext cx="10994263" cy="13716000"/>
            </a:xfrm>
            <a:custGeom>
              <a:avLst/>
              <a:gdLst/>
              <a:ahLst/>
              <a:cxnLst/>
              <a:rect r="r" b="b" t="t" l="l"/>
              <a:pathLst>
                <a:path h="13716000" w="10994263">
                  <a:moveTo>
                    <a:pt x="0" y="0"/>
                  </a:moveTo>
                  <a:lnTo>
                    <a:pt x="10994263" y="0"/>
                  </a:lnTo>
                  <a:lnTo>
                    <a:pt x="10994263" y="13716000"/>
                  </a:lnTo>
                  <a:lnTo>
                    <a:pt x="0" y="13716000"/>
                  </a:lnTo>
                  <a:lnTo>
                    <a:pt x="0" y="0"/>
                  </a:lnTo>
                  <a:close/>
                </a:path>
              </a:pathLst>
            </a:custGeom>
            <a:blipFill>
              <a:blip r:embed="rId4"/>
              <a:stretch>
                <a:fillRect l="0" t="0" r="0" b="0"/>
              </a:stretch>
            </a:blipFill>
          </p:spPr>
        </p:sp>
      </p:gr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091404"/>
            <a:ext cx="18288000" cy="195596"/>
            <a:chOff x="0" y="0"/>
            <a:chExt cx="24384000" cy="260794"/>
          </a:xfrm>
        </p:grpSpPr>
        <p:sp>
          <p:nvSpPr>
            <p:cNvPr name="Freeform 3" id="3"/>
            <p:cNvSpPr/>
            <p:nvPr/>
          </p:nvSpPr>
          <p:spPr>
            <a:xfrm flipH="false" flipV="false" rot="0">
              <a:off x="0" y="0"/>
              <a:ext cx="24384000" cy="260858"/>
            </a:xfrm>
            <a:custGeom>
              <a:avLst/>
              <a:gdLst/>
              <a:ahLst/>
              <a:cxnLst/>
              <a:rect r="r" b="b" t="t" l="l"/>
              <a:pathLst>
                <a:path h="260858" w="24384000">
                  <a:moveTo>
                    <a:pt x="0" y="0"/>
                  </a:moveTo>
                  <a:lnTo>
                    <a:pt x="24384000" y="0"/>
                  </a:lnTo>
                  <a:lnTo>
                    <a:pt x="24384000" y="260858"/>
                  </a:lnTo>
                  <a:lnTo>
                    <a:pt x="0" y="260858"/>
                  </a:lnTo>
                  <a:close/>
                </a:path>
              </a:pathLst>
            </a:custGeom>
            <a:solidFill>
              <a:srgbClr val="CCA677"/>
            </a:solidFill>
          </p:spPr>
        </p:sp>
      </p:grpSp>
      <p:grpSp>
        <p:nvGrpSpPr>
          <p:cNvPr name="Group 4" id="4"/>
          <p:cNvGrpSpPr/>
          <p:nvPr/>
        </p:nvGrpSpPr>
        <p:grpSpPr>
          <a:xfrm rot="0">
            <a:off x="1028700" y="1028700"/>
            <a:ext cx="16230600" cy="1662600"/>
            <a:chOff x="0" y="0"/>
            <a:chExt cx="21640800" cy="2216800"/>
          </a:xfrm>
        </p:grpSpPr>
        <p:sp>
          <p:nvSpPr>
            <p:cNvPr name="Freeform 5" id="5"/>
            <p:cNvSpPr/>
            <p:nvPr/>
          </p:nvSpPr>
          <p:spPr>
            <a:xfrm flipH="false" flipV="false" rot="0">
              <a:off x="0" y="0"/>
              <a:ext cx="21640805" cy="2216802"/>
            </a:xfrm>
            <a:custGeom>
              <a:avLst/>
              <a:gdLst/>
              <a:ahLst/>
              <a:cxnLst/>
              <a:rect r="r" b="b" t="t" l="l"/>
              <a:pathLst>
                <a:path h="2216802" w="21640805">
                  <a:moveTo>
                    <a:pt x="0" y="0"/>
                  </a:moveTo>
                  <a:lnTo>
                    <a:pt x="21640805" y="0"/>
                  </a:lnTo>
                  <a:lnTo>
                    <a:pt x="21640805" y="2216802"/>
                  </a:lnTo>
                  <a:lnTo>
                    <a:pt x="0" y="2216802"/>
                  </a:lnTo>
                  <a:close/>
                </a:path>
              </a:pathLst>
            </a:custGeom>
            <a:blipFill>
              <a:blip r:embed="rId3">
                <a:alphaModFix amt="0"/>
              </a:blip>
              <a:stretch>
                <a:fillRect l="0" t="-149716" r="-4994" b="-149716"/>
              </a:stretch>
            </a:blipFill>
          </p:spPr>
        </p:sp>
        <p:sp>
          <p:nvSpPr>
            <p:cNvPr name="TextBox 6" id="6"/>
            <p:cNvSpPr txBox="true"/>
            <p:nvPr/>
          </p:nvSpPr>
          <p:spPr>
            <a:xfrm>
              <a:off x="0" y="-9525"/>
              <a:ext cx="21640800" cy="2226325"/>
            </a:xfrm>
            <a:prstGeom prst="rect">
              <a:avLst/>
            </a:prstGeom>
          </p:spPr>
          <p:txBody>
            <a:bodyPr anchor="b" rtlCol="false" tIns="0" lIns="0" bIns="0" rIns="0"/>
            <a:lstStyle/>
            <a:p>
              <a:pPr algn="l">
                <a:lnSpc>
                  <a:spcPts val="10080"/>
                </a:lnSpc>
              </a:pPr>
              <a:r>
                <a:rPr lang="en-US" sz="8400">
                  <a:solidFill>
                    <a:srgbClr val="000000"/>
                  </a:solidFill>
                  <a:latin typeface="Economica"/>
                  <a:ea typeface="Economica"/>
                  <a:cs typeface="Economica"/>
                  <a:sym typeface="Economica"/>
                </a:rPr>
                <a:t>What Does the SHAS-CS Look At?</a:t>
              </a:r>
            </a:p>
          </p:txBody>
        </p:sp>
      </p:grpSp>
      <p:sp>
        <p:nvSpPr>
          <p:cNvPr name="TextBox 7" id="7"/>
          <p:cNvSpPr txBox="true"/>
          <p:nvPr/>
        </p:nvSpPr>
        <p:spPr>
          <a:xfrm rot="0">
            <a:off x="1028700" y="2672250"/>
            <a:ext cx="16230600" cy="6287788"/>
          </a:xfrm>
          <a:prstGeom prst="rect">
            <a:avLst/>
          </a:prstGeom>
        </p:spPr>
        <p:txBody>
          <a:bodyPr anchor="t" rtlCol="false" tIns="0" lIns="0" bIns="0" rIns="0">
            <a:spAutoFit/>
          </a:bodyPr>
          <a:lstStyle/>
          <a:p>
            <a:pPr algn="l">
              <a:lnSpc>
                <a:spcPts val="4135"/>
              </a:lnSpc>
            </a:pPr>
            <a:r>
              <a:rPr lang="en-US" sz="3329">
                <a:solidFill>
                  <a:srgbClr val="000000"/>
                </a:solidFill>
                <a:latin typeface="Open Sans"/>
                <a:ea typeface="Open Sans"/>
                <a:cs typeface="Open Sans"/>
                <a:sym typeface="Open Sans"/>
              </a:rPr>
              <a:t>Controlling Leadership: Pastors/leaders may be significantly exalted above parishioners and considered to have a “direct line” to a deity. They may have increased access and control over the daily lives and minutiae of group members. </a:t>
            </a:r>
          </a:p>
          <a:p>
            <a:pPr algn="l">
              <a:lnSpc>
                <a:spcPts val="4135"/>
              </a:lnSpc>
            </a:pPr>
          </a:p>
          <a:p>
            <a:pPr algn="l">
              <a:lnSpc>
                <a:spcPts val="4135"/>
              </a:lnSpc>
            </a:pPr>
            <a:r>
              <a:rPr lang="en-US" sz="3329">
                <a:solidFill>
                  <a:srgbClr val="000000"/>
                </a:solidFill>
                <a:latin typeface="Open Sans"/>
                <a:ea typeface="Open Sans"/>
                <a:cs typeface="Open Sans"/>
                <a:sym typeface="Open Sans"/>
              </a:rPr>
              <a:t>Embracing Violence: These communities may see violence in many forms as a necessary part of a higher power’s plan for the world. They may lack concern about what is appropriate for children in terms of fear, and they may often employ terror and horror to motivate religious commitment or moral behavior. </a:t>
            </a:r>
          </a:p>
          <a:p>
            <a:pPr algn="l">
              <a:lnSpc>
                <a:spcPts val="4135"/>
              </a:lnSpc>
            </a:pPr>
          </a:p>
          <a:p>
            <a:pPr algn="l">
              <a:lnSpc>
                <a:spcPts val="4135"/>
              </a:lnSpc>
            </a:pPr>
            <a:r>
              <a:rPr lang="en-US" sz="3329">
                <a:solidFill>
                  <a:srgbClr val="000000"/>
                </a:solidFill>
                <a:latin typeface="Open Sans"/>
                <a:ea typeface="Open Sans"/>
                <a:cs typeface="Open Sans"/>
                <a:sym typeface="Open Sans"/>
              </a:rPr>
              <a:t>Maintaining the System: Both leadership and group members tend to act in ways that maintain the status quo. This can take many forms: victim-blaming, shunning, protecting leaders from consequences, social isolation, and more. </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091404"/>
            <a:ext cx="18288000" cy="195596"/>
            <a:chOff x="0" y="0"/>
            <a:chExt cx="24384000" cy="260794"/>
          </a:xfrm>
        </p:grpSpPr>
        <p:sp>
          <p:nvSpPr>
            <p:cNvPr name="Freeform 3" id="3"/>
            <p:cNvSpPr/>
            <p:nvPr/>
          </p:nvSpPr>
          <p:spPr>
            <a:xfrm flipH="false" flipV="false" rot="0">
              <a:off x="0" y="0"/>
              <a:ext cx="24384000" cy="260858"/>
            </a:xfrm>
            <a:custGeom>
              <a:avLst/>
              <a:gdLst/>
              <a:ahLst/>
              <a:cxnLst/>
              <a:rect r="r" b="b" t="t" l="l"/>
              <a:pathLst>
                <a:path h="260858" w="24384000">
                  <a:moveTo>
                    <a:pt x="0" y="0"/>
                  </a:moveTo>
                  <a:lnTo>
                    <a:pt x="24384000" y="0"/>
                  </a:lnTo>
                  <a:lnTo>
                    <a:pt x="24384000" y="260858"/>
                  </a:lnTo>
                  <a:lnTo>
                    <a:pt x="0" y="260858"/>
                  </a:lnTo>
                  <a:close/>
                </a:path>
              </a:pathLst>
            </a:custGeom>
            <a:solidFill>
              <a:srgbClr val="CCA677"/>
            </a:solidFill>
          </p:spPr>
        </p:sp>
      </p:grpSp>
      <p:grpSp>
        <p:nvGrpSpPr>
          <p:cNvPr name="Group 4" id="4"/>
          <p:cNvGrpSpPr/>
          <p:nvPr/>
        </p:nvGrpSpPr>
        <p:grpSpPr>
          <a:xfrm rot="0">
            <a:off x="1028700" y="1028700"/>
            <a:ext cx="16230600" cy="1435303"/>
            <a:chOff x="0" y="0"/>
            <a:chExt cx="21640800" cy="1913738"/>
          </a:xfrm>
        </p:grpSpPr>
        <p:sp>
          <p:nvSpPr>
            <p:cNvPr name="Freeform 5" id="5"/>
            <p:cNvSpPr/>
            <p:nvPr/>
          </p:nvSpPr>
          <p:spPr>
            <a:xfrm flipH="false" flipV="false" rot="0">
              <a:off x="0" y="0"/>
              <a:ext cx="21640805" cy="1913740"/>
            </a:xfrm>
            <a:custGeom>
              <a:avLst/>
              <a:gdLst/>
              <a:ahLst/>
              <a:cxnLst/>
              <a:rect r="r" b="b" t="t" l="l"/>
              <a:pathLst>
                <a:path h="1913740" w="21640805">
                  <a:moveTo>
                    <a:pt x="0" y="0"/>
                  </a:moveTo>
                  <a:lnTo>
                    <a:pt x="21640805" y="0"/>
                  </a:lnTo>
                  <a:lnTo>
                    <a:pt x="21640805" y="1913740"/>
                  </a:lnTo>
                  <a:lnTo>
                    <a:pt x="0" y="1913740"/>
                  </a:lnTo>
                  <a:close/>
                </a:path>
              </a:pathLst>
            </a:custGeom>
            <a:blipFill>
              <a:blip r:embed="rId3">
                <a:alphaModFix amt="0"/>
              </a:blip>
              <a:stretch>
                <a:fillRect l="0" t="-173425" r="-4994" b="-189261"/>
              </a:stretch>
            </a:blipFill>
          </p:spPr>
        </p:sp>
        <p:sp>
          <p:nvSpPr>
            <p:cNvPr name="TextBox 6" id="6"/>
            <p:cNvSpPr txBox="true"/>
            <p:nvPr/>
          </p:nvSpPr>
          <p:spPr>
            <a:xfrm>
              <a:off x="0" y="-9525"/>
              <a:ext cx="21640800" cy="1923263"/>
            </a:xfrm>
            <a:prstGeom prst="rect">
              <a:avLst/>
            </a:prstGeom>
          </p:spPr>
          <p:txBody>
            <a:bodyPr anchor="b" rtlCol="false" tIns="0" lIns="0" bIns="0" rIns="0"/>
            <a:lstStyle/>
            <a:p>
              <a:pPr algn="l">
                <a:lnSpc>
                  <a:spcPts val="10080"/>
                </a:lnSpc>
              </a:pPr>
              <a:r>
                <a:rPr lang="en-US" sz="8400">
                  <a:solidFill>
                    <a:srgbClr val="000000"/>
                  </a:solidFill>
                  <a:latin typeface="Economica"/>
                  <a:ea typeface="Economica"/>
                  <a:cs typeface="Economica"/>
                  <a:sym typeface="Economica"/>
                </a:rPr>
                <a:t>What Does the SHAS-CS Look At?</a:t>
              </a:r>
            </a:p>
          </p:txBody>
        </p:sp>
      </p:grpSp>
      <p:sp>
        <p:nvSpPr>
          <p:cNvPr name="TextBox 7" id="7"/>
          <p:cNvSpPr txBox="true"/>
          <p:nvPr/>
        </p:nvSpPr>
        <p:spPr>
          <a:xfrm rot="0">
            <a:off x="1028700" y="2634150"/>
            <a:ext cx="16230600" cy="5632704"/>
          </a:xfrm>
          <a:prstGeom prst="rect">
            <a:avLst/>
          </a:prstGeom>
        </p:spPr>
        <p:txBody>
          <a:bodyPr anchor="t" rtlCol="false" tIns="0" lIns="0" bIns="0" rIns="0">
            <a:spAutoFit/>
          </a:bodyPr>
          <a:lstStyle/>
          <a:p>
            <a:pPr algn="l">
              <a:lnSpc>
                <a:spcPts val="4967"/>
              </a:lnSpc>
            </a:pPr>
            <a:r>
              <a:rPr lang="en-US" sz="3600">
                <a:solidFill>
                  <a:srgbClr val="000000"/>
                </a:solidFill>
                <a:latin typeface="Open Sans"/>
                <a:ea typeface="Open Sans"/>
                <a:cs typeface="Open Sans"/>
                <a:sym typeface="Open Sans"/>
              </a:rPr>
              <a:t>Gender Discrimination: People may be denied service or involvement opportunities or be discriminated against more broadly based on gender </a:t>
            </a:r>
          </a:p>
          <a:p>
            <a:pPr algn="l">
              <a:lnSpc>
                <a:spcPts val="4967"/>
              </a:lnSpc>
            </a:pPr>
          </a:p>
          <a:p>
            <a:pPr algn="l">
              <a:lnSpc>
                <a:spcPts val="4967"/>
              </a:lnSpc>
            </a:pPr>
            <a:r>
              <a:rPr lang="en-US" sz="3600">
                <a:solidFill>
                  <a:srgbClr val="000000"/>
                </a:solidFill>
                <a:latin typeface="Open Sans"/>
                <a:ea typeface="Open Sans"/>
                <a:cs typeface="Open Sans"/>
                <a:sym typeface="Open Sans"/>
              </a:rPr>
              <a:t>Internal Distress: Common responses associated with spiritually abusive experiences show up on this scale: depression, anxiety, self-image issues, social isolation, anger, lack of meaning, and more.</a:t>
            </a:r>
          </a:p>
          <a:p>
            <a:pPr algn="l">
              <a:lnSpc>
                <a:spcPts val="4967"/>
              </a:lnSpc>
            </a:pPr>
            <a:r>
              <a:rPr lang="en-US" sz="3600">
                <a:solidFill>
                  <a:srgbClr val="000000"/>
                </a:solidFill>
                <a:latin typeface="Open Sans"/>
                <a:ea typeface="Open Sans"/>
                <a:cs typeface="Open Sans"/>
                <a:sym typeface="Open Sans"/>
              </a:rPr>
              <a:t> </a:t>
            </a:r>
          </a:p>
          <a:p>
            <a:pPr algn="l">
              <a:lnSpc>
                <a:spcPts val="4967"/>
              </a:lnSpc>
            </a:pPr>
            <a:r>
              <a:rPr lang="en-US" sz="3600">
                <a:solidFill>
                  <a:srgbClr val="000000"/>
                </a:solidFill>
                <a:latin typeface="Open Sans"/>
                <a:ea typeface="Open Sans"/>
                <a:cs typeface="Open Sans"/>
                <a:sym typeface="Open Sans"/>
              </a:rPr>
              <a:t>Harmful God-image: May include fear, anger, betrayal, distrust, or other distress connected to a person's understanding or experience of God.</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785400" y="1784400"/>
            <a:ext cx="7473900" cy="7473900"/>
            <a:chOff x="0" y="0"/>
            <a:chExt cx="13716000" cy="13716000"/>
          </a:xfrm>
        </p:grpSpPr>
        <p:sp>
          <p:nvSpPr>
            <p:cNvPr name="Freeform 3" id="3"/>
            <p:cNvSpPr/>
            <p:nvPr/>
          </p:nvSpPr>
          <p:spPr>
            <a:xfrm flipH="false" flipV="false" rot="0">
              <a:off x="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1028700" y="1028700"/>
            <a:ext cx="10070902" cy="1511400"/>
            <a:chOff x="0" y="0"/>
            <a:chExt cx="13427869" cy="2015200"/>
          </a:xfrm>
        </p:grpSpPr>
        <p:sp>
          <p:nvSpPr>
            <p:cNvPr name="Freeform 5" id="5"/>
            <p:cNvSpPr/>
            <p:nvPr/>
          </p:nvSpPr>
          <p:spPr>
            <a:xfrm flipH="false" flipV="false" rot="0">
              <a:off x="0" y="0"/>
              <a:ext cx="13427872" cy="2015202"/>
            </a:xfrm>
            <a:custGeom>
              <a:avLst/>
              <a:gdLst/>
              <a:ahLst/>
              <a:cxnLst/>
              <a:rect r="r" b="b" t="t" l="l"/>
              <a:pathLst>
                <a:path h="2015202" w="13427872">
                  <a:moveTo>
                    <a:pt x="0" y="0"/>
                  </a:moveTo>
                  <a:lnTo>
                    <a:pt x="13427872" y="0"/>
                  </a:lnTo>
                  <a:lnTo>
                    <a:pt x="13427872" y="2015202"/>
                  </a:lnTo>
                  <a:lnTo>
                    <a:pt x="0" y="2015202"/>
                  </a:lnTo>
                  <a:close/>
                </a:path>
              </a:pathLst>
            </a:custGeom>
            <a:blipFill>
              <a:blip r:embed="rId4">
                <a:alphaModFix amt="0"/>
              </a:blip>
              <a:stretch>
                <a:fillRect l="0" t="-59847" r="15393" b="-59847"/>
              </a:stretch>
            </a:blipFill>
          </p:spPr>
        </p:sp>
        <p:sp>
          <p:nvSpPr>
            <p:cNvPr name="TextBox 6" id="6"/>
            <p:cNvSpPr txBox="true"/>
            <p:nvPr/>
          </p:nvSpPr>
          <p:spPr>
            <a:xfrm>
              <a:off x="0" y="-9525"/>
              <a:ext cx="13427869" cy="2024725"/>
            </a:xfrm>
            <a:prstGeom prst="rect">
              <a:avLst/>
            </a:prstGeom>
          </p:spPr>
          <p:txBody>
            <a:bodyPr anchor="b" rtlCol="false" tIns="0" lIns="0" bIns="0" rIns="0"/>
            <a:lstStyle/>
            <a:p>
              <a:pPr algn="l">
                <a:lnSpc>
                  <a:spcPts val="10080"/>
                </a:lnSpc>
              </a:pPr>
              <a:r>
                <a:rPr lang="en-US" sz="8400">
                  <a:solidFill>
                    <a:srgbClr val="000000"/>
                  </a:solidFill>
                  <a:latin typeface="Economica"/>
                  <a:ea typeface="Economica"/>
                  <a:cs typeface="Economica"/>
                  <a:sym typeface="Economica"/>
                </a:rPr>
                <a:t>So, where does that leave me?</a:t>
              </a:r>
            </a:p>
          </p:txBody>
        </p:sp>
      </p:grpSp>
      <p:sp>
        <p:nvSpPr>
          <p:cNvPr name="TextBox 7" id="7"/>
          <p:cNvSpPr txBox="true"/>
          <p:nvPr/>
        </p:nvSpPr>
        <p:spPr>
          <a:xfrm rot="0">
            <a:off x="1028700" y="2919650"/>
            <a:ext cx="9833402" cy="6043971"/>
          </a:xfrm>
          <a:prstGeom prst="rect">
            <a:avLst/>
          </a:prstGeom>
        </p:spPr>
        <p:txBody>
          <a:bodyPr anchor="t" rtlCol="false" tIns="0" lIns="0" bIns="0" rIns="0">
            <a:spAutoFit/>
          </a:bodyPr>
          <a:lstStyle/>
          <a:p>
            <a:pPr algn="l">
              <a:lnSpc>
                <a:spcPts val="4013"/>
              </a:lnSpc>
            </a:pPr>
            <a:r>
              <a:rPr lang="en-US" sz="2908">
                <a:solidFill>
                  <a:srgbClr val="000000"/>
                </a:solidFill>
                <a:latin typeface="Arial"/>
                <a:ea typeface="Arial"/>
                <a:cs typeface="Arial"/>
                <a:sym typeface="Arial"/>
              </a:rPr>
              <a:t>Feeling angry with God or with those in authority</a:t>
            </a:r>
          </a:p>
          <a:p>
            <a:pPr algn="l">
              <a:lnSpc>
                <a:spcPts val="4013"/>
              </a:lnSpc>
            </a:pPr>
            <a:r>
              <a:rPr lang="en-US" sz="2908">
                <a:solidFill>
                  <a:srgbClr val="000000"/>
                </a:solidFill>
                <a:latin typeface="Arial"/>
                <a:ea typeface="Arial"/>
                <a:cs typeface="Arial"/>
                <a:sym typeface="Arial"/>
              </a:rPr>
              <a:t>Experiencing existential distress: feeling deeply unsettled, empty, or uncertain about meaning or purpose</a:t>
            </a:r>
          </a:p>
          <a:p>
            <a:pPr algn="l">
              <a:lnSpc>
                <a:spcPts val="4013"/>
              </a:lnSpc>
            </a:pPr>
            <a:r>
              <a:rPr lang="en-US" sz="2908">
                <a:solidFill>
                  <a:srgbClr val="000000"/>
                </a:solidFill>
                <a:latin typeface="Arial"/>
                <a:ea typeface="Arial"/>
                <a:cs typeface="Arial"/>
                <a:sym typeface="Arial"/>
              </a:rPr>
              <a:t>Struggling to connect genuinely and deeply with other people</a:t>
            </a:r>
          </a:p>
          <a:p>
            <a:pPr algn="l">
              <a:lnSpc>
                <a:spcPts val="4013"/>
              </a:lnSpc>
            </a:pPr>
            <a:r>
              <a:rPr lang="en-US" sz="2908">
                <a:solidFill>
                  <a:srgbClr val="000000"/>
                </a:solidFill>
                <a:latin typeface="Arial"/>
                <a:ea typeface="Arial"/>
                <a:cs typeface="Arial"/>
                <a:sym typeface="Arial"/>
              </a:rPr>
              <a:t>Feeling forgotten, forsaken, or neglected by God and/or the world</a:t>
            </a:r>
          </a:p>
          <a:p>
            <a:pPr algn="l">
              <a:lnSpc>
                <a:spcPts val="4013"/>
              </a:lnSpc>
            </a:pPr>
            <a:r>
              <a:rPr lang="en-US" sz="2908">
                <a:solidFill>
                  <a:srgbClr val="000000"/>
                </a:solidFill>
                <a:latin typeface="Arial"/>
                <a:ea typeface="Arial"/>
                <a:cs typeface="Arial"/>
                <a:sym typeface="Arial"/>
              </a:rPr>
              <a:t>Difficulty trusting others or your own judgment</a:t>
            </a:r>
          </a:p>
          <a:p>
            <a:pPr algn="l">
              <a:lnSpc>
                <a:spcPts val="4013"/>
              </a:lnSpc>
            </a:pPr>
            <a:r>
              <a:rPr lang="en-US" sz="2908">
                <a:solidFill>
                  <a:srgbClr val="000000"/>
                </a:solidFill>
                <a:latin typeface="Arial"/>
                <a:ea typeface="Arial"/>
                <a:cs typeface="Arial"/>
                <a:sym typeface="Arial"/>
              </a:rPr>
              <a:t>Experiencing shame or feelings of unworthiness</a:t>
            </a:r>
          </a:p>
          <a:p>
            <a:pPr algn="l">
              <a:lnSpc>
                <a:spcPts val="4013"/>
              </a:lnSpc>
            </a:pPr>
            <a:r>
              <a:rPr lang="en-US" sz="2908">
                <a:solidFill>
                  <a:srgbClr val="000000"/>
                </a:solidFill>
                <a:latin typeface="Arial"/>
                <a:ea typeface="Arial"/>
                <a:cs typeface="Arial"/>
                <a:sym typeface="Arial"/>
              </a:rPr>
              <a:t>Loss of self-esteem</a:t>
            </a:r>
          </a:p>
          <a:p>
            <a:pPr algn="l">
              <a:lnSpc>
                <a:spcPts val="4013"/>
              </a:lnSpc>
            </a:pPr>
            <a:r>
              <a:rPr lang="en-US" sz="2908">
                <a:solidFill>
                  <a:srgbClr val="000000"/>
                </a:solidFill>
                <a:latin typeface="Arial"/>
                <a:ea typeface="Arial"/>
                <a:cs typeface="Arial"/>
                <a:sym typeface="Arial"/>
              </a:rPr>
              <a:t>Identity struggles: uncertainty about personal values, beliefs, or purpose</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091404"/>
            <a:ext cx="18288000" cy="195596"/>
            <a:chOff x="0" y="0"/>
            <a:chExt cx="24384000" cy="260794"/>
          </a:xfrm>
        </p:grpSpPr>
        <p:sp>
          <p:nvSpPr>
            <p:cNvPr name="Freeform 3" id="3"/>
            <p:cNvSpPr/>
            <p:nvPr/>
          </p:nvSpPr>
          <p:spPr>
            <a:xfrm flipH="false" flipV="false" rot="0">
              <a:off x="0" y="0"/>
              <a:ext cx="24384000" cy="260858"/>
            </a:xfrm>
            <a:custGeom>
              <a:avLst/>
              <a:gdLst/>
              <a:ahLst/>
              <a:cxnLst/>
              <a:rect r="r" b="b" t="t" l="l"/>
              <a:pathLst>
                <a:path h="260858" w="24384000">
                  <a:moveTo>
                    <a:pt x="0" y="0"/>
                  </a:moveTo>
                  <a:lnTo>
                    <a:pt x="24384000" y="0"/>
                  </a:lnTo>
                  <a:lnTo>
                    <a:pt x="24384000" y="260858"/>
                  </a:lnTo>
                  <a:lnTo>
                    <a:pt x="0" y="260858"/>
                  </a:lnTo>
                  <a:close/>
                </a:path>
              </a:pathLst>
            </a:custGeom>
            <a:solidFill>
              <a:srgbClr val="CCA677"/>
            </a:solidFill>
          </p:spPr>
        </p:sp>
      </p:grpSp>
      <p:grpSp>
        <p:nvGrpSpPr>
          <p:cNvPr name="Group 4" id="4"/>
          <p:cNvGrpSpPr/>
          <p:nvPr/>
        </p:nvGrpSpPr>
        <p:grpSpPr>
          <a:xfrm rot="0">
            <a:off x="1028700" y="1028700"/>
            <a:ext cx="11757603" cy="8181604"/>
            <a:chOff x="0" y="0"/>
            <a:chExt cx="15676804" cy="10908805"/>
          </a:xfrm>
        </p:grpSpPr>
        <p:sp>
          <p:nvSpPr>
            <p:cNvPr name="Freeform 5" id="5"/>
            <p:cNvSpPr/>
            <p:nvPr/>
          </p:nvSpPr>
          <p:spPr>
            <a:xfrm flipH="false" flipV="false" rot="0">
              <a:off x="0" y="0"/>
              <a:ext cx="15676800" cy="10908800"/>
            </a:xfrm>
            <a:custGeom>
              <a:avLst/>
              <a:gdLst/>
              <a:ahLst/>
              <a:cxnLst/>
              <a:rect r="r" b="b" t="t" l="l"/>
              <a:pathLst>
                <a:path h="10908800" w="15676800">
                  <a:moveTo>
                    <a:pt x="0" y="0"/>
                  </a:moveTo>
                  <a:lnTo>
                    <a:pt x="15676800" y="0"/>
                  </a:lnTo>
                  <a:lnTo>
                    <a:pt x="15676800" y="10908800"/>
                  </a:lnTo>
                  <a:lnTo>
                    <a:pt x="0" y="10908800"/>
                  </a:lnTo>
                  <a:close/>
                </a:path>
              </a:pathLst>
            </a:custGeom>
            <a:blipFill>
              <a:blip r:embed="rId3">
                <a:alphaModFix amt="0"/>
              </a:blip>
              <a:stretch>
                <a:fillRect l="-39280" t="0" r="-39280" b="0"/>
              </a:stretch>
            </a:blipFill>
          </p:spPr>
        </p:sp>
        <p:sp>
          <p:nvSpPr>
            <p:cNvPr name="TextBox 6" id="6"/>
            <p:cNvSpPr txBox="true"/>
            <p:nvPr/>
          </p:nvSpPr>
          <p:spPr>
            <a:xfrm>
              <a:off x="0" y="-9525"/>
              <a:ext cx="15676804" cy="10918330"/>
            </a:xfrm>
            <a:prstGeom prst="rect">
              <a:avLst/>
            </a:prstGeom>
          </p:spPr>
          <p:txBody>
            <a:bodyPr anchor="ctr" rtlCol="false" tIns="0" lIns="0" bIns="0" rIns="0"/>
            <a:lstStyle/>
            <a:p>
              <a:pPr algn="l">
                <a:lnSpc>
                  <a:spcPts val="11519"/>
                </a:lnSpc>
              </a:pPr>
              <a:r>
                <a:rPr lang="en-US" sz="9600">
                  <a:solidFill>
                    <a:srgbClr val="000000"/>
                  </a:solidFill>
                  <a:latin typeface="Economica"/>
                  <a:ea typeface="Economica"/>
                  <a:cs typeface="Economica"/>
                  <a:sym typeface="Economica"/>
                </a:rPr>
                <a:t>Great…. Now what?</a:t>
              </a:r>
            </a:p>
          </p:txBody>
        </p:sp>
      </p:grpSp>
      <p:grpSp>
        <p:nvGrpSpPr>
          <p:cNvPr name="Group 7" id="7"/>
          <p:cNvGrpSpPr/>
          <p:nvPr/>
        </p:nvGrpSpPr>
        <p:grpSpPr>
          <a:xfrm rot="0">
            <a:off x="12722654" y="1021675"/>
            <a:ext cx="4536646" cy="3780538"/>
            <a:chOff x="0" y="0"/>
            <a:chExt cx="7399858" cy="6166548"/>
          </a:xfrm>
        </p:grpSpPr>
        <p:sp>
          <p:nvSpPr>
            <p:cNvPr name="Freeform 8" id="8"/>
            <p:cNvSpPr/>
            <p:nvPr/>
          </p:nvSpPr>
          <p:spPr>
            <a:xfrm flipH="false" flipV="false" rot="0">
              <a:off x="0" y="0"/>
              <a:ext cx="7399909" cy="6166612"/>
            </a:xfrm>
            <a:custGeom>
              <a:avLst/>
              <a:gdLst/>
              <a:ahLst/>
              <a:cxnLst/>
              <a:rect r="r" b="b" t="t" l="l"/>
              <a:pathLst>
                <a:path h="6166612" w="7399909">
                  <a:moveTo>
                    <a:pt x="0" y="0"/>
                  </a:moveTo>
                  <a:lnTo>
                    <a:pt x="7399909" y="0"/>
                  </a:lnTo>
                  <a:lnTo>
                    <a:pt x="7399909" y="6166612"/>
                  </a:lnTo>
                  <a:lnTo>
                    <a:pt x="0" y="6166612"/>
                  </a:lnTo>
                  <a:lnTo>
                    <a:pt x="0" y="0"/>
                  </a:lnTo>
                  <a:close/>
                </a:path>
              </a:pathLst>
            </a:custGeom>
            <a:blipFill>
              <a:blip r:embed="rId4"/>
              <a:stretch>
                <a:fillRect l="0" t="0" r="0" b="1"/>
              </a:stretch>
            </a:blipFill>
          </p:spPr>
        </p:sp>
      </p:grpSp>
      <p:grpSp>
        <p:nvGrpSpPr>
          <p:cNvPr name="Group 9" id="9"/>
          <p:cNvGrpSpPr/>
          <p:nvPr/>
        </p:nvGrpSpPr>
        <p:grpSpPr>
          <a:xfrm rot="0">
            <a:off x="12481778" y="5028286"/>
            <a:ext cx="5018399" cy="4182018"/>
            <a:chOff x="0" y="0"/>
            <a:chExt cx="7211200" cy="6009361"/>
          </a:xfrm>
        </p:grpSpPr>
        <p:sp>
          <p:nvSpPr>
            <p:cNvPr name="Freeform 10" id="10"/>
            <p:cNvSpPr/>
            <p:nvPr/>
          </p:nvSpPr>
          <p:spPr>
            <a:xfrm flipH="false" flipV="false" rot="0">
              <a:off x="0" y="0"/>
              <a:ext cx="7211187" cy="6009386"/>
            </a:xfrm>
            <a:custGeom>
              <a:avLst/>
              <a:gdLst/>
              <a:ahLst/>
              <a:cxnLst/>
              <a:rect r="r" b="b" t="t" l="l"/>
              <a:pathLst>
                <a:path h="6009386" w="7211187">
                  <a:moveTo>
                    <a:pt x="0" y="0"/>
                  </a:moveTo>
                  <a:lnTo>
                    <a:pt x="7211187" y="0"/>
                  </a:lnTo>
                  <a:lnTo>
                    <a:pt x="7211187" y="6009386"/>
                  </a:lnTo>
                  <a:lnTo>
                    <a:pt x="0" y="6009386"/>
                  </a:lnTo>
                  <a:lnTo>
                    <a:pt x="0" y="0"/>
                  </a:lnTo>
                  <a:close/>
                </a:path>
              </a:pathLst>
            </a:custGeom>
            <a:blipFill>
              <a:blip r:embed="rId5"/>
              <a:stretch>
                <a:fillRect l="0" t="0" r="0" b="0"/>
              </a:stretch>
            </a:blipFill>
          </p:spPr>
        </p:sp>
      </p:grpSp>
      <p:grpSp>
        <p:nvGrpSpPr>
          <p:cNvPr name="Group 11" id="11"/>
          <p:cNvGrpSpPr/>
          <p:nvPr/>
        </p:nvGrpSpPr>
        <p:grpSpPr>
          <a:xfrm rot="0">
            <a:off x="5294427" y="623661"/>
            <a:ext cx="5491876" cy="4576565"/>
            <a:chOff x="0" y="0"/>
            <a:chExt cx="7399795" cy="6166498"/>
          </a:xfrm>
        </p:grpSpPr>
        <p:sp>
          <p:nvSpPr>
            <p:cNvPr name="Freeform 12" id="12"/>
            <p:cNvSpPr/>
            <p:nvPr/>
          </p:nvSpPr>
          <p:spPr>
            <a:xfrm flipH="false" flipV="false" rot="0">
              <a:off x="0" y="0"/>
              <a:ext cx="7399782" cy="6166485"/>
            </a:xfrm>
            <a:custGeom>
              <a:avLst/>
              <a:gdLst/>
              <a:ahLst/>
              <a:cxnLst/>
              <a:rect r="r" b="b" t="t" l="l"/>
              <a:pathLst>
                <a:path h="6166485" w="7399782">
                  <a:moveTo>
                    <a:pt x="0" y="0"/>
                  </a:moveTo>
                  <a:lnTo>
                    <a:pt x="7399782" y="0"/>
                  </a:lnTo>
                  <a:lnTo>
                    <a:pt x="7399782" y="6166485"/>
                  </a:lnTo>
                  <a:lnTo>
                    <a:pt x="0" y="6166485"/>
                  </a:lnTo>
                  <a:lnTo>
                    <a:pt x="0" y="0"/>
                  </a:lnTo>
                  <a:close/>
                </a:path>
              </a:pathLst>
            </a:custGeom>
            <a:blipFill>
              <a:blip r:embed="rId6"/>
              <a:stretch>
                <a:fillRect l="0" t="0" r="0" b="0"/>
              </a:stretch>
            </a:blipFill>
          </p:spPr>
        </p:sp>
      </p:grpSp>
      <p:grpSp>
        <p:nvGrpSpPr>
          <p:cNvPr name="Group 13" id="13"/>
          <p:cNvGrpSpPr/>
          <p:nvPr/>
        </p:nvGrpSpPr>
        <p:grpSpPr>
          <a:xfrm rot="0">
            <a:off x="2970025" y="5200227"/>
            <a:ext cx="4648803" cy="3874004"/>
            <a:chOff x="0" y="0"/>
            <a:chExt cx="7211200" cy="6009335"/>
          </a:xfrm>
        </p:grpSpPr>
        <p:sp>
          <p:nvSpPr>
            <p:cNvPr name="Freeform 14" id="14"/>
            <p:cNvSpPr/>
            <p:nvPr/>
          </p:nvSpPr>
          <p:spPr>
            <a:xfrm flipH="false" flipV="false" rot="0">
              <a:off x="0" y="0"/>
              <a:ext cx="7211187" cy="6009386"/>
            </a:xfrm>
            <a:custGeom>
              <a:avLst/>
              <a:gdLst/>
              <a:ahLst/>
              <a:cxnLst/>
              <a:rect r="r" b="b" t="t" l="l"/>
              <a:pathLst>
                <a:path h="6009386" w="7211187">
                  <a:moveTo>
                    <a:pt x="0" y="0"/>
                  </a:moveTo>
                  <a:lnTo>
                    <a:pt x="7211187" y="0"/>
                  </a:lnTo>
                  <a:lnTo>
                    <a:pt x="7211187" y="6009386"/>
                  </a:lnTo>
                  <a:lnTo>
                    <a:pt x="0" y="6009386"/>
                  </a:lnTo>
                  <a:lnTo>
                    <a:pt x="0" y="0"/>
                  </a:lnTo>
                  <a:close/>
                </a:path>
              </a:pathLst>
            </a:custGeom>
            <a:blipFill>
              <a:blip r:embed="rId7"/>
              <a:stretch>
                <a:fillRect l="0" t="0" r="0" b="0"/>
              </a:stretch>
            </a:blipFill>
          </p:spPr>
        </p:sp>
      </p:grpSp>
      <p:grpSp>
        <p:nvGrpSpPr>
          <p:cNvPr name="Group 15" id="15"/>
          <p:cNvGrpSpPr/>
          <p:nvPr/>
        </p:nvGrpSpPr>
        <p:grpSpPr>
          <a:xfrm rot="0">
            <a:off x="8677685" y="3662852"/>
            <a:ext cx="4975466" cy="4146231"/>
            <a:chOff x="0" y="0"/>
            <a:chExt cx="7399858" cy="6166561"/>
          </a:xfrm>
        </p:grpSpPr>
        <p:sp>
          <p:nvSpPr>
            <p:cNvPr name="Freeform 16" id="16"/>
            <p:cNvSpPr/>
            <p:nvPr/>
          </p:nvSpPr>
          <p:spPr>
            <a:xfrm flipH="false" flipV="false" rot="0">
              <a:off x="0" y="0"/>
              <a:ext cx="7399909" cy="6166612"/>
            </a:xfrm>
            <a:custGeom>
              <a:avLst/>
              <a:gdLst/>
              <a:ahLst/>
              <a:cxnLst/>
              <a:rect r="r" b="b" t="t" l="l"/>
              <a:pathLst>
                <a:path h="6166612" w="7399909">
                  <a:moveTo>
                    <a:pt x="0" y="0"/>
                  </a:moveTo>
                  <a:lnTo>
                    <a:pt x="7399909" y="0"/>
                  </a:lnTo>
                  <a:lnTo>
                    <a:pt x="7399909" y="6166612"/>
                  </a:lnTo>
                  <a:lnTo>
                    <a:pt x="0" y="6166612"/>
                  </a:lnTo>
                  <a:lnTo>
                    <a:pt x="0" y="0"/>
                  </a:lnTo>
                  <a:close/>
                </a:path>
              </a:pathLst>
            </a:custGeom>
            <a:blipFill>
              <a:blip r:embed="rId8"/>
              <a:stretch>
                <a:fillRect l="0" t="0" r="0" b="0"/>
              </a:stretch>
            </a:blipFill>
          </p:spPr>
        </p:sp>
      </p:grpSp>
      <p:grpSp>
        <p:nvGrpSpPr>
          <p:cNvPr name="Group 17" id="17"/>
          <p:cNvGrpSpPr/>
          <p:nvPr/>
        </p:nvGrpSpPr>
        <p:grpSpPr>
          <a:xfrm rot="0">
            <a:off x="492919" y="623661"/>
            <a:ext cx="4801508" cy="3832152"/>
            <a:chOff x="0" y="0"/>
            <a:chExt cx="7399795" cy="5905882"/>
          </a:xfrm>
        </p:grpSpPr>
        <p:sp>
          <p:nvSpPr>
            <p:cNvPr name="Freeform 18" id="18"/>
            <p:cNvSpPr/>
            <p:nvPr/>
          </p:nvSpPr>
          <p:spPr>
            <a:xfrm flipH="false" flipV="false" rot="0">
              <a:off x="0" y="0"/>
              <a:ext cx="7399782" cy="5905882"/>
            </a:xfrm>
            <a:custGeom>
              <a:avLst/>
              <a:gdLst/>
              <a:ahLst/>
              <a:cxnLst/>
              <a:rect r="r" b="b" t="t" l="l"/>
              <a:pathLst>
                <a:path h="5905882" w="7399782">
                  <a:moveTo>
                    <a:pt x="0" y="0"/>
                  </a:moveTo>
                  <a:lnTo>
                    <a:pt x="7399782" y="0"/>
                  </a:lnTo>
                  <a:lnTo>
                    <a:pt x="7399782" y="5905882"/>
                  </a:lnTo>
                  <a:lnTo>
                    <a:pt x="0" y="5905882"/>
                  </a:lnTo>
                  <a:lnTo>
                    <a:pt x="0" y="0"/>
                  </a:lnTo>
                  <a:close/>
                </a:path>
              </a:pathLst>
            </a:custGeom>
            <a:blipFill>
              <a:blip r:embed="rId9"/>
              <a:stretch>
                <a:fillRect l="0" t="-2206" r="0" b="-2206"/>
              </a:stretch>
            </a:blipFill>
          </p:spPr>
        </p:sp>
      </p:gr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091404"/>
            <a:ext cx="18288000" cy="195596"/>
            <a:chOff x="0" y="0"/>
            <a:chExt cx="24384000" cy="260794"/>
          </a:xfrm>
        </p:grpSpPr>
        <p:sp>
          <p:nvSpPr>
            <p:cNvPr name="Freeform 3" id="3"/>
            <p:cNvSpPr/>
            <p:nvPr/>
          </p:nvSpPr>
          <p:spPr>
            <a:xfrm flipH="false" flipV="false" rot="0">
              <a:off x="0" y="0"/>
              <a:ext cx="24384000" cy="260858"/>
            </a:xfrm>
            <a:custGeom>
              <a:avLst/>
              <a:gdLst/>
              <a:ahLst/>
              <a:cxnLst/>
              <a:rect r="r" b="b" t="t" l="l"/>
              <a:pathLst>
                <a:path h="260858" w="24384000">
                  <a:moveTo>
                    <a:pt x="0" y="0"/>
                  </a:moveTo>
                  <a:lnTo>
                    <a:pt x="24384000" y="0"/>
                  </a:lnTo>
                  <a:lnTo>
                    <a:pt x="24384000" y="260858"/>
                  </a:lnTo>
                  <a:lnTo>
                    <a:pt x="0" y="260858"/>
                  </a:lnTo>
                  <a:close/>
                </a:path>
              </a:pathLst>
            </a:custGeom>
            <a:solidFill>
              <a:srgbClr val="CCA677"/>
            </a:solidFill>
          </p:spPr>
        </p:sp>
      </p:grpSp>
      <p:grpSp>
        <p:nvGrpSpPr>
          <p:cNvPr name="Group 4" id="4"/>
          <p:cNvGrpSpPr/>
          <p:nvPr/>
        </p:nvGrpSpPr>
        <p:grpSpPr>
          <a:xfrm rot="0">
            <a:off x="1028700" y="1028700"/>
            <a:ext cx="16230600" cy="1662600"/>
            <a:chOff x="0" y="0"/>
            <a:chExt cx="21640800" cy="2216800"/>
          </a:xfrm>
        </p:grpSpPr>
        <p:sp>
          <p:nvSpPr>
            <p:cNvPr name="Freeform 5" id="5"/>
            <p:cNvSpPr/>
            <p:nvPr/>
          </p:nvSpPr>
          <p:spPr>
            <a:xfrm flipH="false" flipV="false" rot="0">
              <a:off x="0" y="0"/>
              <a:ext cx="21640805" cy="2216802"/>
            </a:xfrm>
            <a:custGeom>
              <a:avLst/>
              <a:gdLst/>
              <a:ahLst/>
              <a:cxnLst/>
              <a:rect r="r" b="b" t="t" l="l"/>
              <a:pathLst>
                <a:path h="2216802" w="21640805">
                  <a:moveTo>
                    <a:pt x="0" y="0"/>
                  </a:moveTo>
                  <a:lnTo>
                    <a:pt x="21640805" y="0"/>
                  </a:lnTo>
                  <a:lnTo>
                    <a:pt x="21640805" y="2216802"/>
                  </a:lnTo>
                  <a:lnTo>
                    <a:pt x="0" y="2216802"/>
                  </a:lnTo>
                  <a:close/>
                </a:path>
              </a:pathLst>
            </a:custGeom>
            <a:blipFill>
              <a:blip r:embed="rId3">
                <a:alphaModFix amt="0"/>
              </a:blip>
              <a:stretch>
                <a:fillRect l="0" t="-149716" r="-4994" b="-149716"/>
              </a:stretch>
            </a:blipFill>
          </p:spPr>
        </p:sp>
        <p:sp>
          <p:nvSpPr>
            <p:cNvPr name="TextBox 6" id="6"/>
            <p:cNvSpPr txBox="true"/>
            <p:nvPr/>
          </p:nvSpPr>
          <p:spPr>
            <a:xfrm>
              <a:off x="0" y="-9525"/>
              <a:ext cx="21640800" cy="2226325"/>
            </a:xfrm>
            <a:prstGeom prst="rect">
              <a:avLst/>
            </a:prstGeom>
          </p:spPr>
          <p:txBody>
            <a:bodyPr anchor="b" rtlCol="false" tIns="0" lIns="0" bIns="0" rIns="0"/>
            <a:lstStyle/>
            <a:p>
              <a:pPr algn="l">
                <a:lnSpc>
                  <a:spcPts val="10080"/>
                </a:lnSpc>
              </a:pPr>
              <a:r>
                <a:rPr lang="en-US" sz="8400">
                  <a:solidFill>
                    <a:srgbClr val="000000"/>
                  </a:solidFill>
                  <a:latin typeface="Economica"/>
                  <a:ea typeface="Economica"/>
                  <a:cs typeface="Economica"/>
                  <a:sym typeface="Economica"/>
                </a:rPr>
                <a:t>Healing from Spiritual Trauma</a:t>
              </a:r>
            </a:p>
          </p:txBody>
        </p:sp>
      </p:grpSp>
      <p:sp>
        <p:nvSpPr>
          <p:cNvPr name="TextBox 7" id="7"/>
          <p:cNvSpPr txBox="true"/>
          <p:nvPr/>
        </p:nvSpPr>
        <p:spPr>
          <a:xfrm rot="0">
            <a:off x="1028700" y="3037831"/>
            <a:ext cx="16230600" cy="5240038"/>
          </a:xfrm>
          <a:prstGeom prst="rect">
            <a:avLst/>
          </a:prstGeom>
        </p:spPr>
        <p:txBody>
          <a:bodyPr anchor="t" rtlCol="false" tIns="0" lIns="0" bIns="0" rIns="0">
            <a:spAutoFit/>
          </a:bodyPr>
          <a:lstStyle/>
          <a:p>
            <a:pPr algn="l">
              <a:lnSpc>
                <a:spcPts val="4135"/>
              </a:lnSpc>
            </a:pPr>
            <a:r>
              <a:rPr lang="en-US" sz="3329">
                <a:solidFill>
                  <a:srgbClr val="000000"/>
                </a:solidFill>
                <a:latin typeface="Open Sans"/>
                <a:ea typeface="Open Sans"/>
                <a:cs typeface="Open Sans"/>
                <a:sym typeface="Open Sans"/>
              </a:rPr>
              <a:t>Name What Happened in Language That Fits You</a:t>
            </a:r>
          </a:p>
          <a:p>
            <a:pPr algn="l" marL="718947" indent="-359473" lvl="1">
              <a:lnSpc>
                <a:spcPts val="4135"/>
              </a:lnSpc>
              <a:buFont typeface="Arial"/>
              <a:buChar char="•"/>
            </a:pPr>
            <a:r>
              <a:rPr lang="en-US" sz="3329">
                <a:solidFill>
                  <a:srgbClr val="000000"/>
                </a:solidFill>
                <a:latin typeface="Open Sans"/>
                <a:ea typeface="Open Sans"/>
                <a:cs typeface="Open Sans"/>
                <a:sym typeface="Open Sans"/>
              </a:rPr>
              <a:t>May include experiences of loss of identity/community and/or betrayal</a:t>
            </a:r>
          </a:p>
          <a:p>
            <a:pPr algn="l">
              <a:lnSpc>
                <a:spcPts val="4135"/>
              </a:lnSpc>
            </a:pPr>
          </a:p>
          <a:p>
            <a:pPr algn="l">
              <a:lnSpc>
                <a:spcPts val="4135"/>
              </a:lnSpc>
            </a:pPr>
            <a:r>
              <a:rPr lang="en-US" sz="3329">
                <a:solidFill>
                  <a:srgbClr val="000000"/>
                </a:solidFill>
                <a:latin typeface="Open Sans"/>
                <a:ea typeface="Open Sans"/>
                <a:cs typeface="Open Sans"/>
                <a:sym typeface="Open Sans"/>
              </a:rPr>
              <a:t>Acknowledge and accept your experience(s)</a:t>
            </a:r>
          </a:p>
          <a:p>
            <a:pPr algn="l" marL="718947" indent="-359473" lvl="1">
              <a:lnSpc>
                <a:spcPts val="4135"/>
              </a:lnSpc>
              <a:buFont typeface="Arial"/>
              <a:buChar char="•"/>
            </a:pPr>
            <a:r>
              <a:rPr lang="en-US" sz="3329">
                <a:solidFill>
                  <a:srgbClr val="000000"/>
                </a:solidFill>
                <a:latin typeface="Open Sans"/>
                <a:ea typeface="Open Sans"/>
                <a:cs typeface="Open Sans"/>
                <a:sym typeface="Open Sans"/>
              </a:rPr>
              <a:t>Validating the Pain: Recognizing the trauma’s existence and impact on your life</a:t>
            </a:r>
          </a:p>
          <a:p>
            <a:pPr algn="l">
              <a:lnSpc>
                <a:spcPts val="4135"/>
              </a:lnSpc>
            </a:pPr>
          </a:p>
          <a:p>
            <a:pPr algn="l">
              <a:lnSpc>
                <a:spcPts val="4135"/>
              </a:lnSpc>
            </a:pPr>
            <a:r>
              <a:rPr lang="en-US" sz="3329">
                <a:solidFill>
                  <a:srgbClr val="000000"/>
                </a:solidFill>
                <a:latin typeface="Open Sans"/>
                <a:ea typeface="Open Sans"/>
                <a:cs typeface="Open Sans"/>
                <a:sym typeface="Open Sans"/>
              </a:rPr>
              <a:t>Consider Support or Therapy</a:t>
            </a:r>
          </a:p>
          <a:p>
            <a:pPr algn="l" marL="718947" indent="-359473" lvl="1">
              <a:lnSpc>
                <a:spcPts val="4135"/>
              </a:lnSpc>
              <a:buFont typeface="Arial"/>
              <a:buChar char="•"/>
            </a:pPr>
            <a:r>
              <a:rPr lang="en-US" sz="3329">
                <a:solidFill>
                  <a:srgbClr val="000000"/>
                </a:solidFill>
                <a:latin typeface="Open Sans"/>
                <a:ea typeface="Open Sans"/>
                <a:cs typeface="Open Sans"/>
                <a:sym typeface="Open Sans"/>
              </a:rPr>
              <a:t>Seeking Professional Help: A therapist can help you explore values, beliefs, identity, and the impact of your experiences in a supportive setting.</a:t>
            </a:r>
          </a:p>
          <a:p>
            <a:pPr algn="l" marL="718947" indent="-359473" lvl="1">
              <a:lnSpc>
                <a:spcPts val="4135"/>
              </a:lnSpc>
              <a:buFont typeface="Arial"/>
              <a:buChar char="•"/>
            </a:pPr>
            <a:r>
              <a:rPr lang="en-US" sz="3329">
                <a:solidFill>
                  <a:srgbClr val="000000"/>
                </a:solidFill>
                <a:latin typeface="Open Sans"/>
                <a:ea typeface="Open Sans"/>
                <a:cs typeface="Open Sans"/>
                <a:sym typeface="Open Sans"/>
              </a:rPr>
              <a:t>Many different types of trauma therapy</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091404"/>
            <a:ext cx="18288000" cy="195596"/>
            <a:chOff x="0" y="0"/>
            <a:chExt cx="24384000" cy="260794"/>
          </a:xfrm>
        </p:grpSpPr>
        <p:sp>
          <p:nvSpPr>
            <p:cNvPr name="Freeform 3" id="3"/>
            <p:cNvSpPr/>
            <p:nvPr/>
          </p:nvSpPr>
          <p:spPr>
            <a:xfrm flipH="false" flipV="false" rot="0">
              <a:off x="0" y="0"/>
              <a:ext cx="24384000" cy="260858"/>
            </a:xfrm>
            <a:custGeom>
              <a:avLst/>
              <a:gdLst/>
              <a:ahLst/>
              <a:cxnLst/>
              <a:rect r="r" b="b" t="t" l="l"/>
              <a:pathLst>
                <a:path h="260858" w="24384000">
                  <a:moveTo>
                    <a:pt x="0" y="0"/>
                  </a:moveTo>
                  <a:lnTo>
                    <a:pt x="24384000" y="0"/>
                  </a:lnTo>
                  <a:lnTo>
                    <a:pt x="24384000" y="260858"/>
                  </a:lnTo>
                  <a:lnTo>
                    <a:pt x="0" y="260858"/>
                  </a:lnTo>
                  <a:close/>
                </a:path>
              </a:pathLst>
            </a:custGeom>
            <a:solidFill>
              <a:srgbClr val="CCA677"/>
            </a:solidFill>
          </p:spPr>
        </p:sp>
      </p:grpSp>
      <p:grpSp>
        <p:nvGrpSpPr>
          <p:cNvPr name="Group 4" id="4"/>
          <p:cNvGrpSpPr/>
          <p:nvPr/>
        </p:nvGrpSpPr>
        <p:grpSpPr>
          <a:xfrm rot="0">
            <a:off x="1028700" y="1028700"/>
            <a:ext cx="16230600" cy="1662600"/>
            <a:chOff x="0" y="0"/>
            <a:chExt cx="21640800" cy="2216800"/>
          </a:xfrm>
        </p:grpSpPr>
        <p:sp>
          <p:nvSpPr>
            <p:cNvPr name="Freeform 5" id="5"/>
            <p:cNvSpPr/>
            <p:nvPr/>
          </p:nvSpPr>
          <p:spPr>
            <a:xfrm flipH="false" flipV="false" rot="0">
              <a:off x="0" y="0"/>
              <a:ext cx="21640805" cy="2216802"/>
            </a:xfrm>
            <a:custGeom>
              <a:avLst/>
              <a:gdLst/>
              <a:ahLst/>
              <a:cxnLst/>
              <a:rect r="r" b="b" t="t" l="l"/>
              <a:pathLst>
                <a:path h="2216802" w="21640805">
                  <a:moveTo>
                    <a:pt x="0" y="0"/>
                  </a:moveTo>
                  <a:lnTo>
                    <a:pt x="21640805" y="0"/>
                  </a:lnTo>
                  <a:lnTo>
                    <a:pt x="21640805" y="2216802"/>
                  </a:lnTo>
                  <a:lnTo>
                    <a:pt x="0" y="2216802"/>
                  </a:lnTo>
                  <a:close/>
                </a:path>
              </a:pathLst>
            </a:custGeom>
            <a:blipFill>
              <a:blip r:embed="rId3">
                <a:alphaModFix amt="0"/>
              </a:blip>
              <a:stretch>
                <a:fillRect l="0" t="-149716" r="-4994" b="-149716"/>
              </a:stretch>
            </a:blipFill>
          </p:spPr>
        </p:sp>
        <p:sp>
          <p:nvSpPr>
            <p:cNvPr name="TextBox 6" id="6"/>
            <p:cNvSpPr txBox="true"/>
            <p:nvPr/>
          </p:nvSpPr>
          <p:spPr>
            <a:xfrm>
              <a:off x="0" y="-9525"/>
              <a:ext cx="21640800" cy="2226325"/>
            </a:xfrm>
            <a:prstGeom prst="rect">
              <a:avLst/>
            </a:prstGeom>
          </p:spPr>
          <p:txBody>
            <a:bodyPr anchor="b" rtlCol="false" tIns="0" lIns="0" bIns="0" rIns="0"/>
            <a:lstStyle/>
            <a:p>
              <a:pPr algn="l">
                <a:lnSpc>
                  <a:spcPts val="10080"/>
                </a:lnSpc>
              </a:pPr>
              <a:r>
                <a:rPr lang="en-US" sz="8400">
                  <a:solidFill>
                    <a:srgbClr val="000000"/>
                  </a:solidFill>
                  <a:latin typeface="Economica"/>
                  <a:ea typeface="Economica"/>
                  <a:cs typeface="Economica"/>
                  <a:sym typeface="Economica"/>
                </a:rPr>
                <a:t>Healing from Spiritual Trauma</a:t>
              </a:r>
            </a:p>
          </p:txBody>
        </p:sp>
      </p:grpSp>
      <p:sp>
        <p:nvSpPr>
          <p:cNvPr name="TextBox 7" id="7"/>
          <p:cNvSpPr txBox="true"/>
          <p:nvPr/>
        </p:nvSpPr>
        <p:spPr>
          <a:xfrm rot="0">
            <a:off x="1028700" y="2966933"/>
            <a:ext cx="16230600" cy="5004054"/>
          </a:xfrm>
          <a:prstGeom prst="rect">
            <a:avLst/>
          </a:prstGeom>
        </p:spPr>
        <p:txBody>
          <a:bodyPr anchor="t" rtlCol="false" tIns="0" lIns="0" bIns="0" rIns="0">
            <a:spAutoFit/>
          </a:bodyPr>
          <a:lstStyle/>
          <a:p>
            <a:pPr algn="l">
              <a:lnSpc>
                <a:spcPts val="4967"/>
              </a:lnSpc>
            </a:pPr>
            <a:r>
              <a:rPr lang="en-US" sz="3600">
                <a:solidFill>
                  <a:srgbClr val="000000"/>
                </a:solidFill>
                <a:latin typeface="Open Sans"/>
                <a:ea typeface="Open Sans"/>
                <a:cs typeface="Open Sans"/>
                <a:sym typeface="Open Sans"/>
              </a:rPr>
              <a:t>Let Yourself Feel Complicated Emotions</a:t>
            </a:r>
          </a:p>
          <a:p>
            <a:pPr algn="l" marL="777240" indent="-388620" lvl="1">
              <a:lnSpc>
                <a:spcPts val="4967"/>
              </a:lnSpc>
              <a:buFont typeface="Arial"/>
              <a:buChar char="•"/>
            </a:pPr>
            <a:r>
              <a:rPr lang="en-US" sz="3600">
                <a:solidFill>
                  <a:srgbClr val="000000"/>
                </a:solidFill>
                <a:latin typeface="Open Sans"/>
                <a:ea typeface="Open Sans"/>
                <a:cs typeface="Open Sans"/>
                <a:sym typeface="Open Sans"/>
              </a:rPr>
              <a:t>Even if you (or others) don’t understand them</a:t>
            </a:r>
          </a:p>
          <a:p>
            <a:pPr algn="l">
              <a:lnSpc>
                <a:spcPts val="4967"/>
              </a:lnSpc>
            </a:pPr>
          </a:p>
          <a:p>
            <a:pPr algn="l">
              <a:lnSpc>
                <a:spcPts val="4967"/>
              </a:lnSpc>
            </a:pPr>
            <a:r>
              <a:rPr lang="en-US" sz="3600">
                <a:solidFill>
                  <a:srgbClr val="000000"/>
                </a:solidFill>
                <a:latin typeface="Open Sans"/>
                <a:ea typeface="Open Sans"/>
                <a:cs typeface="Open Sans"/>
                <a:sym typeface="Open Sans"/>
              </a:rPr>
              <a:t>Grieve What You’ve Lost</a:t>
            </a:r>
          </a:p>
          <a:p>
            <a:pPr algn="l" marL="777240" indent="-388620" lvl="1">
              <a:lnSpc>
                <a:spcPts val="4967"/>
              </a:lnSpc>
              <a:buFont typeface="Arial"/>
              <a:buChar char="•"/>
            </a:pPr>
            <a:r>
              <a:rPr lang="en-US" sz="3600">
                <a:solidFill>
                  <a:srgbClr val="000000"/>
                </a:solidFill>
                <a:latin typeface="Open Sans"/>
                <a:ea typeface="Open Sans"/>
                <a:cs typeface="Open Sans"/>
                <a:sym typeface="Open Sans"/>
              </a:rPr>
              <a:t>Self-Compassion and Patience</a:t>
            </a:r>
          </a:p>
          <a:p>
            <a:pPr algn="l" marL="777240" indent="-388620" lvl="1">
              <a:lnSpc>
                <a:spcPts val="4967"/>
              </a:lnSpc>
              <a:buFont typeface="Arial"/>
              <a:buChar char="•"/>
            </a:pPr>
            <a:r>
              <a:rPr lang="en-US" sz="3600">
                <a:solidFill>
                  <a:srgbClr val="000000"/>
                </a:solidFill>
                <a:latin typeface="Open Sans"/>
                <a:ea typeface="Open Sans"/>
                <a:cs typeface="Open Sans"/>
                <a:sym typeface="Open Sans"/>
              </a:rPr>
              <a:t>Questions, doubt, and confusion are normal</a:t>
            </a:r>
          </a:p>
          <a:p>
            <a:pPr algn="l" marL="777240" indent="-388620" lvl="1">
              <a:lnSpc>
                <a:spcPts val="4967"/>
              </a:lnSpc>
              <a:buFont typeface="Arial"/>
              <a:buChar char="•"/>
            </a:pPr>
            <a:r>
              <a:rPr lang="en-US" sz="3600">
                <a:solidFill>
                  <a:srgbClr val="000000"/>
                </a:solidFill>
                <a:latin typeface="Open Sans"/>
                <a:ea typeface="Open Sans"/>
                <a:cs typeface="Open Sans"/>
                <a:sym typeface="Open Sans"/>
              </a:rPr>
              <a:t>The abuse was not your fault. You get to choose what healing looks like for you.</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091404"/>
            <a:ext cx="18288000" cy="195596"/>
            <a:chOff x="0" y="0"/>
            <a:chExt cx="24384000" cy="260794"/>
          </a:xfrm>
        </p:grpSpPr>
        <p:sp>
          <p:nvSpPr>
            <p:cNvPr name="Freeform 3" id="3"/>
            <p:cNvSpPr/>
            <p:nvPr/>
          </p:nvSpPr>
          <p:spPr>
            <a:xfrm flipH="false" flipV="false" rot="0">
              <a:off x="0" y="0"/>
              <a:ext cx="24384000" cy="260858"/>
            </a:xfrm>
            <a:custGeom>
              <a:avLst/>
              <a:gdLst/>
              <a:ahLst/>
              <a:cxnLst/>
              <a:rect r="r" b="b" t="t" l="l"/>
              <a:pathLst>
                <a:path h="260858" w="24384000">
                  <a:moveTo>
                    <a:pt x="0" y="0"/>
                  </a:moveTo>
                  <a:lnTo>
                    <a:pt x="24384000" y="0"/>
                  </a:lnTo>
                  <a:lnTo>
                    <a:pt x="24384000" y="260858"/>
                  </a:lnTo>
                  <a:lnTo>
                    <a:pt x="0" y="260858"/>
                  </a:lnTo>
                  <a:close/>
                </a:path>
              </a:pathLst>
            </a:custGeom>
            <a:solidFill>
              <a:srgbClr val="CCA677"/>
            </a:solidFill>
          </p:spPr>
        </p:sp>
      </p:grpSp>
      <p:grpSp>
        <p:nvGrpSpPr>
          <p:cNvPr name="Group 4" id="4"/>
          <p:cNvGrpSpPr/>
          <p:nvPr/>
        </p:nvGrpSpPr>
        <p:grpSpPr>
          <a:xfrm rot="0">
            <a:off x="1028700" y="1028700"/>
            <a:ext cx="16230600" cy="1662600"/>
            <a:chOff x="0" y="0"/>
            <a:chExt cx="21640800" cy="2216800"/>
          </a:xfrm>
        </p:grpSpPr>
        <p:sp>
          <p:nvSpPr>
            <p:cNvPr name="Freeform 5" id="5"/>
            <p:cNvSpPr/>
            <p:nvPr/>
          </p:nvSpPr>
          <p:spPr>
            <a:xfrm flipH="false" flipV="false" rot="0">
              <a:off x="0" y="0"/>
              <a:ext cx="21640805" cy="2216802"/>
            </a:xfrm>
            <a:custGeom>
              <a:avLst/>
              <a:gdLst/>
              <a:ahLst/>
              <a:cxnLst/>
              <a:rect r="r" b="b" t="t" l="l"/>
              <a:pathLst>
                <a:path h="2216802" w="21640805">
                  <a:moveTo>
                    <a:pt x="0" y="0"/>
                  </a:moveTo>
                  <a:lnTo>
                    <a:pt x="21640805" y="0"/>
                  </a:lnTo>
                  <a:lnTo>
                    <a:pt x="21640805" y="2216802"/>
                  </a:lnTo>
                  <a:lnTo>
                    <a:pt x="0" y="2216802"/>
                  </a:lnTo>
                  <a:close/>
                </a:path>
              </a:pathLst>
            </a:custGeom>
            <a:blipFill>
              <a:blip r:embed="rId3">
                <a:alphaModFix amt="0"/>
              </a:blip>
              <a:stretch>
                <a:fillRect l="0" t="-149716" r="-4994" b="-149716"/>
              </a:stretch>
            </a:blipFill>
          </p:spPr>
        </p:sp>
        <p:sp>
          <p:nvSpPr>
            <p:cNvPr name="TextBox 6" id="6"/>
            <p:cNvSpPr txBox="true"/>
            <p:nvPr/>
          </p:nvSpPr>
          <p:spPr>
            <a:xfrm>
              <a:off x="0" y="-9525"/>
              <a:ext cx="21640800" cy="2226325"/>
            </a:xfrm>
            <a:prstGeom prst="rect">
              <a:avLst/>
            </a:prstGeom>
          </p:spPr>
          <p:txBody>
            <a:bodyPr anchor="b" rtlCol="false" tIns="0" lIns="0" bIns="0" rIns="0"/>
            <a:lstStyle/>
            <a:p>
              <a:pPr algn="l">
                <a:lnSpc>
                  <a:spcPts val="10080"/>
                </a:lnSpc>
              </a:pPr>
              <a:r>
                <a:rPr lang="en-US" sz="8400">
                  <a:solidFill>
                    <a:srgbClr val="000000"/>
                  </a:solidFill>
                  <a:latin typeface="Economica"/>
                  <a:ea typeface="Economica"/>
                  <a:cs typeface="Economica"/>
                  <a:sym typeface="Economica"/>
                </a:rPr>
                <a:t>Healing from Spiritual Trauma</a:t>
              </a:r>
            </a:p>
          </p:txBody>
        </p:sp>
      </p:grpSp>
      <p:sp>
        <p:nvSpPr>
          <p:cNvPr name="TextBox 7" id="7"/>
          <p:cNvSpPr txBox="true"/>
          <p:nvPr/>
        </p:nvSpPr>
        <p:spPr>
          <a:xfrm rot="0">
            <a:off x="1028700" y="3309237"/>
            <a:ext cx="16230600" cy="5610073"/>
          </a:xfrm>
          <a:prstGeom prst="rect">
            <a:avLst/>
          </a:prstGeom>
        </p:spPr>
        <p:txBody>
          <a:bodyPr anchor="t" rtlCol="false" tIns="0" lIns="0" bIns="0" rIns="0">
            <a:spAutoFit/>
          </a:bodyPr>
          <a:lstStyle/>
          <a:p>
            <a:pPr algn="l">
              <a:lnSpc>
                <a:spcPts val="4471"/>
              </a:lnSpc>
            </a:pPr>
            <a:r>
              <a:rPr lang="en-US" sz="3600">
                <a:solidFill>
                  <a:srgbClr val="000000"/>
                </a:solidFill>
                <a:latin typeface="Open Sans"/>
                <a:ea typeface="Open Sans"/>
                <a:cs typeface="Open Sans"/>
                <a:sym typeface="Open Sans"/>
              </a:rPr>
              <a:t>Reclaim Your Values and Beliefs</a:t>
            </a:r>
          </a:p>
          <a:p>
            <a:pPr algn="l" marL="777240" indent="-388620" lvl="1">
              <a:lnSpc>
                <a:spcPts val="4471"/>
              </a:lnSpc>
              <a:buFont typeface="Arial"/>
              <a:buChar char="•"/>
            </a:pPr>
            <a:r>
              <a:rPr lang="en-US" sz="3600">
                <a:solidFill>
                  <a:srgbClr val="000000"/>
                </a:solidFill>
                <a:latin typeface="Open Sans"/>
                <a:ea typeface="Open Sans"/>
                <a:cs typeface="Open Sans"/>
                <a:sym typeface="Open Sans"/>
              </a:rPr>
              <a:t>Rebuilding Trust, Where Appropriate: in others, your Higher Power, and yourself</a:t>
            </a:r>
          </a:p>
          <a:p>
            <a:pPr algn="l">
              <a:lnSpc>
                <a:spcPts val="4471"/>
              </a:lnSpc>
            </a:pPr>
          </a:p>
          <a:p>
            <a:pPr algn="l" marL="777240" indent="-388620" lvl="1">
              <a:lnSpc>
                <a:spcPts val="4471"/>
              </a:lnSpc>
              <a:buFont typeface="Arial"/>
              <a:buChar char="•"/>
            </a:pPr>
            <a:r>
              <a:rPr lang="en-US" sz="3600">
                <a:solidFill>
                  <a:srgbClr val="000000"/>
                </a:solidFill>
                <a:latin typeface="Open Sans"/>
                <a:ea typeface="Open Sans"/>
                <a:cs typeface="Open Sans"/>
                <a:sym typeface="Open Sans"/>
              </a:rPr>
              <a:t>Creating Supportive Networks</a:t>
            </a:r>
          </a:p>
          <a:p>
            <a:pPr algn="l">
              <a:lnSpc>
                <a:spcPts val="4471"/>
              </a:lnSpc>
            </a:pPr>
          </a:p>
          <a:p>
            <a:pPr algn="l" marL="777240" indent="-388620" lvl="1">
              <a:lnSpc>
                <a:spcPts val="4471"/>
              </a:lnSpc>
              <a:buFont typeface="Arial"/>
              <a:buChar char="•"/>
            </a:pPr>
            <a:r>
              <a:rPr lang="en-US" sz="3600">
                <a:solidFill>
                  <a:srgbClr val="000000"/>
                </a:solidFill>
                <a:latin typeface="Open Sans"/>
                <a:ea typeface="Open Sans"/>
                <a:cs typeface="Open Sans"/>
                <a:sym typeface="Open Sans"/>
              </a:rPr>
              <a:t>Exploring New Perspectives</a:t>
            </a:r>
          </a:p>
          <a:p>
            <a:pPr algn="l" marL="1554480" indent="-518160" lvl="2">
              <a:lnSpc>
                <a:spcPts val="4471"/>
              </a:lnSpc>
              <a:buFont typeface="Arial"/>
              <a:buChar char="⚬"/>
            </a:pPr>
            <a:r>
              <a:rPr lang="en-US" sz="3600">
                <a:solidFill>
                  <a:srgbClr val="5D4037"/>
                </a:solidFill>
                <a:latin typeface="Open Sans"/>
                <a:ea typeface="Open Sans"/>
                <a:cs typeface="Open Sans"/>
                <a:sym typeface="Open Sans"/>
              </a:rPr>
              <a:t>Examining religious trauma does not necessarily mean rejecting or opposing all religion or spirituality</a:t>
            </a:r>
          </a:p>
          <a:p>
            <a:pPr algn="l" marL="2331720" indent="-582930" lvl="3">
              <a:lnSpc>
                <a:spcPts val="4471"/>
              </a:lnSpc>
              <a:buFont typeface="Arial"/>
              <a:buChar char="￭"/>
            </a:pPr>
            <a:r>
              <a:rPr lang="en-US" sz="3600">
                <a:solidFill>
                  <a:srgbClr val="5D4037"/>
                </a:solidFill>
                <a:latin typeface="Open Sans"/>
                <a:ea typeface="Open Sans"/>
                <a:cs typeface="Open Sans"/>
                <a:sym typeface="Open Sans"/>
              </a:rPr>
              <a:t>Don’t shame yourself if you do choose to walk away</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111194"/>
            <a:ext cx="16230600" cy="1511400"/>
            <a:chOff x="0" y="0"/>
            <a:chExt cx="21640800" cy="2015200"/>
          </a:xfrm>
        </p:grpSpPr>
        <p:sp>
          <p:nvSpPr>
            <p:cNvPr name="Freeform 3" id="3"/>
            <p:cNvSpPr/>
            <p:nvPr/>
          </p:nvSpPr>
          <p:spPr>
            <a:xfrm flipH="false" flipV="false" rot="0">
              <a:off x="0" y="0"/>
              <a:ext cx="21640794" cy="2015202"/>
            </a:xfrm>
            <a:custGeom>
              <a:avLst/>
              <a:gdLst/>
              <a:ahLst/>
              <a:cxnLst/>
              <a:rect r="r" b="b" t="t" l="l"/>
              <a:pathLst>
                <a:path h="2015202" w="21640794">
                  <a:moveTo>
                    <a:pt x="0" y="0"/>
                  </a:moveTo>
                  <a:lnTo>
                    <a:pt x="21640794" y="0"/>
                  </a:lnTo>
                  <a:lnTo>
                    <a:pt x="21640794" y="2015202"/>
                  </a:lnTo>
                  <a:lnTo>
                    <a:pt x="0" y="2015202"/>
                  </a:lnTo>
                  <a:close/>
                </a:path>
              </a:pathLst>
            </a:custGeom>
            <a:blipFill>
              <a:blip r:embed="rId3">
                <a:alphaModFix amt="0"/>
              </a:blip>
              <a:stretch>
                <a:fillRect l="0" t="-169556" r="-4927" b="-169556"/>
              </a:stretch>
            </a:blipFill>
          </p:spPr>
        </p:sp>
        <p:sp>
          <p:nvSpPr>
            <p:cNvPr name="TextBox 4" id="4"/>
            <p:cNvSpPr txBox="true"/>
            <p:nvPr/>
          </p:nvSpPr>
          <p:spPr>
            <a:xfrm>
              <a:off x="0" y="-19050"/>
              <a:ext cx="21640800" cy="2034250"/>
            </a:xfrm>
            <a:prstGeom prst="rect">
              <a:avLst/>
            </a:prstGeom>
          </p:spPr>
          <p:txBody>
            <a:bodyPr anchor="b" rtlCol="false" tIns="0" lIns="0" bIns="0" rIns="0"/>
            <a:lstStyle/>
            <a:p>
              <a:pPr algn="l">
                <a:lnSpc>
                  <a:spcPts val="7200"/>
                </a:lnSpc>
              </a:pPr>
              <a:r>
                <a:rPr lang="en-US" sz="6000">
                  <a:solidFill>
                    <a:srgbClr val="000000"/>
                  </a:solidFill>
                  <a:latin typeface="Economica"/>
                  <a:ea typeface="Economica"/>
                  <a:cs typeface="Economica"/>
                  <a:sym typeface="Economica"/>
                </a:rPr>
                <a:t>Healing from Spiritual Trauma</a:t>
              </a:r>
            </a:p>
          </p:txBody>
        </p:sp>
      </p:grpSp>
      <p:sp>
        <p:nvSpPr>
          <p:cNvPr name="TextBox 5" id="5"/>
          <p:cNvSpPr txBox="true"/>
          <p:nvPr/>
        </p:nvSpPr>
        <p:spPr>
          <a:xfrm rot="0">
            <a:off x="1028700" y="2833078"/>
            <a:ext cx="7951020" cy="5171947"/>
          </a:xfrm>
          <a:prstGeom prst="rect">
            <a:avLst/>
          </a:prstGeom>
        </p:spPr>
        <p:txBody>
          <a:bodyPr anchor="t" rtlCol="false" tIns="0" lIns="0" bIns="0" rIns="0">
            <a:spAutoFit/>
          </a:bodyPr>
          <a:lstStyle/>
          <a:p>
            <a:pPr algn="l">
              <a:lnSpc>
                <a:spcPts val="5075"/>
              </a:lnSpc>
            </a:pPr>
            <a:r>
              <a:rPr lang="en-US" sz="3677">
                <a:solidFill>
                  <a:srgbClr val="000000"/>
                </a:solidFill>
                <a:latin typeface="Open Sans"/>
                <a:ea typeface="Open Sans"/>
                <a:cs typeface="Open Sans"/>
                <a:sym typeface="Open Sans"/>
              </a:rPr>
              <a:t>Rewrite Your Story</a:t>
            </a:r>
          </a:p>
          <a:p>
            <a:pPr algn="l" marL="794043" indent="-397021" lvl="1">
              <a:lnSpc>
                <a:spcPts val="5075"/>
              </a:lnSpc>
              <a:buFont typeface="Arial"/>
              <a:buChar char="•"/>
            </a:pPr>
            <a:r>
              <a:rPr lang="en-US" sz="3677">
                <a:solidFill>
                  <a:srgbClr val="000000"/>
                </a:solidFill>
                <a:latin typeface="Open Sans"/>
                <a:ea typeface="Open Sans"/>
                <a:cs typeface="Open Sans"/>
                <a:sym typeface="Open Sans"/>
              </a:rPr>
              <a:t>Articulating a New Narrative: </a:t>
            </a:r>
          </a:p>
          <a:p>
            <a:pPr algn="l" marL="1588086" indent="-529362" lvl="2">
              <a:lnSpc>
                <a:spcPts val="5075"/>
              </a:lnSpc>
              <a:buFont typeface="Arial"/>
              <a:buChar char="⚬"/>
            </a:pPr>
            <a:r>
              <a:rPr lang="en-US" sz="3677">
                <a:solidFill>
                  <a:srgbClr val="000000"/>
                </a:solidFill>
                <a:latin typeface="Open Sans"/>
                <a:ea typeface="Open Sans"/>
                <a:cs typeface="Open Sans"/>
                <a:sym typeface="Open Sans"/>
              </a:rPr>
              <a:t>Re-authoring your life story to include your experiences, struggles, and triumphs</a:t>
            </a:r>
          </a:p>
          <a:p>
            <a:pPr algn="l">
              <a:lnSpc>
                <a:spcPts val="3383"/>
              </a:lnSpc>
            </a:pPr>
          </a:p>
          <a:p>
            <a:pPr algn="l">
              <a:lnSpc>
                <a:spcPts val="4140"/>
              </a:lnSpc>
            </a:pPr>
            <a:r>
              <a:rPr lang="en-US" sz="3000">
                <a:solidFill>
                  <a:srgbClr val="000000"/>
                </a:solidFill>
                <a:latin typeface="Open Sans"/>
                <a:ea typeface="Open Sans"/>
                <a:cs typeface="Open Sans"/>
                <a:sym typeface="Open Sans"/>
              </a:rPr>
              <a:t>Each person’s path to healing will be unique, and it’s important to find what works best for you.</a:t>
            </a:r>
          </a:p>
        </p:txBody>
      </p:sp>
      <p:grpSp>
        <p:nvGrpSpPr>
          <p:cNvPr name="Group 6" id="6"/>
          <p:cNvGrpSpPr/>
          <p:nvPr/>
        </p:nvGrpSpPr>
        <p:grpSpPr>
          <a:xfrm rot="0">
            <a:off x="9523486" y="2890228"/>
            <a:ext cx="7735814" cy="5114797"/>
            <a:chOff x="0" y="0"/>
            <a:chExt cx="11379200" cy="7523747"/>
          </a:xfrm>
        </p:grpSpPr>
        <p:sp>
          <p:nvSpPr>
            <p:cNvPr name="Freeform 7" id="7"/>
            <p:cNvSpPr/>
            <p:nvPr/>
          </p:nvSpPr>
          <p:spPr>
            <a:xfrm flipH="false" flipV="false" rot="0">
              <a:off x="0" y="0"/>
              <a:ext cx="11379200" cy="7523734"/>
            </a:xfrm>
            <a:custGeom>
              <a:avLst/>
              <a:gdLst/>
              <a:ahLst/>
              <a:cxnLst/>
              <a:rect r="r" b="b" t="t" l="l"/>
              <a:pathLst>
                <a:path h="7523734" w="11379200">
                  <a:moveTo>
                    <a:pt x="0" y="0"/>
                  </a:moveTo>
                  <a:lnTo>
                    <a:pt x="11379200" y="0"/>
                  </a:lnTo>
                  <a:lnTo>
                    <a:pt x="11379200" y="7523734"/>
                  </a:lnTo>
                  <a:lnTo>
                    <a:pt x="0" y="7523734"/>
                  </a:lnTo>
                  <a:lnTo>
                    <a:pt x="0" y="0"/>
                  </a:lnTo>
                  <a:close/>
                </a:path>
              </a:pathLst>
            </a:custGeom>
            <a:blipFill>
              <a:blip r:embed="rId4"/>
              <a:stretch>
                <a:fillRect l="0" t="0" r="0" b="0"/>
              </a:stretch>
            </a:blipFill>
          </p:spPr>
        </p:sp>
      </p:gr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91156" y="1637076"/>
            <a:ext cx="4664421" cy="7012848"/>
            <a:chOff x="0" y="0"/>
            <a:chExt cx="6219228" cy="9350464"/>
          </a:xfrm>
        </p:grpSpPr>
        <p:sp>
          <p:nvSpPr>
            <p:cNvPr name="Freeform 3" id="3"/>
            <p:cNvSpPr/>
            <p:nvPr/>
          </p:nvSpPr>
          <p:spPr>
            <a:xfrm flipH="false" flipV="false" rot="0">
              <a:off x="0" y="0"/>
              <a:ext cx="6219190" cy="9350502"/>
            </a:xfrm>
            <a:custGeom>
              <a:avLst/>
              <a:gdLst/>
              <a:ahLst/>
              <a:cxnLst/>
              <a:rect r="r" b="b" t="t" l="l"/>
              <a:pathLst>
                <a:path h="9350502" w="6219190">
                  <a:moveTo>
                    <a:pt x="0" y="0"/>
                  </a:moveTo>
                  <a:lnTo>
                    <a:pt x="6219190" y="0"/>
                  </a:lnTo>
                  <a:lnTo>
                    <a:pt x="6219190" y="9350502"/>
                  </a:lnTo>
                  <a:lnTo>
                    <a:pt x="0" y="9350502"/>
                  </a:lnTo>
                  <a:lnTo>
                    <a:pt x="0" y="0"/>
                  </a:lnTo>
                  <a:close/>
                </a:path>
              </a:pathLst>
            </a:custGeom>
            <a:blipFill>
              <a:blip r:embed="rId3"/>
              <a:stretch>
                <a:fillRect l="0" t="0" r="0" b="0"/>
              </a:stretch>
            </a:blipFill>
          </p:spPr>
        </p:sp>
      </p:grpSp>
      <p:grpSp>
        <p:nvGrpSpPr>
          <p:cNvPr name="Group 4" id="4"/>
          <p:cNvGrpSpPr/>
          <p:nvPr/>
        </p:nvGrpSpPr>
        <p:grpSpPr>
          <a:xfrm rot="0">
            <a:off x="5455577" y="1637071"/>
            <a:ext cx="5610320" cy="7012848"/>
            <a:chOff x="0" y="0"/>
            <a:chExt cx="7480427" cy="9350464"/>
          </a:xfrm>
        </p:grpSpPr>
        <p:sp>
          <p:nvSpPr>
            <p:cNvPr name="Freeform 5" id="5"/>
            <p:cNvSpPr/>
            <p:nvPr/>
          </p:nvSpPr>
          <p:spPr>
            <a:xfrm flipH="false" flipV="false" rot="0">
              <a:off x="0" y="0"/>
              <a:ext cx="7480427" cy="9350502"/>
            </a:xfrm>
            <a:custGeom>
              <a:avLst/>
              <a:gdLst/>
              <a:ahLst/>
              <a:cxnLst/>
              <a:rect r="r" b="b" t="t" l="l"/>
              <a:pathLst>
                <a:path h="9350502" w="7480427">
                  <a:moveTo>
                    <a:pt x="0" y="0"/>
                  </a:moveTo>
                  <a:lnTo>
                    <a:pt x="7480427" y="0"/>
                  </a:lnTo>
                  <a:lnTo>
                    <a:pt x="7480427" y="9350502"/>
                  </a:lnTo>
                  <a:lnTo>
                    <a:pt x="0" y="9350502"/>
                  </a:lnTo>
                  <a:lnTo>
                    <a:pt x="0" y="0"/>
                  </a:lnTo>
                  <a:close/>
                </a:path>
              </a:pathLst>
            </a:custGeom>
            <a:blipFill>
              <a:blip r:embed="rId4"/>
              <a:stretch>
                <a:fillRect l="0" t="0" r="0" b="0"/>
              </a:stretch>
            </a:blipFill>
          </p:spPr>
        </p:sp>
      </p:grpSp>
      <p:grpSp>
        <p:nvGrpSpPr>
          <p:cNvPr name="Group 6" id="6"/>
          <p:cNvGrpSpPr/>
          <p:nvPr/>
        </p:nvGrpSpPr>
        <p:grpSpPr>
          <a:xfrm rot="0">
            <a:off x="11065897" y="1637076"/>
            <a:ext cx="6325576" cy="7012848"/>
            <a:chOff x="0" y="0"/>
            <a:chExt cx="8515401" cy="9440596"/>
          </a:xfrm>
        </p:grpSpPr>
        <p:sp>
          <p:nvSpPr>
            <p:cNvPr name="Freeform 7" id="7"/>
            <p:cNvSpPr/>
            <p:nvPr/>
          </p:nvSpPr>
          <p:spPr>
            <a:xfrm flipH="false" flipV="false" rot="0">
              <a:off x="0" y="0"/>
              <a:ext cx="8515350" cy="9440545"/>
            </a:xfrm>
            <a:custGeom>
              <a:avLst/>
              <a:gdLst/>
              <a:ahLst/>
              <a:cxnLst/>
              <a:rect r="r" b="b" t="t" l="l"/>
              <a:pathLst>
                <a:path h="9440545" w="8515350">
                  <a:moveTo>
                    <a:pt x="0" y="0"/>
                  </a:moveTo>
                  <a:lnTo>
                    <a:pt x="8515350" y="0"/>
                  </a:lnTo>
                  <a:lnTo>
                    <a:pt x="8515350" y="9440545"/>
                  </a:lnTo>
                  <a:lnTo>
                    <a:pt x="0" y="9440545"/>
                  </a:lnTo>
                  <a:lnTo>
                    <a:pt x="0" y="0"/>
                  </a:lnTo>
                  <a:close/>
                </a:path>
              </a:pathLst>
            </a:custGeom>
            <a:blipFill>
              <a:blip r:embed="rId5"/>
              <a:stretch>
                <a:fillRect l="0" t="0" r="0" b="0"/>
              </a:stretch>
            </a:blipFill>
          </p:spPr>
        </p:sp>
      </p:gr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23402" y="631850"/>
            <a:ext cx="17041197" cy="1662598"/>
            <a:chOff x="0" y="0"/>
            <a:chExt cx="22721595" cy="2216798"/>
          </a:xfrm>
        </p:grpSpPr>
        <p:sp>
          <p:nvSpPr>
            <p:cNvPr name="Freeform 3" id="3"/>
            <p:cNvSpPr/>
            <p:nvPr/>
          </p:nvSpPr>
          <p:spPr>
            <a:xfrm flipH="false" flipV="false" rot="0">
              <a:off x="0" y="0"/>
              <a:ext cx="22721601" cy="2216800"/>
            </a:xfrm>
            <a:custGeom>
              <a:avLst/>
              <a:gdLst/>
              <a:ahLst/>
              <a:cxnLst/>
              <a:rect r="r" b="b" t="t" l="l"/>
              <a:pathLst>
                <a:path h="2216800" w="22721601">
                  <a:moveTo>
                    <a:pt x="0" y="0"/>
                  </a:moveTo>
                  <a:lnTo>
                    <a:pt x="22721601" y="0"/>
                  </a:lnTo>
                  <a:lnTo>
                    <a:pt x="22721601" y="2216800"/>
                  </a:lnTo>
                  <a:lnTo>
                    <a:pt x="0" y="2216800"/>
                  </a:lnTo>
                  <a:close/>
                </a:path>
              </a:pathLst>
            </a:custGeom>
            <a:blipFill>
              <a:blip r:embed="rId3">
                <a:alphaModFix amt="0"/>
              </a:blip>
              <a:stretch>
                <a:fillRect l="0" t="-149716" r="0" b="-149716"/>
              </a:stretch>
            </a:blipFill>
          </p:spPr>
        </p:sp>
        <p:sp>
          <p:nvSpPr>
            <p:cNvPr name="TextBox 4" id="4"/>
            <p:cNvSpPr txBox="true"/>
            <p:nvPr/>
          </p:nvSpPr>
          <p:spPr>
            <a:xfrm>
              <a:off x="0" y="-9525"/>
              <a:ext cx="22721595" cy="2226323"/>
            </a:xfrm>
            <a:prstGeom prst="rect">
              <a:avLst/>
            </a:prstGeom>
          </p:spPr>
          <p:txBody>
            <a:bodyPr anchor="b" rtlCol="false" tIns="0" lIns="0" bIns="0" rIns="0"/>
            <a:lstStyle/>
            <a:p>
              <a:pPr algn="l">
                <a:lnSpc>
                  <a:spcPts val="10080"/>
                </a:lnSpc>
              </a:pPr>
              <a:r>
                <a:rPr lang="en-US" sz="8400">
                  <a:solidFill>
                    <a:srgbClr val="000000"/>
                  </a:solidFill>
                  <a:latin typeface="Economica"/>
                  <a:ea typeface="Economica"/>
                  <a:cs typeface="Economica"/>
                  <a:sym typeface="Economica"/>
                </a:rPr>
                <a:t>Approaches Used in Trauma Treatment</a:t>
              </a:r>
            </a:p>
          </p:txBody>
        </p:sp>
      </p:grpSp>
      <p:sp>
        <p:nvSpPr>
          <p:cNvPr name="TextBox 5" id="5"/>
          <p:cNvSpPr txBox="true"/>
          <p:nvPr/>
        </p:nvSpPr>
        <p:spPr>
          <a:xfrm rot="0">
            <a:off x="1028700" y="2446630"/>
            <a:ext cx="8115300" cy="5458024"/>
          </a:xfrm>
          <a:prstGeom prst="rect">
            <a:avLst/>
          </a:prstGeom>
        </p:spPr>
        <p:txBody>
          <a:bodyPr anchor="t" rtlCol="false" tIns="0" lIns="0" bIns="0" rIns="0">
            <a:spAutoFit/>
          </a:bodyPr>
          <a:lstStyle/>
          <a:p>
            <a:pPr algn="l">
              <a:lnSpc>
                <a:spcPts val="4867"/>
              </a:lnSpc>
            </a:pPr>
            <a:r>
              <a:rPr lang="en-US" sz="3244">
                <a:solidFill>
                  <a:srgbClr val="57BB8A"/>
                </a:solidFill>
                <a:latin typeface="Open Sans"/>
                <a:ea typeface="Open Sans"/>
                <a:cs typeface="Open Sans"/>
                <a:sym typeface="Open Sans"/>
              </a:rPr>
              <a:t>1. Eye Movement Desensitization and Reprocessing (EMDR)</a:t>
            </a:r>
          </a:p>
          <a:p>
            <a:pPr algn="l">
              <a:lnSpc>
                <a:spcPts val="4867"/>
              </a:lnSpc>
            </a:pPr>
            <a:r>
              <a:rPr lang="en-US" sz="3244">
                <a:solidFill>
                  <a:srgbClr val="7E54C6"/>
                </a:solidFill>
                <a:latin typeface="Open Sans"/>
                <a:ea typeface="Open Sans"/>
                <a:cs typeface="Open Sans"/>
                <a:sym typeface="Open Sans"/>
              </a:rPr>
              <a:t>2. Cognitive Processing Theory (CPT)</a:t>
            </a:r>
          </a:p>
          <a:p>
            <a:pPr algn="l">
              <a:lnSpc>
                <a:spcPts val="4867"/>
              </a:lnSpc>
            </a:pPr>
            <a:r>
              <a:rPr lang="en-US" sz="3244">
                <a:solidFill>
                  <a:srgbClr val="5D4037"/>
                </a:solidFill>
                <a:latin typeface="Open Sans"/>
                <a:ea typeface="Open Sans"/>
                <a:cs typeface="Open Sans"/>
                <a:sym typeface="Open Sans"/>
              </a:rPr>
              <a:t>3. Prolonged Exposure (PE)</a:t>
            </a:r>
          </a:p>
          <a:p>
            <a:pPr algn="l">
              <a:lnSpc>
                <a:spcPts val="4867"/>
              </a:lnSpc>
            </a:pPr>
            <a:r>
              <a:rPr lang="en-US" sz="3244">
                <a:solidFill>
                  <a:srgbClr val="CCA677"/>
                </a:solidFill>
                <a:latin typeface="Open Sans"/>
                <a:ea typeface="Open Sans"/>
                <a:cs typeface="Open Sans"/>
                <a:sym typeface="Open Sans"/>
              </a:rPr>
              <a:t>4. Somatic Experiencing (SE)</a:t>
            </a:r>
          </a:p>
          <a:p>
            <a:pPr algn="l">
              <a:lnSpc>
                <a:spcPts val="4867"/>
              </a:lnSpc>
            </a:pPr>
            <a:r>
              <a:rPr lang="en-US" sz="3244">
                <a:solidFill>
                  <a:srgbClr val="78909C"/>
                </a:solidFill>
                <a:latin typeface="Open Sans"/>
                <a:ea typeface="Open Sans"/>
                <a:cs typeface="Open Sans"/>
                <a:sym typeface="Open Sans"/>
              </a:rPr>
              <a:t>5. Trauma-Focused Cognitive Behavioral Therapy (TF-CBT)</a:t>
            </a:r>
          </a:p>
          <a:p>
            <a:pPr algn="l">
              <a:lnSpc>
                <a:spcPts val="4867"/>
              </a:lnSpc>
            </a:pPr>
            <a:r>
              <a:rPr lang="en-US" sz="3244">
                <a:solidFill>
                  <a:srgbClr val="455A64"/>
                </a:solidFill>
                <a:latin typeface="Open Sans"/>
                <a:ea typeface="Open Sans"/>
                <a:cs typeface="Open Sans"/>
                <a:sym typeface="Open Sans"/>
              </a:rPr>
              <a:t>6. Internal Family Systems (IFS)</a:t>
            </a:r>
          </a:p>
          <a:p>
            <a:pPr algn="l">
              <a:lnSpc>
                <a:spcPts val="4867"/>
              </a:lnSpc>
            </a:pPr>
            <a:r>
              <a:rPr lang="en-US" sz="3244">
                <a:solidFill>
                  <a:srgbClr val="57BB8A"/>
                </a:solidFill>
                <a:latin typeface="Open Sans"/>
                <a:ea typeface="Open Sans"/>
                <a:cs typeface="Open Sans"/>
                <a:sym typeface="Open Sans"/>
              </a:rPr>
              <a:t>7. Narrative Therapy</a:t>
            </a:r>
          </a:p>
        </p:txBody>
      </p:sp>
      <p:sp>
        <p:nvSpPr>
          <p:cNvPr name="TextBox 6" id="6"/>
          <p:cNvSpPr txBox="true"/>
          <p:nvPr/>
        </p:nvSpPr>
        <p:spPr>
          <a:xfrm rot="0">
            <a:off x="9144000" y="2446630"/>
            <a:ext cx="8115300" cy="5458024"/>
          </a:xfrm>
          <a:prstGeom prst="rect">
            <a:avLst/>
          </a:prstGeom>
        </p:spPr>
        <p:txBody>
          <a:bodyPr anchor="t" rtlCol="false" tIns="0" lIns="0" bIns="0" rIns="0">
            <a:spAutoFit/>
          </a:bodyPr>
          <a:lstStyle/>
          <a:p>
            <a:pPr algn="l">
              <a:lnSpc>
                <a:spcPts val="4867"/>
              </a:lnSpc>
            </a:pPr>
            <a:r>
              <a:rPr lang="en-US" sz="3244">
                <a:solidFill>
                  <a:srgbClr val="7E54C6"/>
                </a:solidFill>
                <a:latin typeface="Open Sans"/>
                <a:ea typeface="Open Sans"/>
                <a:cs typeface="Open Sans"/>
                <a:sym typeface="Open Sans"/>
              </a:rPr>
              <a:t>8. Dialectical Behavior Therapy (DBT)</a:t>
            </a:r>
          </a:p>
          <a:p>
            <a:pPr algn="l">
              <a:lnSpc>
                <a:spcPts val="4867"/>
              </a:lnSpc>
            </a:pPr>
            <a:r>
              <a:rPr lang="en-US" sz="3244">
                <a:solidFill>
                  <a:srgbClr val="5D4037"/>
                </a:solidFill>
                <a:latin typeface="Open Sans"/>
                <a:ea typeface="Open Sans"/>
                <a:cs typeface="Open Sans"/>
                <a:sym typeface="Open Sans"/>
              </a:rPr>
              <a:t>9. Polyvagal-Informed Approaches</a:t>
            </a:r>
          </a:p>
          <a:p>
            <a:pPr algn="l">
              <a:lnSpc>
                <a:spcPts val="4867"/>
              </a:lnSpc>
            </a:pPr>
            <a:r>
              <a:rPr lang="en-US" sz="3244">
                <a:solidFill>
                  <a:srgbClr val="CCA677"/>
                </a:solidFill>
                <a:latin typeface="Open Sans"/>
                <a:ea typeface="Open Sans"/>
                <a:cs typeface="Open Sans"/>
                <a:sym typeface="Open Sans"/>
              </a:rPr>
              <a:t>10 Accelerated Experiential Dynamic Psychotherapy (AEDP)</a:t>
            </a:r>
          </a:p>
          <a:p>
            <a:pPr algn="l">
              <a:lnSpc>
                <a:spcPts val="4867"/>
              </a:lnSpc>
            </a:pPr>
            <a:r>
              <a:rPr lang="en-US" sz="3244">
                <a:solidFill>
                  <a:srgbClr val="FF0000"/>
                </a:solidFill>
                <a:latin typeface="Open Sans"/>
                <a:ea typeface="Open Sans"/>
                <a:cs typeface="Open Sans"/>
                <a:sym typeface="Open Sans"/>
              </a:rPr>
              <a:t>11. Psychedelic-Assisted Therapy (Investigational/Emerging)</a:t>
            </a:r>
          </a:p>
          <a:p>
            <a:pPr algn="l">
              <a:lnSpc>
                <a:spcPts val="4867"/>
              </a:lnSpc>
            </a:pPr>
            <a:r>
              <a:rPr lang="en-US" sz="3244">
                <a:solidFill>
                  <a:srgbClr val="78909C"/>
                </a:solidFill>
                <a:latin typeface="Open Sans"/>
                <a:ea typeface="Open Sans"/>
                <a:cs typeface="Open Sans"/>
                <a:sym typeface="Open Sans"/>
              </a:rPr>
              <a:t>12. Trauma-Informed Yoga Therapy</a:t>
            </a:r>
          </a:p>
          <a:p>
            <a:pPr algn="l">
              <a:lnSpc>
                <a:spcPts val="4867"/>
              </a:lnSpc>
            </a:pPr>
            <a:r>
              <a:rPr lang="en-US" sz="3244">
                <a:solidFill>
                  <a:srgbClr val="455A64"/>
                </a:solidFill>
                <a:latin typeface="Open Sans"/>
                <a:ea typeface="Open Sans"/>
                <a:cs typeface="Open Sans"/>
                <a:sym typeface="Open Sans"/>
              </a:rPr>
              <a:t>13. Trauma-Informed Expressive Arts Therapy</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23402" y="631850"/>
            <a:ext cx="17041197" cy="1662598"/>
            <a:chOff x="0" y="0"/>
            <a:chExt cx="22721595" cy="2216798"/>
          </a:xfrm>
        </p:grpSpPr>
        <p:sp>
          <p:nvSpPr>
            <p:cNvPr name="Freeform 3" id="3"/>
            <p:cNvSpPr/>
            <p:nvPr/>
          </p:nvSpPr>
          <p:spPr>
            <a:xfrm flipH="false" flipV="false" rot="0">
              <a:off x="0" y="0"/>
              <a:ext cx="22721601" cy="2216800"/>
            </a:xfrm>
            <a:custGeom>
              <a:avLst/>
              <a:gdLst/>
              <a:ahLst/>
              <a:cxnLst/>
              <a:rect r="r" b="b" t="t" l="l"/>
              <a:pathLst>
                <a:path h="2216800" w="22721601">
                  <a:moveTo>
                    <a:pt x="0" y="0"/>
                  </a:moveTo>
                  <a:lnTo>
                    <a:pt x="22721601" y="0"/>
                  </a:lnTo>
                  <a:lnTo>
                    <a:pt x="22721601" y="2216800"/>
                  </a:lnTo>
                  <a:lnTo>
                    <a:pt x="0" y="2216800"/>
                  </a:lnTo>
                  <a:close/>
                </a:path>
              </a:pathLst>
            </a:custGeom>
            <a:blipFill>
              <a:blip r:embed="rId3">
                <a:alphaModFix amt="0"/>
              </a:blip>
              <a:stretch>
                <a:fillRect l="0" t="-149716" r="0" b="-149716"/>
              </a:stretch>
            </a:blipFill>
          </p:spPr>
        </p:sp>
        <p:sp>
          <p:nvSpPr>
            <p:cNvPr name="TextBox 4" id="4"/>
            <p:cNvSpPr txBox="true"/>
            <p:nvPr/>
          </p:nvSpPr>
          <p:spPr>
            <a:xfrm>
              <a:off x="0" y="-9525"/>
              <a:ext cx="22721595" cy="2226323"/>
            </a:xfrm>
            <a:prstGeom prst="rect">
              <a:avLst/>
            </a:prstGeom>
          </p:spPr>
          <p:txBody>
            <a:bodyPr anchor="b" rtlCol="false" tIns="0" lIns="0" bIns="0" rIns="0"/>
            <a:lstStyle/>
            <a:p>
              <a:pPr algn="l">
                <a:lnSpc>
                  <a:spcPts val="10080"/>
                </a:lnSpc>
              </a:pPr>
              <a:r>
                <a:rPr lang="en-US" sz="8400">
                  <a:solidFill>
                    <a:srgbClr val="000000"/>
                  </a:solidFill>
                  <a:latin typeface="Economica"/>
                  <a:ea typeface="Economica"/>
                  <a:cs typeface="Economica"/>
                  <a:sym typeface="Economica"/>
                </a:rPr>
                <a:t>Approaches Used in Trauma Treatment</a:t>
              </a:r>
            </a:p>
          </p:txBody>
        </p:sp>
      </p:grpSp>
      <p:grpSp>
        <p:nvGrpSpPr>
          <p:cNvPr name="Group 5" id="5"/>
          <p:cNvGrpSpPr/>
          <p:nvPr/>
        </p:nvGrpSpPr>
        <p:grpSpPr>
          <a:xfrm rot="0">
            <a:off x="9144000" y="6172200"/>
            <a:ext cx="7158037" cy="1732636"/>
            <a:chOff x="0" y="0"/>
            <a:chExt cx="1885244" cy="456332"/>
          </a:xfrm>
        </p:grpSpPr>
        <p:sp>
          <p:nvSpPr>
            <p:cNvPr name="Freeform 6" id="6"/>
            <p:cNvSpPr/>
            <p:nvPr/>
          </p:nvSpPr>
          <p:spPr>
            <a:xfrm flipH="false" flipV="false" rot="0">
              <a:off x="0" y="0"/>
              <a:ext cx="1885244" cy="456332"/>
            </a:xfrm>
            <a:custGeom>
              <a:avLst/>
              <a:gdLst/>
              <a:ahLst/>
              <a:cxnLst/>
              <a:rect r="r" b="b" t="t" l="l"/>
              <a:pathLst>
                <a:path h="456332" w="1885244">
                  <a:moveTo>
                    <a:pt x="0" y="0"/>
                  </a:moveTo>
                  <a:lnTo>
                    <a:pt x="1885244" y="0"/>
                  </a:lnTo>
                  <a:lnTo>
                    <a:pt x="1885244" y="456332"/>
                  </a:lnTo>
                  <a:lnTo>
                    <a:pt x="0" y="456332"/>
                  </a:lnTo>
                  <a:close/>
                </a:path>
              </a:pathLst>
            </a:custGeom>
            <a:solidFill>
              <a:srgbClr val="F6DD4E">
                <a:alpha val="49804"/>
              </a:srgbClr>
            </a:solidFill>
          </p:spPr>
        </p:sp>
        <p:sp>
          <p:nvSpPr>
            <p:cNvPr name="TextBox 7" id="7"/>
            <p:cNvSpPr txBox="true"/>
            <p:nvPr/>
          </p:nvSpPr>
          <p:spPr>
            <a:xfrm>
              <a:off x="0" y="-38100"/>
              <a:ext cx="1885244" cy="494432"/>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1028700" y="2446630"/>
            <a:ext cx="7837521" cy="5458206"/>
          </a:xfrm>
          <a:prstGeom prst="rect">
            <a:avLst/>
          </a:prstGeom>
        </p:spPr>
        <p:txBody>
          <a:bodyPr anchor="t" rtlCol="false" tIns="0" lIns="0" bIns="0" rIns="0">
            <a:spAutoFit/>
          </a:bodyPr>
          <a:lstStyle/>
          <a:p>
            <a:pPr algn="l">
              <a:lnSpc>
                <a:spcPts val="4860"/>
              </a:lnSpc>
            </a:pPr>
            <a:r>
              <a:rPr lang="en-US" sz="3240">
                <a:solidFill>
                  <a:srgbClr val="57BB8A"/>
                </a:solidFill>
                <a:latin typeface="Open Sans"/>
                <a:ea typeface="Open Sans"/>
                <a:cs typeface="Open Sans"/>
                <a:sym typeface="Open Sans"/>
              </a:rPr>
              <a:t>1. Eye Movement Desensitization and Reprocessing (EMDR)</a:t>
            </a:r>
          </a:p>
          <a:p>
            <a:pPr algn="l">
              <a:lnSpc>
                <a:spcPts val="4860"/>
              </a:lnSpc>
            </a:pPr>
            <a:r>
              <a:rPr lang="en-US" sz="3240">
                <a:solidFill>
                  <a:srgbClr val="7E54C6"/>
                </a:solidFill>
                <a:latin typeface="Open Sans"/>
                <a:ea typeface="Open Sans"/>
                <a:cs typeface="Open Sans"/>
                <a:sym typeface="Open Sans"/>
              </a:rPr>
              <a:t>2. Cognitive Processing Theory (CPT)</a:t>
            </a:r>
          </a:p>
          <a:p>
            <a:pPr algn="l">
              <a:lnSpc>
                <a:spcPts val="4860"/>
              </a:lnSpc>
            </a:pPr>
            <a:r>
              <a:rPr lang="en-US" sz="3240">
                <a:solidFill>
                  <a:srgbClr val="5D4037"/>
                </a:solidFill>
                <a:latin typeface="Open Sans"/>
                <a:ea typeface="Open Sans"/>
                <a:cs typeface="Open Sans"/>
                <a:sym typeface="Open Sans"/>
              </a:rPr>
              <a:t>3. Prolonged Exposure (PE)</a:t>
            </a:r>
          </a:p>
          <a:p>
            <a:pPr algn="l">
              <a:lnSpc>
                <a:spcPts val="4860"/>
              </a:lnSpc>
            </a:pPr>
            <a:r>
              <a:rPr lang="en-US" sz="3240">
                <a:solidFill>
                  <a:srgbClr val="CCA677"/>
                </a:solidFill>
                <a:latin typeface="Open Sans"/>
                <a:ea typeface="Open Sans"/>
                <a:cs typeface="Open Sans"/>
                <a:sym typeface="Open Sans"/>
              </a:rPr>
              <a:t>4. Somatic Experiencing (SE)</a:t>
            </a:r>
          </a:p>
          <a:p>
            <a:pPr algn="l">
              <a:lnSpc>
                <a:spcPts val="4860"/>
              </a:lnSpc>
            </a:pPr>
            <a:r>
              <a:rPr lang="en-US" sz="3240">
                <a:solidFill>
                  <a:srgbClr val="78909C"/>
                </a:solidFill>
                <a:latin typeface="Open Sans"/>
                <a:ea typeface="Open Sans"/>
                <a:cs typeface="Open Sans"/>
                <a:sym typeface="Open Sans"/>
              </a:rPr>
              <a:t>5. Trauma-Focused Cognitive Behavioral Therapy (TF-CBT)</a:t>
            </a:r>
          </a:p>
          <a:p>
            <a:pPr algn="l">
              <a:lnSpc>
                <a:spcPts val="4860"/>
              </a:lnSpc>
            </a:pPr>
            <a:r>
              <a:rPr lang="en-US" sz="3240">
                <a:solidFill>
                  <a:srgbClr val="455A64"/>
                </a:solidFill>
                <a:latin typeface="Open Sans"/>
                <a:ea typeface="Open Sans"/>
                <a:cs typeface="Open Sans"/>
                <a:sym typeface="Open Sans"/>
              </a:rPr>
              <a:t>6. Internal Family Systems (IFS)</a:t>
            </a:r>
          </a:p>
          <a:p>
            <a:pPr algn="l">
              <a:lnSpc>
                <a:spcPts val="4860"/>
              </a:lnSpc>
            </a:pPr>
            <a:r>
              <a:rPr lang="en-US" sz="3240">
                <a:solidFill>
                  <a:srgbClr val="57BB8A"/>
                </a:solidFill>
                <a:latin typeface="Open Sans"/>
                <a:ea typeface="Open Sans"/>
                <a:cs typeface="Open Sans"/>
                <a:sym typeface="Open Sans"/>
              </a:rPr>
              <a:t>7. Narrative Therapy</a:t>
            </a:r>
          </a:p>
        </p:txBody>
      </p:sp>
      <p:sp>
        <p:nvSpPr>
          <p:cNvPr name="TextBox 9" id="9"/>
          <p:cNvSpPr txBox="true"/>
          <p:nvPr/>
        </p:nvSpPr>
        <p:spPr>
          <a:xfrm rot="0">
            <a:off x="9144000" y="2446630"/>
            <a:ext cx="8115300" cy="5458206"/>
          </a:xfrm>
          <a:prstGeom prst="rect">
            <a:avLst/>
          </a:prstGeom>
        </p:spPr>
        <p:txBody>
          <a:bodyPr anchor="t" rtlCol="false" tIns="0" lIns="0" bIns="0" rIns="0">
            <a:spAutoFit/>
          </a:bodyPr>
          <a:lstStyle/>
          <a:p>
            <a:pPr algn="l">
              <a:lnSpc>
                <a:spcPts val="4860"/>
              </a:lnSpc>
            </a:pPr>
            <a:r>
              <a:rPr lang="en-US" sz="3240">
                <a:solidFill>
                  <a:srgbClr val="7E54C6"/>
                </a:solidFill>
                <a:latin typeface="Open Sans"/>
                <a:ea typeface="Open Sans"/>
                <a:cs typeface="Open Sans"/>
                <a:sym typeface="Open Sans"/>
              </a:rPr>
              <a:t>8. Dialectical Behavior Therapy (DBT)</a:t>
            </a:r>
          </a:p>
          <a:p>
            <a:pPr algn="l">
              <a:lnSpc>
                <a:spcPts val="4860"/>
              </a:lnSpc>
            </a:pPr>
            <a:r>
              <a:rPr lang="en-US" sz="3240">
                <a:solidFill>
                  <a:srgbClr val="5D4037"/>
                </a:solidFill>
                <a:latin typeface="Open Sans"/>
                <a:ea typeface="Open Sans"/>
                <a:cs typeface="Open Sans"/>
                <a:sym typeface="Open Sans"/>
              </a:rPr>
              <a:t>9. Polyvagal-Informed Approaches</a:t>
            </a:r>
          </a:p>
          <a:p>
            <a:pPr algn="l">
              <a:lnSpc>
                <a:spcPts val="4860"/>
              </a:lnSpc>
            </a:pPr>
            <a:r>
              <a:rPr lang="en-US" sz="3240">
                <a:solidFill>
                  <a:srgbClr val="CCA677"/>
                </a:solidFill>
                <a:latin typeface="Open Sans"/>
                <a:ea typeface="Open Sans"/>
                <a:cs typeface="Open Sans"/>
                <a:sym typeface="Open Sans"/>
              </a:rPr>
              <a:t>10 Accelerated Experiential Dynamic Psychotherapy (AEDP)</a:t>
            </a:r>
          </a:p>
          <a:p>
            <a:pPr algn="l">
              <a:lnSpc>
                <a:spcPts val="4860"/>
              </a:lnSpc>
            </a:pPr>
            <a:r>
              <a:rPr lang="en-US" sz="3240">
                <a:solidFill>
                  <a:srgbClr val="000000"/>
                </a:solidFill>
                <a:latin typeface="Open Sans"/>
                <a:ea typeface="Open Sans"/>
                <a:cs typeface="Open Sans"/>
                <a:sym typeface="Open Sans"/>
              </a:rPr>
              <a:t>11. Psychedelic-Assisted Therapy (Investigational/Emerging)</a:t>
            </a:r>
          </a:p>
          <a:p>
            <a:pPr algn="l">
              <a:lnSpc>
                <a:spcPts val="4860"/>
              </a:lnSpc>
            </a:pPr>
            <a:r>
              <a:rPr lang="en-US" sz="3240">
                <a:solidFill>
                  <a:srgbClr val="78909C"/>
                </a:solidFill>
                <a:latin typeface="Open Sans"/>
                <a:ea typeface="Open Sans"/>
                <a:cs typeface="Open Sans"/>
                <a:sym typeface="Open Sans"/>
              </a:rPr>
              <a:t>12. Trauma-Informed Yoga Therapy</a:t>
            </a:r>
          </a:p>
          <a:p>
            <a:pPr algn="l">
              <a:lnSpc>
                <a:spcPts val="4860"/>
              </a:lnSpc>
            </a:pPr>
            <a:r>
              <a:rPr lang="en-US" sz="3240">
                <a:solidFill>
                  <a:srgbClr val="455A64"/>
                </a:solidFill>
                <a:latin typeface="Open Sans"/>
                <a:ea typeface="Open Sans"/>
                <a:cs typeface="Open Sans"/>
                <a:sym typeface="Open Sans"/>
              </a:rPr>
              <a:t>13. Trauma-Informed Expressive Arts Therapy</a:t>
            </a:r>
          </a:p>
        </p:txBody>
      </p:sp>
      <p:grpSp>
        <p:nvGrpSpPr>
          <p:cNvPr name="Group 10" id="10"/>
          <p:cNvGrpSpPr/>
          <p:nvPr/>
        </p:nvGrpSpPr>
        <p:grpSpPr>
          <a:xfrm rot="0">
            <a:off x="9144000" y="2541880"/>
            <a:ext cx="7158037" cy="605485"/>
            <a:chOff x="0" y="0"/>
            <a:chExt cx="1885244" cy="159469"/>
          </a:xfrm>
        </p:grpSpPr>
        <p:sp>
          <p:nvSpPr>
            <p:cNvPr name="Freeform 11" id="11"/>
            <p:cNvSpPr/>
            <p:nvPr/>
          </p:nvSpPr>
          <p:spPr>
            <a:xfrm flipH="false" flipV="false" rot="0">
              <a:off x="0" y="0"/>
              <a:ext cx="1885244" cy="159469"/>
            </a:xfrm>
            <a:custGeom>
              <a:avLst/>
              <a:gdLst/>
              <a:ahLst/>
              <a:cxnLst/>
              <a:rect r="r" b="b" t="t" l="l"/>
              <a:pathLst>
                <a:path h="159469" w="1885244">
                  <a:moveTo>
                    <a:pt x="0" y="0"/>
                  </a:moveTo>
                  <a:lnTo>
                    <a:pt x="1885244" y="0"/>
                  </a:lnTo>
                  <a:lnTo>
                    <a:pt x="1885244" y="159469"/>
                  </a:lnTo>
                  <a:lnTo>
                    <a:pt x="0" y="159469"/>
                  </a:lnTo>
                  <a:close/>
                </a:path>
              </a:pathLst>
            </a:custGeom>
            <a:solidFill>
              <a:srgbClr val="F6DD4E">
                <a:alpha val="49804"/>
              </a:srgbClr>
            </a:solidFill>
          </p:spPr>
        </p:sp>
        <p:sp>
          <p:nvSpPr>
            <p:cNvPr name="TextBox 12" id="12"/>
            <p:cNvSpPr txBox="true"/>
            <p:nvPr/>
          </p:nvSpPr>
          <p:spPr>
            <a:xfrm>
              <a:off x="0" y="-38100"/>
              <a:ext cx="1885244" cy="197569"/>
            </a:xfrm>
            <a:prstGeom prst="rect">
              <a:avLst/>
            </a:prstGeom>
          </p:spPr>
          <p:txBody>
            <a:bodyPr anchor="ctr" rtlCol="false" tIns="50800" lIns="50800" bIns="50800" rIns="50800"/>
            <a:lstStyle/>
            <a:p>
              <a:pPr algn="ctr">
                <a:lnSpc>
                  <a:spcPts val="2659"/>
                </a:lnSpc>
                <a:spcBef>
                  <a:spcPct val="0"/>
                </a:spcBef>
              </a:pPr>
            </a:p>
          </p:txBody>
        </p:sp>
      </p:grpSp>
      <p:grpSp>
        <p:nvGrpSpPr>
          <p:cNvPr name="Group 13" id="13"/>
          <p:cNvGrpSpPr/>
          <p:nvPr/>
        </p:nvGrpSpPr>
        <p:grpSpPr>
          <a:xfrm rot="0">
            <a:off x="1028700" y="7390486"/>
            <a:ext cx="4184452" cy="514350"/>
            <a:chOff x="0" y="0"/>
            <a:chExt cx="1102078" cy="135467"/>
          </a:xfrm>
        </p:grpSpPr>
        <p:sp>
          <p:nvSpPr>
            <p:cNvPr name="Freeform 14" id="14"/>
            <p:cNvSpPr/>
            <p:nvPr/>
          </p:nvSpPr>
          <p:spPr>
            <a:xfrm flipH="false" flipV="false" rot="0">
              <a:off x="0" y="0"/>
              <a:ext cx="1102078" cy="135467"/>
            </a:xfrm>
            <a:custGeom>
              <a:avLst/>
              <a:gdLst/>
              <a:ahLst/>
              <a:cxnLst/>
              <a:rect r="r" b="b" t="t" l="l"/>
              <a:pathLst>
                <a:path h="135467" w="1102078">
                  <a:moveTo>
                    <a:pt x="0" y="0"/>
                  </a:moveTo>
                  <a:lnTo>
                    <a:pt x="1102078" y="0"/>
                  </a:lnTo>
                  <a:lnTo>
                    <a:pt x="1102078" y="135467"/>
                  </a:lnTo>
                  <a:lnTo>
                    <a:pt x="0" y="135467"/>
                  </a:lnTo>
                  <a:close/>
                </a:path>
              </a:pathLst>
            </a:custGeom>
            <a:solidFill>
              <a:srgbClr val="F6DD4E">
                <a:alpha val="49804"/>
              </a:srgbClr>
            </a:solidFill>
          </p:spPr>
        </p:sp>
        <p:sp>
          <p:nvSpPr>
            <p:cNvPr name="TextBox 15" id="15"/>
            <p:cNvSpPr txBox="true"/>
            <p:nvPr/>
          </p:nvSpPr>
          <p:spPr>
            <a:xfrm>
              <a:off x="0" y="-38100"/>
              <a:ext cx="1102078" cy="173567"/>
            </a:xfrm>
            <a:prstGeom prst="rect">
              <a:avLst/>
            </a:prstGeom>
          </p:spPr>
          <p:txBody>
            <a:bodyPr anchor="ctr" rtlCol="false" tIns="50800" lIns="50800" bIns="50800" rIns="50800"/>
            <a:lstStyle/>
            <a:p>
              <a:pPr algn="ctr">
                <a:lnSpc>
                  <a:spcPts val="2659"/>
                </a:lnSpc>
                <a:spcBef>
                  <a:spcPct val="0"/>
                </a:spcBef>
              </a:pPr>
            </a:p>
          </p:txBody>
        </p:sp>
      </p:grpSp>
      <p:grpSp>
        <p:nvGrpSpPr>
          <p:cNvPr name="Group 16" id="16"/>
          <p:cNvGrpSpPr/>
          <p:nvPr/>
        </p:nvGrpSpPr>
        <p:grpSpPr>
          <a:xfrm rot="0">
            <a:off x="1028700" y="2541880"/>
            <a:ext cx="7291983" cy="1210970"/>
            <a:chOff x="0" y="0"/>
            <a:chExt cx="1920522" cy="318939"/>
          </a:xfrm>
        </p:grpSpPr>
        <p:sp>
          <p:nvSpPr>
            <p:cNvPr name="Freeform 17" id="17"/>
            <p:cNvSpPr/>
            <p:nvPr/>
          </p:nvSpPr>
          <p:spPr>
            <a:xfrm flipH="false" flipV="false" rot="0">
              <a:off x="0" y="0"/>
              <a:ext cx="1920522" cy="318939"/>
            </a:xfrm>
            <a:custGeom>
              <a:avLst/>
              <a:gdLst/>
              <a:ahLst/>
              <a:cxnLst/>
              <a:rect r="r" b="b" t="t" l="l"/>
              <a:pathLst>
                <a:path h="318939" w="1920522">
                  <a:moveTo>
                    <a:pt x="0" y="0"/>
                  </a:moveTo>
                  <a:lnTo>
                    <a:pt x="1920522" y="0"/>
                  </a:lnTo>
                  <a:lnTo>
                    <a:pt x="1920522" y="318939"/>
                  </a:lnTo>
                  <a:lnTo>
                    <a:pt x="0" y="318939"/>
                  </a:lnTo>
                  <a:close/>
                </a:path>
              </a:pathLst>
            </a:custGeom>
            <a:solidFill>
              <a:srgbClr val="F6DD4E">
                <a:alpha val="49804"/>
              </a:srgbClr>
            </a:solidFill>
          </p:spPr>
        </p:sp>
        <p:sp>
          <p:nvSpPr>
            <p:cNvPr name="TextBox 18" id="18"/>
            <p:cNvSpPr txBox="true"/>
            <p:nvPr/>
          </p:nvSpPr>
          <p:spPr>
            <a:xfrm>
              <a:off x="0" y="-38100"/>
              <a:ext cx="1920522" cy="357039"/>
            </a:xfrm>
            <a:prstGeom prst="rect">
              <a:avLst/>
            </a:prstGeom>
          </p:spPr>
          <p:txBody>
            <a:bodyPr anchor="ctr" rtlCol="false" tIns="50800" lIns="50800" bIns="50800" rIns="50800"/>
            <a:lstStyle/>
            <a:p>
              <a:pPr algn="ctr">
                <a:lnSpc>
                  <a:spcPts val="2659"/>
                </a:lnSpc>
                <a:spcBef>
                  <a:spcPct val="0"/>
                </a:spcBef>
              </a:pPr>
            </a:p>
          </p:txBody>
        </p:sp>
      </p:grpSp>
      <p:grpSp>
        <p:nvGrpSpPr>
          <p:cNvPr name="Group 19" id="19"/>
          <p:cNvGrpSpPr/>
          <p:nvPr/>
        </p:nvGrpSpPr>
        <p:grpSpPr>
          <a:xfrm rot="0">
            <a:off x="9144000" y="4818736"/>
            <a:ext cx="7158037" cy="1371600"/>
            <a:chOff x="0" y="0"/>
            <a:chExt cx="1885244" cy="361244"/>
          </a:xfrm>
        </p:grpSpPr>
        <p:sp>
          <p:nvSpPr>
            <p:cNvPr name="Freeform 20" id="20"/>
            <p:cNvSpPr/>
            <p:nvPr/>
          </p:nvSpPr>
          <p:spPr>
            <a:xfrm flipH="false" flipV="false" rot="0">
              <a:off x="0" y="0"/>
              <a:ext cx="1885244" cy="361244"/>
            </a:xfrm>
            <a:custGeom>
              <a:avLst/>
              <a:gdLst/>
              <a:ahLst/>
              <a:cxnLst/>
              <a:rect r="r" b="b" t="t" l="l"/>
              <a:pathLst>
                <a:path h="361244" w="1885244">
                  <a:moveTo>
                    <a:pt x="0" y="0"/>
                  </a:moveTo>
                  <a:lnTo>
                    <a:pt x="1885244" y="0"/>
                  </a:lnTo>
                  <a:lnTo>
                    <a:pt x="1885244" y="361244"/>
                  </a:lnTo>
                  <a:lnTo>
                    <a:pt x="0" y="361244"/>
                  </a:lnTo>
                  <a:close/>
                </a:path>
              </a:pathLst>
            </a:custGeom>
            <a:solidFill>
              <a:srgbClr val="FF0000">
                <a:alpha val="49804"/>
              </a:srgbClr>
            </a:solidFill>
          </p:spPr>
        </p:sp>
        <p:sp>
          <p:nvSpPr>
            <p:cNvPr name="TextBox 21" id="21"/>
            <p:cNvSpPr txBox="true"/>
            <p:nvPr/>
          </p:nvSpPr>
          <p:spPr>
            <a:xfrm>
              <a:off x="0" y="-38100"/>
              <a:ext cx="1885244" cy="399344"/>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091404"/>
            <a:ext cx="18288000" cy="195596"/>
            <a:chOff x="0" y="0"/>
            <a:chExt cx="24384000" cy="260794"/>
          </a:xfrm>
        </p:grpSpPr>
        <p:sp>
          <p:nvSpPr>
            <p:cNvPr name="Freeform 3" id="3"/>
            <p:cNvSpPr/>
            <p:nvPr/>
          </p:nvSpPr>
          <p:spPr>
            <a:xfrm flipH="false" flipV="false" rot="0">
              <a:off x="0" y="0"/>
              <a:ext cx="24384000" cy="260858"/>
            </a:xfrm>
            <a:custGeom>
              <a:avLst/>
              <a:gdLst/>
              <a:ahLst/>
              <a:cxnLst/>
              <a:rect r="r" b="b" t="t" l="l"/>
              <a:pathLst>
                <a:path h="260858" w="24384000">
                  <a:moveTo>
                    <a:pt x="0" y="0"/>
                  </a:moveTo>
                  <a:lnTo>
                    <a:pt x="24384000" y="0"/>
                  </a:lnTo>
                  <a:lnTo>
                    <a:pt x="24384000" y="260858"/>
                  </a:lnTo>
                  <a:lnTo>
                    <a:pt x="0" y="260858"/>
                  </a:lnTo>
                  <a:close/>
                </a:path>
              </a:pathLst>
            </a:custGeom>
            <a:solidFill>
              <a:srgbClr val="CCA677"/>
            </a:solidFill>
          </p:spPr>
        </p:sp>
      </p:grpSp>
      <p:grpSp>
        <p:nvGrpSpPr>
          <p:cNvPr name="Group 4" id="4"/>
          <p:cNvGrpSpPr/>
          <p:nvPr/>
        </p:nvGrpSpPr>
        <p:grpSpPr>
          <a:xfrm rot="0">
            <a:off x="1080602" y="1028698"/>
            <a:ext cx="16178698" cy="1662600"/>
            <a:chOff x="0" y="0"/>
            <a:chExt cx="21571598" cy="2216800"/>
          </a:xfrm>
        </p:grpSpPr>
        <p:sp>
          <p:nvSpPr>
            <p:cNvPr name="Freeform 5" id="5"/>
            <p:cNvSpPr/>
            <p:nvPr/>
          </p:nvSpPr>
          <p:spPr>
            <a:xfrm flipH="false" flipV="false" rot="0">
              <a:off x="0" y="0"/>
              <a:ext cx="21571603" cy="2216802"/>
            </a:xfrm>
            <a:custGeom>
              <a:avLst/>
              <a:gdLst/>
              <a:ahLst/>
              <a:cxnLst/>
              <a:rect r="r" b="b" t="t" l="l"/>
              <a:pathLst>
                <a:path h="2216802" w="21571603">
                  <a:moveTo>
                    <a:pt x="0" y="0"/>
                  </a:moveTo>
                  <a:lnTo>
                    <a:pt x="21571603" y="0"/>
                  </a:lnTo>
                  <a:lnTo>
                    <a:pt x="21571603" y="2216802"/>
                  </a:lnTo>
                  <a:lnTo>
                    <a:pt x="0" y="2216802"/>
                  </a:lnTo>
                  <a:close/>
                </a:path>
              </a:pathLst>
            </a:custGeom>
            <a:blipFill>
              <a:blip r:embed="rId3">
                <a:alphaModFix amt="0"/>
              </a:blip>
              <a:stretch>
                <a:fillRect l="0" t="-149716" r="-5331" b="-149716"/>
              </a:stretch>
            </a:blipFill>
          </p:spPr>
        </p:sp>
        <p:sp>
          <p:nvSpPr>
            <p:cNvPr name="TextBox 6" id="6"/>
            <p:cNvSpPr txBox="true"/>
            <p:nvPr/>
          </p:nvSpPr>
          <p:spPr>
            <a:xfrm>
              <a:off x="0" y="-9525"/>
              <a:ext cx="21571598" cy="2226325"/>
            </a:xfrm>
            <a:prstGeom prst="rect">
              <a:avLst/>
            </a:prstGeom>
          </p:spPr>
          <p:txBody>
            <a:bodyPr anchor="b" rtlCol="false" tIns="0" lIns="0" bIns="0" rIns="0"/>
            <a:lstStyle/>
            <a:p>
              <a:pPr algn="l">
                <a:lnSpc>
                  <a:spcPts val="10080"/>
                </a:lnSpc>
              </a:pPr>
              <a:r>
                <a:rPr lang="en-US" sz="8400">
                  <a:solidFill>
                    <a:srgbClr val="000000"/>
                  </a:solidFill>
                  <a:latin typeface="Economica"/>
                  <a:ea typeface="Economica"/>
                  <a:cs typeface="Economica"/>
                  <a:sym typeface="Economica"/>
                </a:rPr>
                <a:t>Six Principles of Trauma Informed Care</a:t>
              </a:r>
            </a:p>
          </p:txBody>
        </p:sp>
      </p:grpSp>
      <p:grpSp>
        <p:nvGrpSpPr>
          <p:cNvPr name="Group 7" id="7"/>
          <p:cNvGrpSpPr/>
          <p:nvPr/>
        </p:nvGrpSpPr>
        <p:grpSpPr>
          <a:xfrm rot="0">
            <a:off x="1692474" y="8120658"/>
            <a:ext cx="15566826" cy="1468575"/>
            <a:chOff x="0" y="0"/>
            <a:chExt cx="4099905" cy="386785"/>
          </a:xfrm>
        </p:grpSpPr>
        <p:sp>
          <p:nvSpPr>
            <p:cNvPr name="Freeform 8" id="8"/>
            <p:cNvSpPr/>
            <p:nvPr/>
          </p:nvSpPr>
          <p:spPr>
            <a:xfrm flipH="false" flipV="false" rot="0">
              <a:off x="0" y="0"/>
              <a:ext cx="4099905" cy="386785"/>
            </a:xfrm>
            <a:custGeom>
              <a:avLst/>
              <a:gdLst/>
              <a:ahLst/>
              <a:cxnLst/>
              <a:rect r="r" b="b" t="t" l="l"/>
              <a:pathLst>
                <a:path h="386785" w="4099905">
                  <a:moveTo>
                    <a:pt x="0" y="0"/>
                  </a:moveTo>
                  <a:lnTo>
                    <a:pt x="4099905" y="0"/>
                  </a:lnTo>
                  <a:lnTo>
                    <a:pt x="4099905" y="386785"/>
                  </a:lnTo>
                  <a:lnTo>
                    <a:pt x="0" y="386785"/>
                  </a:lnTo>
                  <a:close/>
                </a:path>
              </a:pathLst>
            </a:custGeom>
            <a:solidFill>
              <a:srgbClr val="000000">
                <a:alpha val="49804"/>
              </a:srgbClr>
            </a:solidFill>
          </p:spPr>
        </p:sp>
        <p:sp>
          <p:nvSpPr>
            <p:cNvPr name="TextBox 9" id="9"/>
            <p:cNvSpPr txBox="true"/>
            <p:nvPr/>
          </p:nvSpPr>
          <p:spPr>
            <a:xfrm>
              <a:off x="0" y="-38100"/>
              <a:ext cx="4099905" cy="424885"/>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692474" y="7070527"/>
            <a:ext cx="15566826" cy="1050131"/>
            <a:chOff x="0" y="0"/>
            <a:chExt cx="4099905" cy="276578"/>
          </a:xfrm>
        </p:grpSpPr>
        <p:sp>
          <p:nvSpPr>
            <p:cNvPr name="Freeform 11" id="11"/>
            <p:cNvSpPr/>
            <p:nvPr/>
          </p:nvSpPr>
          <p:spPr>
            <a:xfrm flipH="false" flipV="false" rot="0">
              <a:off x="0" y="0"/>
              <a:ext cx="4099905" cy="276578"/>
            </a:xfrm>
            <a:custGeom>
              <a:avLst/>
              <a:gdLst/>
              <a:ahLst/>
              <a:cxnLst/>
              <a:rect r="r" b="b" t="t" l="l"/>
              <a:pathLst>
                <a:path h="276578" w="4099905">
                  <a:moveTo>
                    <a:pt x="0" y="0"/>
                  </a:moveTo>
                  <a:lnTo>
                    <a:pt x="4099905" y="0"/>
                  </a:lnTo>
                  <a:lnTo>
                    <a:pt x="4099905" y="276578"/>
                  </a:lnTo>
                  <a:lnTo>
                    <a:pt x="0" y="276578"/>
                  </a:lnTo>
                  <a:close/>
                </a:path>
              </a:pathLst>
            </a:custGeom>
            <a:solidFill>
              <a:srgbClr val="607D8B">
                <a:alpha val="49804"/>
              </a:srgbClr>
            </a:solidFill>
          </p:spPr>
        </p:sp>
        <p:sp>
          <p:nvSpPr>
            <p:cNvPr name="TextBox 12" id="12"/>
            <p:cNvSpPr txBox="true"/>
            <p:nvPr/>
          </p:nvSpPr>
          <p:spPr>
            <a:xfrm>
              <a:off x="0" y="-38100"/>
              <a:ext cx="4099905" cy="314678"/>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692474" y="2796620"/>
            <a:ext cx="15566826" cy="1061552"/>
            <a:chOff x="0" y="0"/>
            <a:chExt cx="4099905" cy="279586"/>
          </a:xfrm>
        </p:grpSpPr>
        <p:sp>
          <p:nvSpPr>
            <p:cNvPr name="Freeform 14" id="14"/>
            <p:cNvSpPr/>
            <p:nvPr/>
          </p:nvSpPr>
          <p:spPr>
            <a:xfrm flipH="false" flipV="false" rot="0">
              <a:off x="0" y="0"/>
              <a:ext cx="4099905" cy="279586"/>
            </a:xfrm>
            <a:custGeom>
              <a:avLst/>
              <a:gdLst/>
              <a:ahLst/>
              <a:cxnLst/>
              <a:rect r="r" b="b" t="t" l="l"/>
              <a:pathLst>
                <a:path h="279586" w="4099905">
                  <a:moveTo>
                    <a:pt x="0" y="0"/>
                  </a:moveTo>
                  <a:lnTo>
                    <a:pt x="4099905" y="0"/>
                  </a:lnTo>
                  <a:lnTo>
                    <a:pt x="4099905" y="279586"/>
                  </a:lnTo>
                  <a:lnTo>
                    <a:pt x="0" y="279586"/>
                  </a:lnTo>
                  <a:close/>
                </a:path>
              </a:pathLst>
            </a:custGeom>
            <a:solidFill>
              <a:srgbClr val="57BB8A">
                <a:alpha val="49804"/>
              </a:srgbClr>
            </a:solidFill>
          </p:spPr>
        </p:sp>
        <p:sp>
          <p:nvSpPr>
            <p:cNvPr name="TextBox 15" id="15"/>
            <p:cNvSpPr txBox="true"/>
            <p:nvPr/>
          </p:nvSpPr>
          <p:spPr>
            <a:xfrm>
              <a:off x="0" y="-38100"/>
              <a:ext cx="4099905" cy="317686"/>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692474" y="3858172"/>
            <a:ext cx="15566826" cy="1087927"/>
            <a:chOff x="0" y="0"/>
            <a:chExt cx="4099905" cy="286532"/>
          </a:xfrm>
        </p:grpSpPr>
        <p:sp>
          <p:nvSpPr>
            <p:cNvPr name="Freeform 17" id="17"/>
            <p:cNvSpPr/>
            <p:nvPr/>
          </p:nvSpPr>
          <p:spPr>
            <a:xfrm flipH="false" flipV="false" rot="0">
              <a:off x="0" y="0"/>
              <a:ext cx="4099905" cy="286532"/>
            </a:xfrm>
            <a:custGeom>
              <a:avLst/>
              <a:gdLst/>
              <a:ahLst/>
              <a:cxnLst/>
              <a:rect r="r" b="b" t="t" l="l"/>
              <a:pathLst>
                <a:path h="286532" w="4099905">
                  <a:moveTo>
                    <a:pt x="0" y="0"/>
                  </a:moveTo>
                  <a:lnTo>
                    <a:pt x="4099905" y="0"/>
                  </a:lnTo>
                  <a:lnTo>
                    <a:pt x="4099905" y="286532"/>
                  </a:lnTo>
                  <a:lnTo>
                    <a:pt x="0" y="286532"/>
                  </a:lnTo>
                  <a:close/>
                </a:path>
              </a:pathLst>
            </a:custGeom>
            <a:solidFill>
              <a:srgbClr val="7E54C6">
                <a:alpha val="49804"/>
              </a:srgbClr>
            </a:solidFill>
          </p:spPr>
        </p:sp>
        <p:sp>
          <p:nvSpPr>
            <p:cNvPr name="TextBox 18" id="18"/>
            <p:cNvSpPr txBox="true"/>
            <p:nvPr/>
          </p:nvSpPr>
          <p:spPr>
            <a:xfrm>
              <a:off x="0" y="-38100"/>
              <a:ext cx="4099905" cy="324632"/>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692474" y="4946098"/>
            <a:ext cx="15566826" cy="999087"/>
            <a:chOff x="0" y="0"/>
            <a:chExt cx="4099905" cy="263134"/>
          </a:xfrm>
        </p:grpSpPr>
        <p:sp>
          <p:nvSpPr>
            <p:cNvPr name="Freeform 20" id="20"/>
            <p:cNvSpPr/>
            <p:nvPr/>
          </p:nvSpPr>
          <p:spPr>
            <a:xfrm flipH="false" flipV="false" rot="0">
              <a:off x="0" y="0"/>
              <a:ext cx="4099905" cy="263134"/>
            </a:xfrm>
            <a:custGeom>
              <a:avLst/>
              <a:gdLst/>
              <a:ahLst/>
              <a:cxnLst/>
              <a:rect r="r" b="b" t="t" l="l"/>
              <a:pathLst>
                <a:path h="263134" w="4099905">
                  <a:moveTo>
                    <a:pt x="0" y="0"/>
                  </a:moveTo>
                  <a:lnTo>
                    <a:pt x="4099905" y="0"/>
                  </a:lnTo>
                  <a:lnTo>
                    <a:pt x="4099905" y="263134"/>
                  </a:lnTo>
                  <a:lnTo>
                    <a:pt x="0" y="263134"/>
                  </a:lnTo>
                  <a:close/>
                </a:path>
              </a:pathLst>
            </a:custGeom>
            <a:solidFill>
              <a:srgbClr val="5D4037">
                <a:alpha val="49804"/>
              </a:srgbClr>
            </a:solidFill>
          </p:spPr>
        </p:sp>
        <p:sp>
          <p:nvSpPr>
            <p:cNvPr name="TextBox 21" id="21"/>
            <p:cNvSpPr txBox="true"/>
            <p:nvPr/>
          </p:nvSpPr>
          <p:spPr>
            <a:xfrm>
              <a:off x="0" y="-38100"/>
              <a:ext cx="4099905" cy="301234"/>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1692474" y="5945185"/>
            <a:ext cx="15566826" cy="1125341"/>
            <a:chOff x="0" y="0"/>
            <a:chExt cx="4099905" cy="296386"/>
          </a:xfrm>
        </p:grpSpPr>
        <p:sp>
          <p:nvSpPr>
            <p:cNvPr name="Freeform 23" id="23"/>
            <p:cNvSpPr/>
            <p:nvPr/>
          </p:nvSpPr>
          <p:spPr>
            <a:xfrm flipH="false" flipV="false" rot="0">
              <a:off x="0" y="0"/>
              <a:ext cx="4099905" cy="296386"/>
            </a:xfrm>
            <a:custGeom>
              <a:avLst/>
              <a:gdLst/>
              <a:ahLst/>
              <a:cxnLst/>
              <a:rect r="r" b="b" t="t" l="l"/>
              <a:pathLst>
                <a:path h="296386" w="4099905">
                  <a:moveTo>
                    <a:pt x="0" y="0"/>
                  </a:moveTo>
                  <a:lnTo>
                    <a:pt x="4099905" y="0"/>
                  </a:lnTo>
                  <a:lnTo>
                    <a:pt x="4099905" y="296386"/>
                  </a:lnTo>
                  <a:lnTo>
                    <a:pt x="0" y="296386"/>
                  </a:lnTo>
                  <a:close/>
                </a:path>
              </a:pathLst>
            </a:custGeom>
            <a:solidFill>
              <a:srgbClr val="CCA677">
                <a:alpha val="49804"/>
              </a:srgbClr>
            </a:solidFill>
          </p:spPr>
        </p:sp>
        <p:sp>
          <p:nvSpPr>
            <p:cNvPr name="TextBox 24" id="24"/>
            <p:cNvSpPr txBox="true"/>
            <p:nvPr/>
          </p:nvSpPr>
          <p:spPr>
            <a:xfrm>
              <a:off x="0" y="-38100"/>
              <a:ext cx="4099905" cy="334486"/>
            </a:xfrm>
            <a:prstGeom prst="rect">
              <a:avLst/>
            </a:prstGeom>
          </p:spPr>
          <p:txBody>
            <a:bodyPr anchor="ctr" rtlCol="false" tIns="50800" lIns="50800" bIns="50800" rIns="50800"/>
            <a:lstStyle/>
            <a:p>
              <a:pPr algn="ctr">
                <a:lnSpc>
                  <a:spcPts val="2659"/>
                </a:lnSpc>
              </a:pPr>
            </a:p>
          </p:txBody>
        </p:sp>
      </p:grpSp>
      <p:sp>
        <p:nvSpPr>
          <p:cNvPr name="TextBox 25" id="25"/>
          <p:cNvSpPr txBox="true"/>
          <p:nvPr/>
        </p:nvSpPr>
        <p:spPr>
          <a:xfrm rot="0">
            <a:off x="1028700" y="2777570"/>
            <a:ext cx="16230600" cy="6811663"/>
          </a:xfrm>
          <a:prstGeom prst="rect">
            <a:avLst/>
          </a:prstGeom>
        </p:spPr>
        <p:txBody>
          <a:bodyPr anchor="t" rtlCol="false" tIns="0" lIns="0" bIns="0" rIns="0">
            <a:spAutoFit/>
          </a:bodyPr>
          <a:lstStyle/>
          <a:p>
            <a:pPr algn="l" marL="1049274" indent="-524637" lvl="1">
              <a:lnSpc>
                <a:spcPts val="4135"/>
              </a:lnSpc>
              <a:buAutoNum type="arabicPeriod" startAt="1"/>
            </a:pPr>
            <a:r>
              <a:rPr lang="en-US" sz="3329">
                <a:solidFill>
                  <a:srgbClr val="FFFFFF"/>
                </a:solidFill>
                <a:latin typeface="Open Sans"/>
                <a:ea typeface="Open Sans"/>
                <a:cs typeface="Open Sans"/>
                <a:sym typeface="Open Sans"/>
              </a:rPr>
              <a:t>Safety - Clients should feel physically, emotionally, and psychologically safe while under care.</a:t>
            </a:r>
          </a:p>
          <a:p>
            <a:pPr algn="l" marL="1049274" indent="-524637" lvl="1">
              <a:lnSpc>
                <a:spcPts val="4135"/>
              </a:lnSpc>
              <a:buAutoNum type="arabicPeriod" startAt="1"/>
            </a:pPr>
            <a:r>
              <a:rPr lang="en-US" sz="3329">
                <a:solidFill>
                  <a:srgbClr val="FFFFFF"/>
                </a:solidFill>
                <a:latin typeface="Open Sans"/>
                <a:ea typeface="Open Sans"/>
                <a:cs typeface="Open Sans"/>
                <a:sym typeface="Open Sans"/>
              </a:rPr>
              <a:t>Trustworthiness &amp; Transparency - Providers should communicate openly and consistently and work to build and maintain trust with clients.</a:t>
            </a:r>
          </a:p>
          <a:p>
            <a:pPr algn="l" marL="1049274" indent="-524637" lvl="1">
              <a:lnSpc>
                <a:spcPts val="4135"/>
              </a:lnSpc>
              <a:buAutoNum type="arabicPeriod" startAt="1"/>
            </a:pPr>
            <a:r>
              <a:rPr lang="en-US" sz="3329">
                <a:solidFill>
                  <a:srgbClr val="FFFFFF"/>
                </a:solidFill>
                <a:latin typeface="Open Sans"/>
                <a:ea typeface="Open Sans"/>
                <a:cs typeface="Open Sans"/>
                <a:sym typeface="Open Sans"/>
              </a:rPr>
              <a:t>Peer Support - Support and connection with people who have shared or similar lived experiences.</a:t>
            </a:r>
          </a:p>
          <a:p>
            <a:pPr algn="l" marL="1049274" indent="-524637" lvl="1">
              <a:lnSpc>
                <a:spcPts val="4135"/>
              </a:lnSpc>
              <a:buAutoNum type="arabicPeriod" startAt="1"/>
            </a:pPr>
            <a:r>
              <a:rPr lang="en-US" sz="3329">
                <a:solidFill>
                  <a:srgbClr val="FFFFFF"/>
                </a:solidFill>
                <a:latin typeface="Open Sans"/>
                <a:ea typeface="Open Sans"/>
                <a:cs typeface="Open Sans"/>
                <a:sym typeface="Open Sans"/>
              </a:rPr>
              <a:t>Collaboration &amp; Mutuality - Clients and providers work together rather than treatment simply being done to the client.. </a:t>
            </a:r>
          </a:p>
          <a:p>
            <a:pPr algn="l" marL="1049274" indent="-524637" lvl="1">
              <a:lnSpc>
                <a:spcPts val="4135"/>
              </a:lnSpc>
              <a:buAutoNum type="arabicPeriod" startAt="1"/>
            </a:pPr>
            <a:r>
              <a:rPr lang="en-US" sz="3329">
                <a:solidFill>
                  <a:srgbClr val="FFFFFF"/>
                </a:solidFill>
                <a:latin typeface="Open Sans"/>
                <a:ea typeface="Open Sans"/>
                <a:cs typeface="Open Sans"/>
                <a:sym typeface="Open Sans"/>
              </a:rPr>
              <a:t>Empowerment &amp; Choice - Clients are informed about treatment options and actively participate in decisions about their care.</a:t>
            </a:r>
          </a:p>
          <a:p>
            <a:pPr algn="l" marL="1049274" indent="-524637" lvl="1">
              <a:lnSpc>
                <a:spcPts val="4135"/>
              </a:lnSpc>
              <a:buAutoNum type="arabicPeriod" startAt="1"/>
            </a:pPr>
            <a:r>
              <a:rPr lang="en-US" sz="3329">
                <a:solidFill>
                  <a:srgbClr val="FFFFFF"/>
                </a:solidFill>
                <a:latin typeface="Open Sans"/>
                <a:ea typeface="Open Sans"/>
                <a:cs typeface="Open Sans"/>
                <a:sym typeface="Open Sans"/>
              </a:rPr>
              <a:t>Cultural, Historical, &amp; Gender Issues - Care recognizes the influence of culture, history, identity, and systemic inequities and works to identify and address bias.</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04950" y="50797"/>
            <a:ext cx="15278100" cy="10185397"/>
            <a:chOff x="0" y="0"/>
            <a:chExt cx="20370800" cy="13580529"/>
          </a:xfrm>
        </p:grpSpPr>
        <p:sp>
          <p:nvSpPr>
            <p:cNvPr name="Freeform 3" id="3"/>
            <p:cNvSpPr/>
            <p:nvPr/>
          </p:nvSpPr>
          <p:spPr>
            <a:xfrm flipH="false" flipV="false" rot="0">
              <a:off x="0" y="0"/>
              <a:ext cx="20370800" cy="13580490"/>
            </a:xfrm>
            <a:custGeom>
              <a:avLst/>
              <a:gdLst/>
              <a:ahLst/>
              <a:cxnLst/>
              <a:rect r="r" b="b" t="t" l="l"/>
              <a:pathLst>
                <a:path h="13580490" w="20370800">
                  <a:moveTo>
                    <a:pt x="0" y="0"/>
                  </a:moveTo>
                  <a:lnTo>
                    <a:pt x="20370800" y="0"/>
                  </a:lnTo>
                  <a:lnTo>
                    <a:pt x="20370800" y="13580490"/>
                  </a:lnTo>
                  <a:lnTo>
                    <a:pt x="0" y="13580490"/>
                  </a:lnTo>
                  <a:lnTo>
                    <a:pt x="0" y="0"/>
                  </a:lnTo>
                  <a:close/>
                </a:path>
              </a:pathLst>
            </a:custGeom>
            <a:blipFill>
              <a:blip r:embed="rId3"/>
              <a:stretch>
                <a:fillRect l="0" t="0" r="0" b="0"/>
              </a:stretch>
            </a:blipFill>
          </p:spPr>
        </p:sp>
      </p:grpSp>
      <p:sp>
        <p:nvSpPr>
          <p:cNvPr name="TextBox 4" id="4"/>
          <p:cNvSpPr txBox="true"/>
          <p:nvPr/>
        </p:nvSpPr>
        <p:spPr>
          <a:xfrm rot="0">
            <a:off x="8383488" y="2839208"/>
            <a:ext cx="3369469" cy="1086176"/>
          </a:xfrm>
          <a:prstGeom prst="rect">
            <a:avLst/>
          </a:prstGeom>
        </p:spPr>
        <p:txBody>
          <a:bodyPr anchor="t" rtlCol="false" tIns="0" lIns="0" bIns="0" rIns="0">
            <a:spAutoFit/>
          </a:bodyPr>
          <a:lstStyle/>
          <a:p>
            <a:pPr algn="ctr">
              <a:lnSpc>
                <a:spcPts val="8382"/>
              </a:lnSpc>
              <a:spcBef>
                <a:spcPct val="0"/>
              </a:spcBef>
            </a:pPr>
            <a:r>
              <a:rPr lang="en-US" sz="5987">
                <a:solidFill>
                  <a:srgbClr val="000000"/>
                </a:solidFill>
                <a:latin typeface="Vintage Goods"/>
                <a:ea typeface="Vintage Goods"/>
                <a:cs typeface="Vintage Goods"/>
                <a:sym typeface="Vintage Goods"/>
              </a:rPr>
              <a:t>This Person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DAHXAp5En88</dc:identifier>
  <dcterms:modified xsi:type="dcterms:W3CDTF">2011-08-01T06:04:30Z</dcterms:modified>
  <cp:revision>1</cp:revision>
  <dc:title>Spiritual Trauma</dc:title>
</cp:coreProperties>
</file>